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05" d="100"/>
          <a:sy n="105" d="100"/>
        </p:scale>
        <p:origin x="798" y="9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elissa BELGUITAR" userId="bbc36478-7d99-4ef7-a9a0-af02b1c3ff24" providerId="ADAL" clId="{1DC7AA97-F3CE-46A8-B486-B0B01164DB54}"/>
    <pc:docChg chg="modSld">
      <pc:chgData name="Melissa BELGUITAR" userId="bbc36478-7d99-4ef7-a9a0-af02b1c3ff24" providerId="ADAL" clId="{1DC7AA97-F3CE-46A8-B486-B0B01164DB54}" dt="2026-06-30T09:08:28" v="3" actId="20577"/>
      <pc:docMkLst>
        <pc:docMk/>
      </pc:docMkLst>
      <pc:sldChg chg="modSp mod">
        <pc:chgData name="Melissa BELGUITAR" userId="bbc36478-7d99-4ef7-a9a0-af02b1c3ff24" providerId="ADAL" clId="{1DC7AA97-F3CE-46A8-B486-B0B01164DB54}" dt="2026-06-30T07:31:45.738" v="0" actId="1076"/>
        <pc:sldMkLst>
          <pc:docMk/>
          <pc:sldMk cId="0" sldId="279"/>
        </pc:sldMkLst>
        <pc:spChg chg="mod">
          <ac:chgData name="Melissa BELGUITAR" userId="bbc36478-7d99-4ef7-a9a0-af02b1c3ff24" providerId="ADAL" clId="{1DC7AA97-F3CE-46A8-B486-B0B01164DB54}" dt="2026-06-30T07:31:45.738" v="0" actId="1076"/>
          <ac:spMkLst>
            <pc:docMk/>
            <pc:sldMk cId="0" sldId="279"/>
            <ac:spMk id="2" creationId="{00000000-0000-0000-0000-000000000000}"/>
          </ac:spMkLst>
        </pc:spChg>
      </pc:sldChg>
      <pc:sldChg chg="modSp mod">
        <pc:chgData name="Melissa BELGUITAR" userId="bbc36478-7d99-4ef7-a9a0-af02b1c3ff24" providerId="ADAL" clId="{1DC7AA97-F3CE-46A8-B486-B0B01164DB54}" dt="2026-06-30T09:08:28" v="3" actId="20577"/>
        <pc:sldMkLst>
          <pc:docMk/>
          <pc:sldMk cId="0" sldId="285"/>
        </pc:sldMkLst>
        <pc:spChg chg="mod">
          <ac:chgData name="Melissa BELGUITAR" userId="bbc36478-7d99-4ef7-a9a0-af02b1c3ff24" providerId="ADAL" clId="{1DC7AA97-F3CE-46A8-B486-B0B01164DB54}" dt="2026-06-30T09:08:28" v="3" actId="20577"/>
          <ac:spMkLst>
            <pc:docMk/>
            <pc:sldMk cId="0" sldId="285"/>
            <ac:spMk id="3" creationId="{00000000-0000-0000-0000-000000000000}"/>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6/30/2026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6/30/2026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6/30/2026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6/30/2026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6/30/2026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6/30/2026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6/30/2026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‹N°›</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hyperlink" Target="https://link.springer.com/chapter/10.1007/978-3-642-37456-2_14" TargetMode="External"/><Relationship Id="rId2" Type="http://schemas.openxmlformats.org/officeDocument/2006/relationships/hyperlink" Target="https://aclanthology.org/J97-1003/" TargetMode="Externa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hyperlink" Target="https://arxiv.org/abs/2002.10957" TargetMode="External"/><Relationship Id="rId2" Type="http://schemas.openxmlformats.org/officeDocument/2006/relationships/hyperlink" Target="https://arxiv.org/abs/1908.10084" TargetMode="Externa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hyperlink" Target="https://arxiv.org/abs/2205.14135" TargetMode="Externa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hyperlink" Target="https://arxiv.org/abs/2401.18079" TargetMode="Externa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hyperlink" Target="https://arxiv.org/abs/2311.04934" TargetMode="Externa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hyperlink" Target="https://github.com/ikawrakow/ik_llama.cpp" TargetMode="Externa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hyperlink" Target="https://arxiv.org/abs/2211.17192" TargetMode="Externa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hyperlink" Target="https://github.com/apoorvumang/prompt-lookup-decoding" TargetMode="Externa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hyperlink" Target="https://aclanthology.org/2024.findings-acl.57/" TargetMode="Externa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hyperlink" Target="https://arxiv.org/abs/2401.18079" TargetMode="External"/><Relationship Id="rId2" Type="http://schemas.openxmlformats.org/officeDocument/2006/relationships/hyperlink" Target="https://arxiv.org/abs/2205.14135" TargetMode="External"/><Relationship Id="rId1" Type="http://schemas.openxmlformats.org/officeDocument/2006/relationships/slideLayout" Target="../slideLayouts/slideLayout7.xml"/><Relationship Id="rId6" Type="http://schemas.openxmlformats.org/officeDocument/2006/relationships/hyperlink" Target="https://github.com/ikawrakow/ik_llama.cpp" TargetMode="External"/><Relationship Id="rId5" Type="http://schemas.openxmlformats.org/officeDocument/2006/relationships/hyperlink" Target="https://github.com/apoorvumang/prompt-lookup-decoding" TargetMode="External"/><Relationship Id="rId4" Type="http://schemas.openxmlformats.org/officeDocument/2006/relationships/hyperlink" Target="https://arxiv.org/abs/2211.17192"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2377440"/>
            <a:ext cx="12191695" cy="2194560"/>
          </a:xfrm>
          <a:prstGeom prst="rect">
            <a:avLst/>
          </a:prstGeom>
          <a:solidFill>
            <a:srgbClr val="163A5C"/>
          </a:solidFill>
          <a:ln>
            <a:noFill/>
          </a:ln>
          <a:effectLst/>
        </p:spPr>
        <p:style>
          <a:lnRef idx="1">
            <a:schemeClr val="accent1"/>
          </a:lnRef>
          <a:fillRef idx="3">
            <a:schemeClr val="accent1"/>
          </a:fillRef>
          <a:effectRef idx="2">
            <a:schemeClr val="accent1"/>
          </a:effectRef>
          <a:fontRef idx="minor">
            <a:schemeClr val="lt1"/>
          </a:fontRef>
        </p:style>
        <p:txBody>
          <a:bodyPr wrap="square" lIns="822960" rtlCol="0" anchor="ctr"/>
          <a:lstStyle/>
          <a:p>
            <a:pPr algn="ctr"/>
            <a:r>
              <a:rPr sz="3400" b="1">
                <a:solidFill>
                  <a:srgbClr val="FFFFFF"/>
                </a:solidFill>
                <a:latin typeface="Georgia"/>
              </a:rPr>
              <a:t>Génération de comptes rendus de réunion par LLM local</a:t>
            </a:r>
          </a:p>
          <a:p>
            <a:pPr>
              <a:spcBef>
                <a:spcPts val="1000"/>
              </a:spcBef>
            </a:pPr>
            <a:r>
              <a:rPr sz="1600">
                <a:solidFill>
                  <a:srgbClr val="9DC3E6"/>
                </a:solidFill>
              </a:rPr>
              <a:t>Du découpage du transcript à l'architecture agentique : architectures, optimisations et benchmarks</a:t>
            </a:r>
          </a:p>
        </p:txBody>
      </p:sp>
      <p:sp>
        <p:nvSpPr>
          <p:cNvPr id="4" name="TextBox 3"/>
          <p:cNvSpPr txBox="1"/>
          <p:nvPr/>
        </p:nvSpPr>
        <p:spPr>
          <a:xfrm>
            <a:off x="822960" y="4846320"/>
            <a:ext cx="10058400" cy="731520"/>
          </a:xfrm>
          <a:prstGeom prst="rect">
            <a:avLst/>
          </a:prstGeom>
          <a:noFill/>
        </p:spPr>
        <p:txBody>
          <a:bodyPr wrap="square">
            <a:spAutoFit/>
          </a:bodyPr>
          <a:lstStyle/>
          <a:p>
            <a:r>
              <a:rPr sz="1300">
                <a:solidFill>
                  <a:srgbClr val="D6E4F0"/>
                </a:solidFill>
              </a:rPr>
              <a:t>Yele Consulting, rapport technique (partie LLM)   |   Expériences mars à juin 2026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6868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wrap="square" lIns="365760" rtlCol="0" anchor="ctr"/>
          <a:lstStyle/>
          <a:p>
            <a:pPr algn="ctr"/>
            <a:r>
              <a:rPr sz="2200" b="1">
                <a:solidFill>
                  <a:srgbClr val="FFFFFF"/>
                </a:solidFill>
                <a:latin typeface="Georgia"/>
              </a:rPr>
              <a:t>0. Contexte, objectif et méthode</a:t>
            </a:r>
          </a:p>
        </p:txBody>
      </p:sp>
      <p:sp>
        <p:nvSpPr>
          <p:cNvPr id="3" name="TextBox 2"/>
          <p:cNvSpPr txBox="1"/>
          <p:nvPr/>
        </p:nvSpPr>
        <p:spPr>
          <a:xfrm>
            <a:off x="457200" y="1051560"/>
            <a:ext cx="11274552" cy="548640"/>
          </a:xfrm>
          <a:prstGeom prst="rect">
            <a:avLst/>
          </a:prstGeom>
          <a:noFill/>
        </p:spPr>
        <p:txBody>
          <a:bodyPr wrap="square">
            <a:spAutoFit/>
          </a:bodyPr>
          <a:lstStyle/>
          <a:p>
            <a:r>
              <a:rPr sz="1300" b="0" i="0">
                <a:solidFill>
                  <a:srgbClr val="222222"/>
                </a:solidFill>
              </a:rPr>
              <a:t>Objectif : transformer le transcript d'une réunion (diarisation et transcription locales) en compte rendu structuré, sous trois contraintes non négociables.</a:t>
            </a:r>
          </a:p>
        </p:txBody>
      </p:sp>
      <p:sp>
        <p:nvSpPr>
          <p:cNvPr id="4" name="TextBox 3"/>
          <p:cNvSpPr txBox="1"/>
          <p:nvPr/>
        </p:nvSpPr>
        <p:spPr>
          <a:xfrm>
            <a:off x="457200" y="1691640"/>
            <a:ext cx="11274552" cy="1463040"/>
          </a:xfrm>
          <a:prstGeom prst="rect">
            <a:avLst/>
          </a:prstGeom>
          <a:noFill/>
        </p:spPr>
        <p:txBody>
          <a:bodyPr wrap="square">
            <a:spAutoFit/>
          </a:bodyPr>
          <a:lstStyle/>
          <a:p>
            <a:pPr>
              <a:spcAft>
                <a:spcPts val="600"/>
              </a:spcAft>
            </a:pPr>
            <a:r>
              <a:rPr sz="1400">
                <a:solidFill>
                  <a:srgbClr val="2E4D6B"/>
                </a:solidFill>
              </a:rPr>
              <a:t>•  </a:t>
            </a:r>
            <a:r>
              <a:rPr sz="1400" b="1">
                <a:solidFill>
                  <a:srgbClr val="222222"/>
                </a:solidFill>
              </a:rPr>
              <a:t>Contrainte 1 : </a:t>
            </a:r>
            <a:r>
              <a:rPr sz="1400">
                <a:solidFill>
                  <a:srgbClr val="222222"/>
                </a:solidFill>
              </a:rPr>
              <a:t>100 % local, CPU uniquement (8 à 16 Go de RAM), sans GPU ni cloud.</a:t>
            </a:r>
          </a:p>
          <a:p>
            <a:pPr>
              <a:spcAft>
                <a:spcPts val="600"/>
              </a:spcAft>
            </a:pPr>
            <a:r>
              <a:rPr sz="1400">
                <a:solidFill>
                  <a:srgbClr val="2E4D6B"/>
                </a:solidFill>
              </a:rPr>
              <a:t>•  </a:t>
            </a:r>
            <a:r>
              <a:rPr sz="1400" b="1">
                <a:solidFill>
                  <a:srgbClr val="222222"/>
                </a:solidFill>
              </a:rPr>
              <a:t>Contrainte 2 : </a:t>
            </a:r>
            <a:r>
              <a:rPr sz="1400">
                <a:solidFill>
                  <a:srgbClr val="222222"/>
                </a:solidFill>
              </a:rPr>
              <a:t>zéro hallucination, ne restituer que ce qui est explicitement dit.</a:t>
            </a:r>
          </a:p>
          <a:p>
            <a:pPr>
              <a:spcAft>
                <a:spcPts val="600"/>
              </a:spcAft>
            </a:pPr>
            <a:r>
              <a:rPr sz="1400">
                <a:solidFill>
                  <a:srgbClr val="2E4D6B"/>
                </a:solidFill>
              </a:rPr>
              <a:t>•  </a:t>
            </a:r>
            <a:r>
              <a:rPr sz="1400" b="1">
                <a:solidFill>
                  <a:srgbClr val="222222"/>
                </a:solidFill>
              </a:rPr>
              <a:t>Contrainte 3 : </a:t>
            </a:r>
            <a:r>
              <a:rPr sz="1400">
                <a:solidFill>
                  <a:srgbClr val="222222"/>
                </a:solidFill>
              </a:rPr>
              <a:t>fonctionner en live comme sur un audio importé.</a:t>
            </a:r>
          </a:p>
        </p:txBody>
      </p:sp>
      <p:sp>
        <p:nvSpPr>
          <p:cNvPr id="5" name="Rectangle 4"/>
          <p:cNvSpPr/>
          <p:nvPr/>
        </p:nvSpPr>
        <p:spPr>
          <a:xfrm>
            <a:off x="457200" y="3200400"/>
            <a:ext cx="11274552" cy="914400"/>
          </a:xfrm>
          <a:prstGeom prst="rect">
            <a:avLst/>
          </a:prstGeom>
          <a:solidFill>
            <a:srgbClr val="EEF2F6"/>
          </a:solidFill>
          <a:ln w="9525">
            <a:solidFill>
              <a:srgbClr val="1F3A5F"/>
            </a:solidFill>
          </a:ln>
          <a:effectLst/>
        </p:spPr>
        <p:style>
          <a:lnRef idx="1">
            <a:schemeClr val="accent1"/>
          </a:lnRef>
          <a:fillRef idx="3">
            <a:schemeClr val="accent1"/>
          </a:fillRef>
          <a:effectRef idx="2">
            <a:schemeClr val="accent1"/>
          </a:effectRef>
          <a:fontRef idx="minor">
            <a:schemeClr val="lt1"/>
          </a:fontRef>
        </p:style>
        <p:txBody>
          <a:bodyPr wrap="square" lIns="137160" tIns="73152" rIns="137160" bIns="73152" rtlCol="0" anchor="ctr"/>
          <a:lstStyle/>
          <a:p>
            <a:pPr algn="ctr"/>
            <a:r>
              <a:rPr sz="1200" b="1">
                <a:solidFill>
                  <a:srgbClr val="1F3A5F"/>
                </a:solidFill>
              </a:rPr>
              <a:t>Réunion de référence  </a:t>
            </a:r>
            <a:r>
              <a:rPr sz="1200">
                <a:solidFill>
                  <a:srgbClr val="222222"/>
                </a:solidFill>
              </a:rPr>
              <a:t>Toutes les expériences et tous les extraits portent sur LA MÊME réunion RTE (environ 1 h, environ 9 participants dont Jérôme Picault et Maya Sahraoui, IA générative et orchestration MCP). Transcripts : transcript1 (556 seg), transcript_formatted (247 seg), dicte_audio_3 (266 seg).</a:t>
            </a:r>
          </a:p>
        </p:txBody>
      </p:sp>
      <p:sp>
        <p:nvSpPr>
          <p:cNvPr id="6" name="Rectangle 5"/>
          <p:cNvSpPr/>
          <p:nvPr/>
        </p:nvSpPr>
        <p:spPr>
          <a:xfrm>
            <a:off x="457200" y="4297680"/>
            <a:ext cx="11274552" cy="1371600"/>
          </a:xfrm>
          <a:prstGeom prst="rect">
            <a:avLst/>
          </a:prstGeom>
          <a:solidFill>
            <a:srgbClr val="FBF4EA"/>
          </a:solidFill>
          <a:ln w="9525">
            <a:solidFill>
              <a:srgbClr val="8A6D00"/>
            </a:solidFill>
          </a:ln>
          <a:effectLst/>
        </p:spPr>
        <p:style>
          <a:lnRef idx="1">
            <a:schemeClr val="accent1"/>
          </a:lnRef>
          <a:fillRef idx="3">
            <a:schemeClr val="accent1"/>
          </a:fillRef>
          <a:effectRef idx="2">
            <a:schemeClr val="accent1"/>
          </a:effectRef>
          <a:fontRef idx="minor">
            <a:schemeClr val="lt1"/>
          </a:fontRef>
        </p:style>
        <p:txBody>
          <a:bodyPr wrap="square" lIns="137160" tIns="73152" rIns="137160" bIns="73152" rtlCol="0" anchor="ctr"/>
          <a:lstStyle/>
          <a:p>
            <a:pPr algn="ctr"/>
            <a:r>
              <a:rPr sz="1200" b="1">
                <a:solidFill>
                  <a:srgbClr val="8A6D00"/>
                </a:solidFill>
              </a:rPr>
              <a:t>Note  </a:t>
            </a:r>
            <a:r>
              <a:rPr sz="1200">
                <a:solidFill>
                  <a:srgbClr val="222222"/>
                </a:solidFill>
              </a:rPr>
              <a:t>Pas de gold standard humain dans le projet : les comparaisons portent sur des métriques objectives (durée, RAM, nombre d'appels, items extraits) et une évaluation qualitative manuelle. Tout chiffre vient verbatim des metrics.json et des logs. Les CR complets cités sont dans docs/comptes_rendus_references/.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lIns="914400" rtlCol="0" anchor="ctr"/>
          <a:lstStyle/>
          <a:p>
            <a:pPr algn="ctr"/>
            <a:r>
              <a:rPr sz="2800" b="1">
                <a:solidFill>
                  <a:srgbClr val="9DC3E6"/>
                </a:solidFill>
              </a:rPr>
              <a:t>Partie 1</a:t>
            </a:r>
          </a:p>
          <a:p>
            <a:r>
              <a:rPr sz="4000" b="1">
                <a:solidFill>
                  <a:srgbClr val="FFFFFF"/>
                </a:solidFill>
                <a:latin typeface="Georgia"/>
              </a:rPr>
              <a:t>Le découpage (chunking)</a:t>
            </a:r>
          </a:p>
          <a:p>
            <a:pPr>
              <a:spcBef>
                <a:spcPts val="1000"/>
              </a:spcBef>
            </a:pPr>
            <a:r>
              <a:rPr sz="1600">
                <a:solidFill>
                  <a:srgbClr val="D6E4F0"/>
                </a:solidFill>
              </a:rPr>
              <a:t>Découper 1 h de réunion en morceaux cohérents traités un par un</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6868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wrap="square" lIns="365760" rtlCol="0" anchor="ctr"/>
          <a:lstStyle/>
          <a:p>
            <a:pPr algn="ctr"/>
            <a:r>
              <a:rPr sz="2200" b="1">
                <a:solidFill>
                  <a:srgbClr val="FFFFFF"/>
                </a:solidFill>
                <a:latin typeface="Georgia"/>
              </a:rPr>
              <a:t>1.1  Approches de découpage : clustering HDBSCAN (V1 puis V2)</a:t>
            </a:r>
          </a:p>
        </p:txBody>
      </p:sp>
      <p:sp>
        <p:nvSpPr>
          <p:cNvPr id="3" name="TextBox 2"/>
          <p:cNvSpPr txBox="1"/>
          <p:nvPr/>
        </p:nvSpPr>
        <p:spPr>
          <a:xfrm>
            <a:off x="457200" y="1005840"/>
            <a:ext cx="11274552" cy="548640"/>
          </a:xfrm>
          <a:prstGeom prst="rect">
            <a:avLst/>
          </a:prstGeom>
          <a:noFill/>
        </p:spPr>
        <p:txBody>
          <a:bodyPr wrap="square">
            <a:spAutoFit/>
          </a:bodyPr>
          <a:lstStyle/>
          <a:p>
            <a:r>
              <a:rPr sz="1300" b="0" i="0">
                <a:solidFill>
                  <a:srgbClr val="222222"/>
                </a:solidFill>
              </a:rPr>
              <a:t>V1 : fenêtres glissantes, embeddings MiniLM, clustering HDBSCAN, 1 LLM par cluster. Défaut : clusters non chronologiques, 30 à 40 % du contenu jeté comme bruit.</a:t>
            </a:r>
          </a:p>
        </p:txBody>
      </p:sp>
      <p:sp>
        <p:nvSpPr>
          <p:cNvPr id="4" name="TextBox 3"/>
          <p:cNvSpPr txBox="1"/>
          <p:nvPr/>
        </p:nvSpPr>
        <p:spPr>
          <a:xfrm>
            <a:off x="457200" y="1783080"/>
            <a:ext cx="11274552" cy="548640"/>
          </a:xfrm>
          <a:prstGeom prst="rect">
            <a:avLst/>
          </a:prstGeom>
          <a:noFill/>
        </p:spPr>
        <p:txBody>
          <a:bodyPr wrap="square">
            <a:spAutoFit/>
          </a:bodyPr>
          <a:lstStyle/>
          <a:p>
            <a:r>
              <a:rPr sz="1300" b="1" i="0">
                <a:solidFill>
                  <a:srgbClr val="222222"/>
                </a:solidFill>
              </a:rPr>
              <a:t>V2 : HDBSCAN amélioré (mesuré sur transcript1, 556 seg).</a:t>
            </a:r>
          </a:p>
        </p:txBody>
      </p:sp>
      <p:graphicFrame>
        <p:nvGraphicFramePr>
          <p:cNvPr id="5" name="Table 4"/>
          <p:cNvGraphicFramePr>
            <a:graphicFrameLocks noGrp="1"/>
          </p:cNvGraphicFramePr>
          <p:nvPr/>
        </p:nvGraphicFramePr>
        <p:xfrm>
          <a:off x="457200" y="2240280"/>
          <a:ext cx="7772400" cy="1554480"/>
        </p:xfrm>
        <a:graphic>
          <a:graphicData uri="http://schemas.openxmlformats.org/drawingml/2006/table">
            <a:tbl>
              <a:tblPr>
                <a:tableStyleId>{2D5ABB26-0587-4C30-8999-92F81FD0307C}</a:tableStyleId>
              </a:tblPr>
              <a:tblGrid>
                <a:gridCol w="274320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gridCol w="1828800">
                  <a:extLst>
                    <a:ext uri="{9D8B030D-6E8A-4147-A177-3AD203B41FA5}">
                      <a16:colId xmlns:a16="http://schemas.microsoft.com/office/drawing/2014/main" val="20002"/>
                    </a:ext>
                  </a:extLst>
                </a:gridCol>
                <a:gridCol w="1371600">
                  <a:extLst>
                    <a:ext uri="{9D8B030D-6E8A-4147-A177-3AD203B41FA5}">
                      <a16:colId xmlns:a16="http://schemas.microsoft.com/office/drawing/2014/main" val="20003"/>
                    </a:ext>
                  </a:extLst>
                </a:gridCol>
              </a:tblGrid>
              <a:tr h="310896">
                <a:tc>
                  <a:txBody>
                    <a:bodyPr/>
                    <a:lstStyle/>
                    <a:p>
                      <a:pPr algn="l"/>
                      <a:r>
                        <a:rPr sz="1100" b="1">
                          <a:solidFill>
                            <a:srgbClr val="FFFFFF"/>
                          </a:solidFill>
                        </a:rPr>
                        <a:t>Modèle</a:t>
                      </a:r>
                    </a:p>
                  </a:txBody>
                  <a:tcPr marL="54864" marR="54864" marT="18288" marB="18288" anchor="ctr">
                    <a:solidFill>
                      <a:srgbClr val="1F3A5F"/>
                    </a:solidFill>
                  </a:tcPr>
                </a:tc>
                <a:tc>
                  <a:txBody>
                    <a:bodyPr/>
                    <a:lstStyle/>
                    <a:p>
                      <a:pPr algn="l"/>
                      <a:r>
                        <a:rPr sz="1100" b="1">
                          <a:solidFill>
                            <a:srgbClr val="FFFFFF"/>
                          </a:solidFill>
                        </a:rPr>
                        <a:t>Durée</a:t>
                      </a:r>
                    </a:p>
                  </a:txBody>
                  <a:tcPr marL="54864" marR="54864" marT="18288" marB="18288" anchor="ctr">
                    <a:solidFill>
                      <a:srgbClr val="1F3A5F"/>
                    </a:solidFill>
                  </a:tcPr>
                </a:tc>
                <a:tc>
                  <a:txBody>
                    <a:bodyPr/>
                    <a:lstStyle/>
                    <a:p>
                      <a:pPr algn="l"/>
                      <a:r>
                        <a:rPr sz="1100" b="1">
                          <a:solidFill>
                            <a:srgbClr val="FFFFFF"/>
                          </a:solidFill>
                        </a:rPr>
                        <a:t>RAM serveur</a:t>
                      </a:r>
                    </a:p>
                  </a:txBody>
                  <a:tcPr marL="54864" marR="54864" marT="18288" marB="18288" anchor="ctr">
                    <a:solidFill>
                      <a:srgbClr val="1F3A5F"/>
                    </a:solidFill>
                  </a:tcPr>
                </a:tc>
                <a:tc>
                  <a:txBody>
                    <a:bodyPr/>
                    <a:lstStyle/>
                    <a:p>
                      <a:pPr algn="l"/>
                      <a:r>
                        <a:rPr sz="1100" b="1">
                          <a:solidFill>
                            <a:srgbClr val="FFFFFF"/>
                          </a:solidFill>
                        </a:rPr>
                        <a:t>Clusters</a:t>
                      </a:r>
                    </a:p>
                  </a:txBody>
                  <a:tcPr marL="54864" marR="54864" marT="18288" marB="18288" anchor="ctr">
                    <a:solidFill>
                      <a:srgbClr val="1F3A5F"/>
                    </a:solidFill>
                  </a:tcPr>
                </a:tc>
                <a:extLst>
                  <a:ext uri="{0D108BD9-81ED-4DB2-BD59-A6C34878D82A}">
                    <a16:rowId xmlns:a16="http://schemas.microsoft.com/office/drawing/2014/main" val="10000"/>
                  </a:ext>
                </a:extLst>
              </a:tr>
              <a:tr h="310896">
                <a:tc>
                  <a:txBody>
                    <a:bodyPr/>
                    <a:lstStyle/>
                    <a:p>
                      <a:pPr algn="l"/>
                      <a:r>
                        <a:rPr sz="1100" b="0">
                          <a:solidFill>
                            <a:srgbClr val="222222"/>
                          </a:solidFill>
                        </a:rPr>
                        <a:t>Ministral 3B</a:t>
                      </a:r>
                    </a:p>
                  </a:txBody>
                  <a:tcPr marL="54864" marR="54864" marT="18288" marB="18288" anchor="ctr">
                    <a:solidFill>
                      <a:srgbClr val="FFFFFF"/>
                    </a:solidFill>
                  </a:tcPr>
                </a:tc>
                <a:tc>
                  <a:txBody>
                    <a:bodyPr/>
                    <a:lstStyle/>
                    <a:p>
                      <a:pPr algn="l"/>
                      <a:r>
                        <a:rPr sz="1100" b="0">
                          <a:solidFill>
                            <a:srgbClr val="222222"/>
                          </a:solidFill>
                        </a:rPr>
                        <a:t>39 min 22</a:t>
                      </a:r>
                    </a:p>
                  </a:txBody>
                  <a:tcPr marL="54864" marR="54864" marT="18288" marB="18288" anchor="ctr">
                    <a:solidFill>
                      <a:srgbClr val="FFFFFF"/>
                    </a:solidFill>
                  </a:tcPr>
                </a:tc>
                <a:tc>
                  <a:txBody>
                    <a:bodyPr/>
                    <a:lstStyle/>
                    <a:p>
                      <a:pPr algn="l"/>
                      <a:r>
                        <a:rPr sz="1100" b="0">
                          <a:solidFill>
                            <a:srgbClr val="222222"/>
                          </a:solidFill>
                        </a:rPr>
                        <a:t>3 786 Mo</a:t>
                      </a:r>
                    </a:p>
                  </a:txBody>
                  <a:tcPr marL="54864" marR="54864" marT="18288" marB="18288" anchor="ctr">
                    <a:solidFill>
                      <a:srgbClr val="FFFFFF"/>
                    </a:solidFill>
                  </a:tcPr>
                </a:tc>
                <a:tc>
                  <a:txBody>
                    <a:bodyPr/>
                    <a:lstStyle/>
                    <a:p>
                      <a:pPr algn="l"/>
                      <a:r>
                        <a:rPr sz="1100" b="0">
                          <a:solidFill>
                            <a:srgbClr val="222222"/>
                          </a:solidFill>
                        </a:rPr>
                        <a:t>5</a:t>
                      </a:r>
                    </a:p>
                  </a:txBody>
                  <a:tcPr marL="54864" marR="54864" marT="18288" marB="18288" anchor="ctr">
                    <a:solidFill>
                      <a:srgbClr val="FFFFFF"/>
                    </a:solidFill>
                  </a:tcPr>
                </a:tc>
                <a:extLst>
                  <a:ext uri="{0D108BD9-81ED-4DB2-BD59-A6C34878D82A}">
                    <a16:rowId xmlns:a16="http://schemas.microsoft.com/office/drawing/2014/main" val="10001"/>
                  </a:ext>
                </a:extLst>
              </a:tr>
              <a:tr h="310896">
                <a:tc>
                  <a:txBody>
                    <a:bodyPr/>
                    <a:lstStyle/>
                    <a:p>
                      <a:pPr algn="l"/>
                      <a:r>
                        <a:rPr sz="1100" b="0">
                          <a:solidFill>
                            <a:srgbClr val="222222"/>
                          </a:solidFill>
                        </a:rPr>
                        <a:t>Qwen2.5 3B</a:t>
                      </a:r>
                    </a:p>
                  </a:txBody>
                  <a:tcPr marL="54864" marR="54864" marT="18288" marB="18288" anchor="ctr">
                    <a:solidFill>
                      <a:srgbClr val="F4F6F9"/>
                    </a:solidFill>
                  </a:tcPr>
                </a:tc>
                <a:tc>
                  <a:txBody>
                    <a:bodyPr/>
                    <a:lstStyle/>
                    <a:p>
                      <a:pPr algn="l"/>
                      <a:r>
                        <a:rPr sz="1100" b="0">
                          <a:solidFill>
                            <a:srgbClr val="222222"/>
                          </a:solidFill>
                        </a:rPr>
                        <a:t>20 min 48</a:t>
                      </a:r>
                    </a:p>
                  </a:txBody>
                  <a:tcPr marL="54864" marR="54864" marT="18288" marB="18288" anchor="ctr">
                    <a:solidFill>
                      <a:srgbClr val="F4F6F9"/>
                    </a:solidFill>
                  </a:tcPr>
                </a:tc>
                <a:tc>
                  <a:txBody>
                    <a:bodyPr/>
                    <a:lstStyle/>
                    <a:p>
                      <a:pPr algn="l"/>
                      <a:r>
                        <a:rPr sz="1100" b="0">
                          <a:solidFill>
                            <a:srgbClr val="222222"/>
                          </a:solidFill>
                        </a:rPr>
                        <a:t>2 670 Mo</a:t>
                      </a:r>
                    </a:p>
                  </a:txBody>
                  <a:tcPr marL="54864" marR="54864" marT="18288" marB="18288" anchor="ctr">
                    <a:solidFill>
                      <a:srgbClr val="F4F6F9"/>
                    </a:solidFill>
                  </a:tcPr>
                </a:tc>
                <a:tc>
                  <a:txBody>
                    <a:bodyPr/>
                    <a:lstStyle/>
                    <a:p>
                      <a:pPr algn="l"/>
                      <a:r>
                        <a:rPr sz="1100" b="0">
                          <a:solidFill>
                            <a:srgbClr val="222222"/>
                          </a:solidFill>
                        </a:rPr>
                        <a:t>5</a:t>
                      </a:r>
                    </a:p>
                  </a:txBody>
                  <a:tcPr marL="54864" marR="54864" marT="18288" marB="18288" anchor="ctr">
                    <a:solidFill>
                      <a:srgbClr val="F4F6F9"/>
                    </a:solidFill>
                  </a:tcPr>
                </a:tc>
                <a:extLst>
                  <a:ext uri="{0D108BD9-81ED-4DB2-BD59-A6C34878D82A}">
                    <a16:rowId xmlns:a16="http://schemas.microsoft.com/office/drawing/2014/main" val="10002"/>
                  </a:ext>
                </a:extLst>
              </a:tr>
              <a:tr h="310896">
                <a:tc>
                  <a:txBody>
                    <a:bodyPr/>
                    <a:lstStyle/>
                    <a:p>
                      <a:pPr algn="l"/>
                      <a:r>
                        <a:rPr sz="1100" b="0">
                          <a:solidFill>
                            <a:srgbClr val="222222"/>
                          </a:solidFill>
                        </a:rPr>
                        <a:t>Qwen3 4B</a:t>
                      </a:r>
                    </a:p>
                  </a:txBody>
                  <a:tcPr marL="54864" marR="54864" marT="18288" marB="18288" anchor="ctr">
                    <a:solidFill>
                      <a:srgbClr val="FFFFFF"/>
                    </a:solidFill>
                  </a:tcPr>
                </a:tc>
                <a:tc>
                  <a:txBody>
                    <a:bodyPr/>
                    <a:lstStyle/>
                    <a:p>
                      <a:pPr algn="l"/>
                      <a:r>
                        <a:rPr sz="1100" b="0">
                          <a:solidFill>
                            <a:srgbClr val="222222"/>
                          </a:solidFill>
                        </a:rPr>
                        <a:t>48 min 55</a:t>
                      </a:r>
                    </a:p>
                  </a:txBody>
                  <a:tcPr marL="54864" marR="54864" marT="18288" marB="18288" anchor="ctr">
                    <a:solidFill>
                      <a:srgbClr val="FFFFFF"/>
                    </a:solidFill>
                  </a:tcPr>
                </a:tc>
                <a:tc>
                  <a:txBody>
                    <a:bodyPr/>
                    <a:lstStyle/>
                    <a:p>
                      <a:pPr algn="l"/>
                      <a:r>
                        <a:rPr sz="1100" b="0">
                          <a:solidFill>
                            <a:srgbClr val="222222"/>
                          </a:solidFill>
                        </a:rPr>
                        <a:t>4 670 Mo</a:t>
                      </a:r>
                    </a:p>
                  </a:txBody>
                  <a:tcPr marL="54864" marR="54864" marT="18288" marB="18288" anchor="ctr">
                    <a:solidFill>
                      <a:srgbClr val="FFFFFF"/>
                    </a:solidFill>
                  </a:tcPr>
                </a:tc>
                <a:tc>
                  <a:txBody>
                    <a:bodyPr/>
                    <a:lstStyle/>
                    <a:p>
                      <a:pPr algn="l"/>
                      <a:r>
                        <a:rPr sz="1100" b="0">
                          <a:solidFill>
                            <a:srgbClr val="222222"/>
                          </a:solidFill>
                        </a:rPr>
                        <a:t>5</a:t>
                      </a:r>
                    </a:p>
                  </a:txBody>
                  <a:tcPr marL="54864" marR="54864" marT="18288" marB="18288" anchor="ctr">
                    <a:solidFill>
                      <a:srgbClr val="FFFFFF"/>
                    </a:solidFill>
                  </a:tcPr>
                </a:tc>
                <a:extLst>
                  <a:ext uri="{0D108BD9-81ED-4DB2-BD59-A6C34878D82A}">
                    <a16:rowId xmlns:a16="http://schemas.microsoft.com/office/drawing/2014/main" val="10003"/>
                  </a:ext>
                </a:extLst>
              </a:tr>
              <a:tr h="310896">
                <a:tc>
                  <a:txBody>
                    <a:bodyPr/>
                    <a:lstStyle/>
                    <a:p>
                      <a:pPr algn="l"/>
                      <a:r>
                        <a:rPr sz="1100" b="0">
                          <a:solidFill>
                            <a:srgbClr val="222222"/>
                          </a:solidFill>
                        </a:rPr>
                        <a:t>SmolLM3 3B</a:t>
                      </a:r>
                    </a:p>
                  </a:txBody>
                  <a:tcPr marL="54864" marR="54864" marT="18288" marB="18288" anchor="ctr">
                    <a:solidFill>
                      <a:srgbClr val="F4F6F9"/>
                    </a:solidFill>
                  </a:tcPr>
                </a:tc>
                <a:tc>
                  <a:txBody>
                    <a:bodyPr/>
                    <a:lstStyle/>
                    <a:p>
                      <a:pPr algn="l"/>
                      <a:r>
                        <a:rPr sz="1100" b="0">
                          <a:solidFill>
                            <a:srgbClr val="222222"/>
                          </a:solidFill>
                        </a:rPr>
                        <a:t>24 min 48</a:t>
                      </a:r>
                    </a:p>
                  </a:txBody>
                  <a:tcPr marL="54864" marR="54864" marT="18288" marB="18288" anchor="ctr">
                    <a:solidFill>
                      <a:srgbClr val="F4F6F9"/>
                    </a:solidFill>
                  </a:tcPr>
                </a:tc>
                <a:tc>
                  <a:txBody>
                    <a:bodyPr/>
                    <a:lstStyle/>
                    <a:p>
                      <a:pPr algn="l"/>
                      <a:r>
                        <a:rPr sz="1100" b="0">
                          <a:solidFill>
                            <a:srgbClr val="222222"/>
                          </a:solidFill>
                        </a:rPr>
                        <a:t>3 870 Mo</a:t>
                      </a:r>
                    </a:p>
                  </a:txBody>
                  <a:tcPr marL="54864" marR="54864" marT="18288" marB="18288" anchor="ctr">
                    <a:solidFill>
                      <a:srgbClr val="F4F6F9"/>
                    </a:solidFill>
                  </a:tcPr>
                </a:tc>
                <a:tc>
                  <a:txBody>
                    <a:bodyPr/>
                    <a:lstStyle/>
                    <a:p>
                      <a:pPr algn="l"/>
                      <a:r>
                        <a:rPr sz="1100" b="0">
                          <a:solidFill>
                            <a:srgbClr val="222222"/>
                          </a:solidFill>
                        </a:rPr>
                        <a:t>5</a:t>
                      </a:r>
                    </a:p>
                  </a:txBody>
                  <a:tcPr marL="54864" marR="54864" marT="18288" marB="18288" anchor="ctr">
                    <a:solidFill>
                      <a:srgbClr val="F4F6F9"/>
                    </a:solidFill>
                  </a:tcPr>
                </a:tc>
                <a:extLst>
                  <a:ext uri="{0D108BD9-81ED-4DB2-BD59-A6C34878D82A}">
                    <a16:rowId xmlns:a16="http://schemas.microsoft.com/office/drawing/2014/main" val="10004"/>
                  </a:ext>
                </a:extLst>
              </a:tr>
            </a:tbl>
          </a:graphicData>
        </a:graphic>
      </p:graphicFrame>
      <p:sp>
        <p:nvSpPr>
          <p:cNvPr id="6" name="Rectangle 5"/>
          <p:cNvSpPr/>
          <p:nvPr/>
        </p:nvSpPr>
        <p:spPr>
          <a:xfrm>
            <a:off x="457200" y="4937760"/>
            <a:ext cx="11274552" cy="822960"/>
          </a:xfrm>
          <a:prstGeom prst="rect">
            <a:avLst/>
          </a:prstGeom>
          <a:solidFill>
            <a:srgbClr val="F7ECEB"/>
          </a:solidFill>
          <a:ln w="9525">
            <a:solidFill>
              <a:srgbClr val="9E2B25"/>
            </a:solidFill>
          </a:ln>
          <a:effectLst/>
        </p:spPr>
        <p:style>
          <a:lnRef idx="1">
            <a:schemeClr val="accent1"/>
          </a:lnRef>
          <a:fillRef idx="3">
            <a:schemeClr val="accent1"/>
          </a:fillRef>
          <a:effectRef idx="2">
            <a:schemeClr val="accent1"/>
          </a:effectRef>
          <a:fontRef idx="minor">
            <a:schemeClr val="lt1"/>
          </a:fontRef>
        </p:style>
        <p:txBody>
          <a:bodyPr wrap="square" lIns="137160" tIns="73152" rIns="137160" bIns="73152" rtlCol="0" anchor="ctr"/>
          <a:lstStyle/>
          <a:p>
            <a:pPr algn="ctr"/>
            <a:r>
              <a:rPr sz="1200" b="1">
                <a:solidFill>
                  <a:srgbClr val="9E2B25"/>
                </a:solidFill>
              </a:rPr>
              <a:t>Verdict  </a:t>
            </a:r>
            <a:r>
              <a:rPr sz="1200">
                <a:solidFill>
                  <a:srgbClr val="222222"/>
                </a:solidFill>
              </a:rPr>
              <a:t>Abandonné à terme. Plus robuste que V1 mais toujours dépendant du clustering, et trop lent.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6868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wrap="square" lIns="365760" rtlCol="0" anchor="ctr"/>
          <a:lstStyle/>
          <a:p>
            <a:pPr algn="ctr"/>
            <a:r>
              <a:rPr sz="2200" b="1">
                <a:solidFill>
                  <a:srgbClr val="FFFFFF"/>
                </a:solidFill>
                <a:latin typeface="Georgia"/>
              </a:rPr>
              <a:t>1.1  Détection de frontières sémantiques (V3, RETENUE)</a:t>
            </a:r>
          </a:p>
        </p:txBody>
      </p:sp>
      <p:sp>
        <p:nvSpPr>
          <p:cNvPr id="3" name="TextBox 2"/>
          <p:cNvSpPr txBox="1"/>
          <p:nvPr/>
        </p:nvSpPr>
        <p:spPr>
          <a:xfrm>
            <a:off x="457200" y="1005840"/>
            <a:ext cx="11274552" cy="548640"/>
          </a:xfrm>
          <a:prstGeom prst="rect">
            <a:avLst/>
          </a:prstGeom>
          <a:noFill/>
        </p:spPr>
        <p:txBody>
          <a:bodyPr wrap="square">
            <a:spAutoFit/>
          </a:bodyPr>
          <a:lstStyle/>
          <a:p>
            <a:r>
              <a:rPr sz="1300" b="0" i="0" dirty="0">
                <a:solidFill>
                  <a:srgbClr val="222222"/>
                </a:solidFill>
              </a:rPr>
              <a:t>Frontières par chute de </a:t>
            </a:r>
            <a:r>
              <a:rPr sz="1300" b="0" i="0" dirty="0" err="1">
                <a:solidFill>
                  <a:srgbClr val="222222"/>
                </a:solidFill>
              </a:rPr>
              <a:t>similarité</a:t>
            </a:r>
            <a:r>
              <a:rPr sz="1300" b="0" i="0" dirty="0">
                <a:solidFill>
                  <a:srgbClr val="222222"/>
                </a:solidFill>
              </a:rPr>
              <a:t> cosine entre </a:t>
            </a:r>
            <a:r>
              <a:rPr sz="1300" b="0" i="0" dirty="0" err="1">
                <a:solidFill>
                  <a:srgbClr val="222222"/>
                </a:solidFill>
              </a:rPr>
              <a:t>fenêtres</a:t>
            </a:r>
            <a:r>
              <a:rPr sz="1300" b="0" i="0" dirty="0">
                <a:solidFill>
                  <a:srgbClr val="222222"/>
                </a:solidFill>
              </a:rPr>
              <a:t> (</a:t>
            </a:r>
            <a:r>
              <a:rPr sz="1300" b="0" i="0" dirty="0" err="1">
                <a:solidFill>
                  <a:srgbClr val="222222"/>
                </a:solidFill>
              </a:rPr>
              <a:t>lissage</a:t>
            </a:r>
            <a:r>
              <a:rPr sz="1300" b="0" i="0" dirty="0">
                <a:solidFill>
                  <a:srgbClr val="222222"/>
                </a:solidFill>
              </a:rPr>
              <a:t> sigma=2, </a:t>
            </a:r>
            <a:r>
              <a:rPr sz="1300" b="0" i="0" dirty="0" err="1">
                <a:solidFill>
                  <a:srgbClr val="222222"/>
                </a:solidFill>
              </a:rPr>
              <a:t>vallées</a:t>
            </a:r>
            <a:r>
              <a:rPr sz="1300" b="0" i="0" dirty="0">
                <a:solidFill>
                  <a:srgbClr val="222222"/>
                </a:solidFill>
              </a:rPr>
              <a:t> au percentile 5). Chunks </a:t>
            </a:r>
            <a:r>
              <a:rPr sz="1300" b="0" i="0" dirty="0" err="1">
                <a:solidFill>
                  <a:srgbClr val="222222"/>
                </a:solidFill>
              </a:rPr>
              <a:t>chronologiques</a:t>
            </a:r>
            <a:r>
              <a:rPr sz="1300" b="0" i="0" dirty="0">
                <a:solidFill>
                  <a:srgbClr val="222222"/>
                </a:solidFill>
              </a:rPr>
              <a:t>, 1 LLM par chunk (transcript1, 556 seg, 9 chunks).</a:t>
            </a:r>
          </a:p>
        </p:txBody>
      </p:sp>
      <p:graphicFrame>
        <p:nvGraphicFramePr>
          <p:cNvPr id="4" name="Table 3"/>
          <p:cNvGraphicFramePr>
            <a:graphicFrameLocks noGrp="1"/>
          </p:cNvGraphicFramePr>
          <p:nvPr/>
        </p:nvGraphicFramePr>
        <p:xfrm>
          <a:off x="457200" y="1828800"/>
          <a:ext cx="8229598" cy="1554480"/>
        </p:xfrm>
        <a:graphic>
          <a:graphicData uri="http://schemas.openxmlformats.org/drawingml/2006/table">
            <a:tbl>
              <a:tblPr>
                <a:tableStyleId>{2D5ABB26-0587-4C30-8999-92F81FD0307C}</a:tableStyleId>
              </a:tblPr>
              <a:tblGrid>
                <a:gridCol w="2446637">
                  <a:extLst>
                    <a:ext uri="{9D8B030D-6E8A-4147-A177-3AD203B41FA5}">
                      <a16:colId xmlns:a16="http://schemas.microsoft.com/office/drawing/2014/main" val="20000"/>
                    </a:ext>
                  </a:extLst>
                </a:gridCol>
                <a:gridCol w="2224216">
                  <a:extLst>
                    <a:ext uri="{9D8B030D-6E8A-4147-A177-3AD203B41FA5}">
                      <a16:colId xmlns:a16="http://schemas.microsoft.com/office/drawing/2014/main" val="20001"/>
                    </a:ext>
                  </a:extLst>
                </a:gridCol>
                <a:gridCol w="2224216">
                  <a:extLst>
                    <a:ext uri="{9D8B030D-6E8A-4147-A177-3AD203B41FA5}">
                      <a16:colId xmlns:a16="http://schemas.microsoft.com/office/drawing/2014/main" val="20002"/>
                    </a:ext>
                  </a:extLst>
                </a:gridCol>
                <a:gridCol w="1334529">
                  <a:extLst>
                    <a:ext uri="{9D8B030D-6E8A-4147-A177-3AD203B41FA5}">
                      <a16:colId xmlns:a16="http://schemas.microsoft.com/office/drawing/2014/main" val="20003"/>
                    </a:ext>
                  </a:extLst>
                </a:gridCol>
              </a:tblGrid>
              <a:tr h="310896">
                <a:tc>
                  <a:txBody>
                    <a:bodyPr/>
                    <a:lstStyle/>
                    <a:p>
                      <a:pPr algn="l"/>
                      <a:r>
                        <a:rPr sz="1100" b="1">
                          <a:solidFill>
                            <a:srgbClr val="FFFFFF"/>
                          </a:solidFill>
                        </a:rPr>
                        <a:t>Modèle</a:t>
                      </a:r>
                    </a:p>
                  </a:txBody>
                  <a:tcPr marL="54864" marR="54864" marT="18288" marB="18288" anchor="ctr">
                    <a:solidFill>
                      <a:srgbClr val="1F3A5F"/>
                    </a:solidFill>
                  </a:tcPr>
                </a:tc>
                <a:tc>
                  <a:txBody>
                    <a:bodyPr/>
                    <a:lstStyle/>
                    <a:p>
                      <a:pPr algn="l"/>
                      <a:r>
                        <a:rPr sz="1100" b="1">
                          <a:solidFill>
                            <a:srgbClr val="FFFFFF"/>
                          </a:solidFill>
                        </a:rPr>
                        <a:t>V2 (HDBSCAN)</a:t>
                      </a:r>
                    </a:p>
                  </a:txBody>
                  <a:tcPr marL="54864" marR="54864" marT="18288" marB="18288" anchor="ctr">
                    <a:solidFill>
                      <a:srgbClr val="1F3A5F"/>
                    </a:solidFill>
                  </a:tcPr>
                </a:tc>
                <a:tc>
                  <a:txBody>
                    <a:bodyPr/>
                    <a:lstStyle/>
                    <a:p>
                      <a:pPr algn="l"/>
                      <a:r>
                        <a:rPr sz="1100" b="1">
                          <a:solidFill>
                            <a:srgbClr val="FFFFFF"/>
                          </a:solidFill>
                        </a:rPr>
                        <a:t>V3 (boundary)</a:t>
                      </a:r>
                    </a:p>
                  </a:txBody>
                  <a:tcPr marL="54864" marR="54864" marT="18288" marB="18288" anchor="ctr">
                    <a:solidFill>
                      <a:srgbClr val="1F3A5F"/>
                    </a:solidFill>
                  </a:tcPr>
                </a:tc>
                <a:tc>
                  <a:txBody>
                    <a:bodyPr/>
                    <a:lstStyle/>
                    <a:p>
                      <a:pPr algn="l"/>
                      <a:r>
                        <a:rPr sz="1100" b="1">
                          <a:solidFill>
                            <a:srgbClr val="FFFFFF"/>
                          </a:solidFill>
                        </a:rPr>
                        <a:t>Gain</a:t>
                      </a:r>
                    </a:p>
                  </a:txBody>
                  <a:tcPr marL="54864" marR="54864" marT="18288" marB="18288" anchor="ctr">
                    <a:solidFill>
                      <a:srgbClr val="1F3A5F"/>
                    </a:solidFill>
                  </a:tcPr>
                </a:tc>
                <a:extLst>
                  <a:ext uri="{0D108BD9-81ED-4DB2-BD59-A6C34878D82A}">
                    <a16:rowId xmlns:a16="http://schemas.microsoft.com/office/drawing/2014/main" val="10000"/>
                  </a:ext>
                </a:extLst>
              </a:tr>
              <a:tr h="310896">
                <a:tc>
                  <a:txBody>
                    <a:bodyPr/>
                    <a:lstStyle/>
                    <a:p>
                      <a:pPr algn="l"/>
                      <a:r>
                        <a:rPr sz="1100" b="0">
                          <a:solidFill>
                            <a:srgbClr val="222222"/>
                          </a:solidFill>
                        </a:rPr>
                        <a:t>Ministral 3B</a:t>
                      </a:r>
                    </a:p>
                  </a:txBody>
                  <a:tcPr marL="54864" marR="54864" marT="18288" marB="18288" anchor="ctr">
                    <a:solidFill>
                      <a:srgbClr val="FFFFFF"/>
                    </a:solidFill>
                  </a:tcPr>
                </a:tc>
                <a:tc>
                  <a:txBody>
                    <a:bodyPr/>
                    <a:lstStyle/>
                    <a:p>
                      <a:pPr algn="l"/>
                      <a:r>
                        <a:rPr sz="1100" b="0">
                          <a:solidFill>
                            <a:srgbClr val="222222"/>
                          </a:solidFill>
                        </a:rPr>
                        <a:t>39 min 22</a:t>
                      </a:r>
                    </a:p>
                  </a:txBody>
                  <a:tcPr marL="54864" marR="54864" marT="18288" marB="18288" anchor="ctr">
                    <a:solidFill>
                      <a:srgbClr val="FFFFFF"/>
                    </a:solidFill>
                  </a:tcPr>
                </a:tc>
                <a:tc>
                  <a:txBody>
                    <a:bodyPr/>
                    <a:lstStyle/>
                    <a:p>
                      <a:pPr algn="l"/>
                      <a:r>
                        <a:rPr sz="1100" b="0">
                          <a:solidFill>
                            <a:srgbClr val="222222"/>
                          </a:solidFill>
                        </a:rPr>
                        <a:t>26 min 37</a:t>
                      </a:r>
                    </a:p>
                  </a:txBody>
                  <a:tcPr marL="54864" marR="54864" marT="18288" marB="18288" anchor="ctr">
                    <a:solidFill>
                      <a:srgbClr val="FFFFFF"/>
                    </a:solidFill>
                  </a:tcPr>
                </a:tc>
                <a:tc>
                  <a:txBody>
                    <a:bodyPr/>
                    <a:lstStyle/>
                    <a:p>
                      <a:pPr algn="l"/>
                      <a:r>
                        <a:rPr sz="1100" b="1">
                          <a:solidFill>
                            <a:srgbClr val="2E6B3F"/>
                          </a:solidFill>
                        </a:rPr>
                        <a:t>-32 %</a:t>
                      </a:r>
                    </a:p>
                  </a:txBody>
                  <a:tcPr marL="54864" marR="54864" marT="18288" marB="18288" anchor="ctr">
                    <a:solidFill>
                      <a:srgbClr val="FFFFFF"/>
                    </a:solidFill>
                  </a:tcPr>
                </a:tc>
                <a:extLst>
                  <a:ext uri="{0D108BD9-81ED-4DB2-BD59-A6C34878D82A}">
                    <a16:rowId xmlns:a16="http://schemas.microsoft.com/office/drawing/2014/main" val="10001"/>
                  </a:ext>
                </a:extLst>
              </a:tr>
              <a:tr h="310896">
                <a:tc>
                  <a:txBody>
                    <a:bodyPr/>
                    <a:lstStyle/>
                    <a:p>
                      <a:pPr algn="l"/>
                      <a:r>
                        <a:rPr sz="1100" b="0">
                          <a:solidFill>
                            <a:srgbClr val="222222"/>
                          </a:solidFill>
                        </a:rPr>
                        <a:t>Qwen2.5 3B</a:t>
                      </a:r>
                    </a:p>
                  </a:txBody>
                  <a:tcPr marL="54864" marR="54864" marT="18288" marB="18288" anchor="ctr">
                    <a:solidFill>
                      <a:srgbClr val="F4F6F9"/>
                    </a:solidFill>
                  </a:tcPr>
                </a:tc>
                <a:tc>
                  <a:txBody>
                    <a:bodyPr/>
                    <a:lstStyle/>
                    <a:p>
                      <a:pPr algn="l"/>
                      <a:r>
                        <a:rPr sz="1100" b="0">
                          <a:solidFill>
                            <a:srgbClr val="222222"/>
                          </a:solidFill>
                        </a:rPr>
                        <a:t>20 min 48</a:t>
                      </a:r>
                    </a:p>
                  </a:txBody>
                  <a:tcPr marL="54864" marR="54864" marT="18288" marB="18288" anchor="ctr">
                    <a:solidFill>
                      <a:srgbClr val="F4F6F9"/>
                    </a:solidFill>
                  </a:tcPr>
                </a:tc>
                <a:tc>
                  <a:txBody>
                    <a:bodyPr/>
                    <a:lstStyle/>
                    <a:p>
                      <a:pPr algn="l"/>
                      <a:r>
                        <a:rPr sz="1100" b="0">
                          <a:solidFill>
                            <a:srgbClr val="222222"/>
                          </a:solidFill>
                        </a:rPr>
                        <a:t>12 min 13</a:t>
                      </a:r>
                    </a:p>
                  </a:txBody>
                  <a:tcPr marL="54864" marR="54864" marT="18288" marB="18288" anchor="ctr">
                    <a:solidFill>
                      <a:srgbClr val="F4F6F9"/>
                    </a:solidFill>
                  </a:tcPr>
                </a:tc>
                <a:tc>
                  <a:txBody>
                    <a:bodyPr/>
                    <a:lstStyle/>
                    <a:p>
                      <a:pPr algn="l"/>
                      <a:r>
                        <a:rPr sz="1100" b="1">
                          <a:solidFill>
                            <a:srgbClr val="2E6B3F"/>
                          </a:solidFill>
                        </a:rPr>
                        <a:t>-41 %</a:t>
                      </a:r>
                    </a:p>
                  </a:txBody>
                  <a:tcPr marL="54864" marR="54864" marT="18288" marB="18288" anchor="ctr">
                    <a:solidFill>
                      <a:srgbClr val="F4F6F9"/>
                    </a:solidFill>
                  </a:tcPr>
                </a:tc>
                <a:extLst>
                  <a:ext uri="{0D108BD9-81ED-4DB2-BD59-A6C34878D82A}">
                    <a16:rowId xmlns:a16="http://schemas.microsoft.com/office/drawing/2014/main" val="10002"/>
                  </a:ext>
                </a:extLst>
              </a:tr>
              <a:tr h="310896">
                <a:tc>
                  <a:txBody>
                    <a:bodyPr/>
                    <a:lstStyle/>
                    <a:p>
                      <a:pPr algn="l"/>
                      <a:r>
                        <a:rPr sz="1100" b="0">
                          <a:solidFill>
                            <a:srgbClr val="222222"/>
                          </a:solidFill>
                        </a:rPr>
                        <a:t>Qwen3 4B</a:t>
                      </a:r>
                    </a:p>
                  </a:txBody>
                  <a:tcPr marL="54864" marR="54864" marT="18288" marB="18288" anchor="ctr">
                    <a:solidFill>
                      <a:srgbClr val="FFFFFF"/>
                    </a:solidFill>
                  </a:tcPr>
                </a:tc>
                <a:tc>
                  <a:txBody>
                    <a:bodyPr/>
                    <a:lstStyle/>
                    <a:p>
                      <a:pPr algn="l"/>
                      <a:r>
                        <a:rPr sz="1100" b="0">
                          <a:solidFill>
                            <a:srgbClr val="222222"/>
                          </a:solidFill>
                        </a:rPr>
                        <a:t>48 min 55</a:t>
                      </a:r>
                    </a:p>
                  </a:txBody>
                  <a:tcPr marL="54864" marR="54864" marT="18288" marB="18288" anchor="ctr">
                    <a:solidFill>
                      <a:srgbClr val="FFFFFF"/>
                    </a:solidFill>
                  </a:tcPr>
                </a:tc>
                <a:tc>
                  <a:txBody>
                    <a:bodyPr/>
                    <a:lstStyle/>
                    <a:p>
                      <a:pPr algn="l"/>
                      <a:r>
                        <a:rPr sz="1100" b="0">
                          <a:solidFill>
                            <a:srgbClr val="222222"/>
                          </a:solidFill>
                        </a:rPr>
                        <a:t>32 min 40</a:t>
                      </a:r>
                    </a:p>
                  </a:txBody>
                  <a:tcPr marL="54864" marR="54864" marT="18288" marB="18288" anchor="ctr">
                    <a:solidFill>
                      <a:srgbClr val="FFFFFF"/>
                    </a:solidFill>
                  </a:tcPr>
                </a:tc>
                <a:tc>
                  <a:txBody>
                    <a:bodyPr/>
                    <a:lstStyle/>
                    <a:p>
                      <a:pPr algn="l"/>
                      <a:r>
                        <a:rPr sz="1100" b="1">
                          <a:solidFill>
                            <a:srgbClr val="2E6B3F"/>
                          </a:solidFill>
                        </a:rPr>
                        <a:t>-33 %</a:t>
                      </a:r>
                    </a:p>
                  </a:txBody>
                  <a:tcPr marL="54864" marR="54864" marT="18288" marB="18288" anchor="ctr">
                    <a:solidFill>
                      <a:srgbClr val="FFFFFF"/>
                    </a:solidFill>
                  </a:tcPr>
                </a:tc>
                <a:extLst>
                  <a:ext uri="{0D108BD9-81ED-4DB2-BD59-A6C34878D82A}">
                    <a16:rowId xmlns:a16="http://schemas.microsoft.com/office/drawing/2014/main" val="10003"/>
                  </a:ext>
                </a:extLst>
              </a:tr>
              <a:tr h="310896">
                <a:tc>
                  <a:txBody>
                    <a:bodyPr/>
                    <a:lstStyle/>
                    <a:p>
                      <a:pPr algn="l"/>
                      <a:r>
                        <a:rPr sz="1100" b="0">
                          <a:solidFill>
                            <a:srgbClr val="222222"/>
                          </a:solidFill>
                        </a:rPr>
                        <a:t>SmolLM3 3B</a:t>
                      </a:r>
                    </a:p>
                  </a:txBody>
                  <a:tcPr marL="54864" marR="54864" marT="18288" marB="18288" anchor="ctr">
                    <a:solidFill>
                      <a:srgbClr val="F4F6F9"/>
                    </a:solidFill>
                  </a:tcPr>
                </a:tc>
                <a:tc>
                  <a:txBody>
                    <a:bodyPr/>
                    <a:lstStyle/>
                    <a:p>
                      <a:pPr algn="l"/>
                      <a:r>
                        <a:rPr sz="1100" b="0">
                          <a:solidFill>
                            <a:srgbClr val="222222"/>
                          </a:solidFill>
                        </a:rPr>
                        <a:t>24 min 48</a:t>
                      </a:r>
                    </a:p>
                  </a:txBody>
                  <a:tcPr marL="54864" marR="54864" marT="18288" marB="18288" anchor="ctr">
                    <a:solidFill>
                      <a:srgbClr val="F4F6F9"/>
                    </a:solidFill>
                  </a:tcPr>
                </a:tc>
                <a:tc>
                  <a:txBody>
                    <a:bodyPr/>
                    <a:lstStyle/>
                    <a:p>
                      <a:pPr algn="l"/>
                      <a:r>
                        <a:rPr sz="1100" b="0">
                          <a:solidFill>
                            <a:srgbClr val="222222"/>
                          </a:solidFill>
                        </a:rPr>
                        <a:t>14 min 56</a:t>
                      </a:r>
                    </a:p>
                  </a:txBody>
                  <a:tcPr marL="54864" marR="54864" marT="18288" marB="18288" anchor="ctr">
                    <a:solidFill>
                      <a:srgbClr val="F4F6F9"/>
                    </a:solidFill>
                  </a:tcPr>
                </a:tc>
                <a:tc>
                  <a:txBody>
                    <a:bodyPr/>
                    <a:lstStyle/>
                    <a:p>
                      <a:pPr algn="l"/>
                      <a:r>
                        <a:rPr sz="1100" b="1">
                          <a:solidFill>
                            <a:srgbClr val="2E6B3F"/>
                          </a:solidFill>
                        </a:rPr>
                        <a:t>-40 %</a:t>
                      </a:r>
                    </a:p>
                  </a:txBody>
                  <a:tcPr marL="54864" marR="54864" marT="18288" marB="18288" anchor="ctr">
                    <a:solidFill>
                      <a:srgbClr val="F4F6F9"/>
                    </a:solidFill>
                  </a:tcPr>
                </a:tc>
                <a:extLst>
                  <a:ext uri="{0D108BD9-81ED-4DB2-BD59-A6C34878D82A}">
                    <a16:rowId xmlns:a16="http://schemas.microsoft.com/office/drawing/2014/main" val="10004"/>
                  </a:ext>
                </a:extLst>
              </a:tr>
            </a:tbl>
          </a:graphicData>
        </a:graphic>
      </p:graphicFrame>
      <p:sp>
        <p:nvSpPr>
          <p:cNvPr id="5" name="Rectangle 4"/>
          <p:cNvSpPr/>
          <p:nvPr/>
        </p:nvSpPr>
        <p:spPr>
          <a:xfrm>
            <a:off x="457200" y="4480560"/>
            <a:ext cx="11274552" cy="731520"/>
          </a:xfrm>
          <a:prstGeom prst="rect">
            <a:avLst/>
          </a:prstGeom>
          <a:solidFill>
            <a:srgbClr val="EAF1EC"/>
          </a:solidFill>
          <a:ln w="9525">
            <a:solidFill>
              <a:srgbClr val="2E6B3F"/>
            </a:solidFill>
          </a:ln>
          <a:effectLst/>
        </p:spPr>
        <p:style>
          <a:lnRef idx="1">
            <a:schemeClr val="accent1"/>
          </a:lnRef>
          <a:fillRef idx="3">
            <a:schemeClr val="accent1"/>
          </a:fillRef>
          <a:effectRef idx="2">
            <a:schemeClr val="accent1"/>
          </a:effectRef>
          <a:fontRef idx="minor">
            <a:schemeClr val="lt1"/>
          </a:fontRef>
        </p:style>
        <p:txBody>
          <a:bodyPr wrap="square" lIns="137160" tIns="73152" rIns="137160" bIns="73152" rtlCol="0" anchor="ctr"/>
          <a:lstStyle/>
          <a:p>
            <a:pPr algn="ctr"/>
            <a:r>
              <a:rPr sz="1200" b="1" dirty="0">
                <a:solidFill>
                  <a:srgbClr val="2E6B3F"/>
                </a:solidFill>
              </a:rPr>
              <a:t>Verdict  </a:t>
            </a:r>
            <a:r>
              <a:rPr sz="1200" dirty="0" err="1">
                <a:solidFill>
                  <a:srgbClr val="222222"/>
                </a:solidFill>
              </a:rPr>
              <a:t>Adopté</a:t>
            </a:r>
            <a:r>
              <a:rPr sz="1200" dirty="0">
                <a:solidFill>
                  <a:srgbClr val="222222"/>
                </a:solidFill>
              </a:rPr>
              <a:t>. </a:t>
            </a:r>
            <a:r>
              <a:rPr sz="1200" dirty="0" err="1">
                <a:solidFill>
                  <a:srgbClr val="222222"/>
                </a:solidFill>
              </a:rPr>
              <a:t>Découpage</a:t>
            </a:r>
            <a:r>
              <a:rPr sz="1200" dirty="0">
                <a:solidFill>
                  <a:srgbClr val="222222"/>
                </a:solidFill>
              </a:rPr>
              <a:t> </a:t>
            </a:r>
            <a:r>
              <a:rPr sz="1200" dirty="0" err="1">
                <a:solidFill>
                  <a:srgbClr val="222222"/>
                </a:solidFill>
              </a:rPr>
              <a:t>chronologique</a:t>
            </a:r>
            <a:r>
              <a:rPr sz="1200" dirty="0">
                <a:solidFill>
                  <a:srgbClr val="222222"/>
                </a:solidFill>
              </a:rPr>
              <a:t> plus </a:t>
            </a:r>
            <a:r>
              <a:rPr sz="1200" dirty="0" err="1">
                <a:solidFill>
                  <a:srgbClr val="222222"/>
                </a:solidFill>
              </a:rPr>
              <a:t>rapide</a:t>
            </a:r>
            <a:r>
              <a:rPr sz="1200" dirty="0">
                <a:solidFill>
                  <a:srgbClr val="222222"/>
                </a:solidFill>
              </a:rPr>
              <a:t> ET qui </a:t>
            </a:r>
            <a:r>
              <a:rPr sz="1200" dirty="0" err="1">
                <a:solidFill>
                  <a:srgbClr val="222222"/>
                </a:solidFill>
              </a:rPr>
              <a:t>préserve</a:t>
            </a:r>
            <a:r>
              <a:rPr sz="1200" dirty="0">
                <a:solidFill>
                  <a:srgbClr val="222222"/>
                </a:solidFill>
              </a:rPr>
              <a:t> </a:t>
            </a:r>
            <a:r>
              <a:rPr sz="1200" dirty="0" err="1">
                <a:solidFill>
                  <a:srgbClr val="222222"/>
                </a:solidFill>
              </a:rPr>
              <a:t>l'ordre</a:t>
            </a:r>
            <a:r>
              <a:rPr sz="1200" dirty="0">
                <a:solidFill>
                  <a:srgbClr val="222222"/>
                </a:solidFill>
              </a:rPr>
              <a:t> du </a:t>
            </a:r>
            <a:r>
              <a:rPr sz="1200" dirty="0" err="1">
                <a:solidFill>
                  <a:srgbClr val="222222"/>
                </a:solidFill>
              </a:rPr>
              <a:t>récit</a:t>
            </a:r>
            <a:r>
              <a:rPr sz="1200" dirty="0">
                <a:solidFill>
                  <a:srgbClr val="222222"/>
                </a:solidFill>
              </a:rPr>
              <a:t>. Base de tout le pipeline.</a:t>
            </a:r>
          </a:p>
        </p:txBody>
      </p:sp>
      <p:sp>
        <p:nvSpPr>
          <p:cNvPr id="6" name="Rectangle 5"/>
          <p:cNvSpPr/>
          <p:nvPr/>
        </p:nvSpPr>
        <p:spPr>
          <a:xfrm>
            <a:off x="457200" y="5257800"/>
            <a:ext cx="11274552" cy="1188720"/>
          </a:xfrm>
          <a:prstGeom prst="rect">
            <a:avLst/>
          </a:prstGeom>
          <a:solidFill>
            <a:srgbClr val="EEF2F6"/>
          </a:solidFill>
          <a:ln w="9525">
            <a:solidFill>
              <a:srgbClr val="1F3A5F"/>
            </a:solidFill>
          </a:ln>
          <a:effectLst/>
        </p:spPr>
        <p:style>
          <a:lnRef idx="1">
            <a:schemeClr val="accent1"/>
          </a:lnRef>
          <a:fillRef idx="3">
            <a:schemeClr val="accent1"/>
          </a:fillRef>
          <a:effectRef idx="2">
            <a:schemeClr val="accent1"/>
          </a:effectRef>
          <a:fontRef idx="minor">
            <a:schemeClr val="lt1"/>
          </a:fontRef>
        </p:style>
        <p:txBody>
          <a:bodyPr wrap="square" lIns="137160" tIns="73152" rIns="137160" bIns="73152" rtlCol="0" anchor="ctr"/>
          <a:lstStyle/>
          <a:p>
            <a:pPr algn="ctr"/>
            <a:r>
              <a:rPr sz="1100" b="1">
                <a:solidFill>
                  <a:srgbClr val="1F3A5F"/>
                </a:solidFill>
              </a:rPr>
              <a:t>Analyse  </a:t>
            </a:r>
            <a:r>
              <a:rPr sz="1100">
                <a:solidFill>
                  <a:srgbClr val="222222"/>
                </a:solidFill>
              </a:rPr>
              <a:t>HDBSCAN regroupe par densité sans tenir compte du temps (clusters non contigus, points isolés jetés comme bruit). La détection de frontières garde l'ordre linéaire et ne coupe qu'où la cohésion chute : c'est le principe de TextTiling (Hearst 1997), ici sur embeddings.</a:t>
            </a:r>
          </a:p>
        </p:txBody>
      </p:sp>
      <p:sp>
        <p:nvSpPr>
          <p:cNvPr id="7" name="TextBox 6"/>
          <p:cNvSpPr txBox="1"/>
          <p:nvPr/>
        </p:nvSpPr>
        <p:spPr>
          <a:xfrm>
            <a:off x="457200" y="6446520"/>
            <a:ext cx="11274552" cy="457200"/>
          </a:xfrm>
          <a:prstGeom prst="rect">
            <a:avLst/>
          </a:prstGeom>
          <a:noFill/>
        </p:spPr>
        <p:txBody>
          <a:bodyPr wrap="square">
            <a:spAutoFit/>
          </a:bodyPr>
          <a:lstStyle/>
          <a:p>
            <a:r>
              <a:rPr sz="900" b="1">
                <a:solidFill>
                  <a:srgbClr val="5A5A5A"/>
                </a:solidFill>
              </a:rPr>
              <a:t>Source(s) : </a:t>
            </a:r>
            <a:r>
              <a:rPr sz="900" u="sng">
                <a:solidFill>
                  <a:srgbClr val="1F3A5F"/>
                </a:solidFill>
                <a:hlinkClick r:id="rId2"/>
              </a:rPr>
              <a:t>TextTiling, Hearst 1997</a:t>
            </a:r>
            <a:r>
              <a:rPr sz="900"/>
              <a:t>      </a:t>
            </a:r>
            <a:r>
              <a:rPr sz="900" u="sng">
                <a:solidFill>
                  <a:srgbClr val="1F3A5F"/>
                </a:solidFill>
                <a:hlinkClick r:id="rId3"/>
              </a:rPr>
              <a:t>HDBSCAN, Campello et al. 2013</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6868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wrap="square" lIns="365760" rtlCol="0" anchor="ctr"/>
          <a:lstStyle/>
          <a:p>
            <a:pPr algn="ctr"/>
            <a:r>
              <a:rPr sz="2200" b="1">
                <a:solidFill>
                  <a:srgbClr val="FFFFFF"/>
                </a:solidFill>
                <a:latin typeface="Georgia"/>
              </a:rPr>
              <a:t>1.2  Paramètres et résultats réels du découpage retenu</a:t>
            </a:r>
          </a:p>
        </p:txBody>
      </p:sp>
      <p:graphicFrame>
        <p:nvGraphicFramePr>
          <p:cNvPr id="3" name="Table 2"/>
          <p:cNvGraphicFramePr>
            <a:graphicFrameLocks noGrp="1"/>
          </p:cNvGraphicFramePr>
          <p:nvPr/>
        </p:nvGraphicFramePr>
        <p:xfrm>
          <a:off x="457200" y="1051560"/>
          <a:ext cx="8412478" cy="2176272"/>
        </p:xfrm>
        <a:graphic>
          <a:graphicData uri="http://schemas.openxmlformats.org/drawingml/2006/table">
            <a:tbl>
              <a:tblPr>
                <a:tableStyleId>{2D5ABB26-0587-4C30-8999-92F81FD0307C}</a:tableStyleId>
              </a:tblPr>
              <a:tblGrid>
                <a:gridCol w="2512818">
                  <a:extLst>
                    <a:ext uri="{9D8B030D-6E8A-4147-A177-3AD203B41FA5}">
                      <a16:colId xmlns:a16="http://schemas.microsoft.com/office/drawing/2014/main" val="20000"/>
                    </a:ext>
                  </a:extLst>
                </a:gridCol>
                <a:gridCol w="2622071">
                  <a:extLst>
                    <a:ext uri="{9D8B030D-6E8A-4147-A177-3AD203B41FA5}">
                      <a16:colId xmlns:a16="http://schemas.microsoft.com/office/drawing/2014/main" val="20001"/>
                    </a:ext>
                  </a:extLst>
                </a:gridCol>
                <a:gridCol w="3277589">
                  <a:extLst>
                    <a:ext uri="{9D8B030D-6E8A-4147-A177-3AD203B41FA5}">
                      <a16:colId xmlns:a16="http://schemas.microsoft.com/office/drawing/2014/main" val="20002"/>
                    </a:ext>
                  </a:extLst>
                </a:gridCol>
              </a:tblGrid>
              <a:tr h="310896">
                <a:tc>
                  <a:txBody>
                    <a:bodyPr/>
                    <a:lstStyle/>
                    <a:p>
                      <a:pPr algn="l"/>
                      <a:r>
                        <a:rPr sz="1050" b="1">
                          <a:solidFill>
                            <a:srgbClr val="FFFFFF"/>
                          </a:solidFill>
                        </a:rPr>
                        <a:t>Paramètre</a:t>
                      </a:r>
                    </a:p>
                  </a:txBody>
                  <a:tcPr marL="54864" marR="54864" marT="18288" marB="18288" anchor="ctr">
                    <a:solidFill>
                      <a:srgbClr val="1F3A5F"/>
                    </a:solidFill>
                  </a:tcPr>
                </a:tc>
                <a:tc>
                  <a:txBody>
                    <a:bodyPr/>
                    <a:lstStyle/>
                    <a:p>
                      <a:pPr algn="l"/>
                      <a:r>
                        <a:rPr sz="1050" b="1">
                          <a:solidFill>
                            <a:srgbClr val="FFFFFF"/>
                          </a:solidFill>
                        </a:rPr>
                        <a:t>Valeur</a:t>
                      </a:r>
                    </a:p>
                  </a:txBody>
                  <a:tcPr marL="54864" marR="54864" marT="18288" marB="18288" anchor="ctr">
                    <a:solidFill>
                      <a:srgbClr val="1F3A5F"/>
                    </a:solidFill>
                  </a:tcPr>
                </a:tc>
                <a:tc>
                  <a:txBody>
                    <a:bodyPr/>
                    <a:lstStyle/>
                    <a:p>
                      <a:pPr algn="l"/>
                      <a:r>
                        <a:rPr sz="1050" b="1">
                          <a:solidFill>
                            <a:srgbClr val="FFFFFF"/>
                          </a:solidFill>
                        </a:rPr>
                        <a:t>Rôle</a:t>
                      </a:r>
                    </a:p>
                  </a:txBody>
                  <a:tcPr marL="54864" marR="54864" marT="18288" marB="18288" anchor="ctr">
                    <a:solidFill>
                      <a:srgbClr val="1F3A5F"/>
                    </a:solidFill>
                  </a:tcPr>
                </a:tc>
                <a:extLst>
                  <a:ext uri="{0D108BD9-81ED-4DB2-BD59-A6C34878D82A}">
                    <a16:rowId xmlns:a16="http://schemas.microsoft.com/office/drawing/2014/main" val="10000"/>
                  </a:ext>
                </a:extLst>
              </a:tr>
              <a:tr h="310896">
                <a:tc>
                  <a:txBody>
                    <a:bodyPr/>
                    <a:lstStyle/>
                    <a:p>
                      <a:pPr algn="l"/>
                      <a:r>
                        <a:rPr sz="1050" b="0">
                          <a:solidFill>
                            <a:srgbClr val="222222"/>
                          </a:solidFill>
                        </a:rPr>
                        <a:t>Fenêtre glissante</a:t>
                      </a:r>
                    </a:p>
                  </a:txBody>
                  <a:tcPr marL="54864" marR="54864" marT="18288" marB="18288" anchor="ctr">
                    <a:solidFill>
                      <a:srgbClr val="FFFFFF"/>
                    </a:solidFill>
                  </a:tcPr>
                </a:tc>
                <a:tc>
                  <a:txBody>
                    <a:bodyPr/>
                    <a:lstStyle/>
                    <a:p>
                      <a:pPr algn="l"/>
                      <a:r>
                        <a:rPr sz="1050" b="0">
                          <a:solidFill>
                            <a:srgbClr val="222222"/>
                          </a:solidFill>
                        </a:rPr>
                        <a:t>3 segments (slide 1)</a:t>
                      </a:r>
                    </a:p>
                  </a:txBody>
                  <a:tcPr marL="54864" marR="54864" marT="18288" marB="18288" anchor="ctr">
                    <a:solidFill>
                      <a:srgbClr val="FFFFFF"/>
                    </a:solidFill>
                  </a:tcPr>
                </a:tc>
                <a:tc>
                  <a:txBody>
                    <a:bodyPr/>
                    <a:lstStyle/>
                    <a:p>
                      <a:pPr algn="l"/>
                      <a:r>
                        <a:rPr sz="1050" b="0">
                          <a:solidFill>
                            <a:srgbClr val="222222"/>
                          </a:solidFill>
                        </a:rPr>
                        <a:t>granularité de l'analyse</a:t>
                      </a:r>
                    </a:p>
                  </a:txBody>
                  <a:tcPr marL="54864" marR="54864" marT="18288" marB="18288" anchor="ctr">
                    <a:solidFill>
                      <a:srgbClr val="FFFFFF"/>
                    </a:solidFill>
                  </a:tcPr>
                </a:tc>
                <a:extLst>
                  <a:ext uri="{0D108BD9-81ED-4DB2-BD59-A6C34878D82A}">
                    <a16:rowId xmlns:a16="http://schemas.microsoft.com/office/drawing/2014/main" val="10001"/>
                  </a:ext>
                </a:extLst>
              </a:tr>
              <a:tr h="310896">
                <a:tc>
                  <a:txBody>
                    <a:bodyPr/>
                    <a:lstStyle/>
                    <a:p>
                      <a:pPr algn="l"/>
                      <a:r>
                        <a:rPr sz="1050" b="0" dirty="0" err="1">
                          <a:solidFill>
                            <a:srgbClr val="222222"/>
                          </a:solidFill>
                        </a:rPr>
                        <a:t>Lissage</a:t>
                      </a:r>
                      <a:r>
                        <a:rPr sz="1050" b="0" dirty="0">
                          <a:solidFill>
                            <a:srgbClr val="222222"/>
                          </a:solidFill>
                        </a:rPr>
                        <a:t> </a:t>
                      </a:r>
                      <a:r>
                        <a:rPr sz="1050" b="0" dirty="0" err="1">
                          <a:solidFill>
                            <a:srgbClr val="222222"/>
                          </a:solidFill>
                        </a:rPr>
                        <a:t>gaussien</a:t>
                      </a:r>
                      <a:r>
                        <a:rPr sz="1050" b="0" dirty="0">
                          <a:solidFill>
                            <a:srgbClr val="222222"/>
                          </a:solidFill>
                        </a:rPr>
                        <a:t> sigma</a:t>
                      </a:r>
                    </a:p>
                  </a:txBody>
                  <a:tcPr marL="54864" marR="54864" marT="18288" marB="18288" anchor="ctr">
                    <a:solidFill>
                      <a:srgbClr val="F4F6F9"/>
                    </a:solidFill>
                  </a:tcPr>
                </a:tc>
                <a:tc>
                  <a:txBody>
                    <a:bodyPr/>
                    <a:lstStyle/>
                    <a:p>
                      <a:pPr algn="l"/>
                      <a:r>
                        <a:rPr sz="1050" b="0">
                          <a:solidFill>
                            <a:srgbClr val="222222"/>
                          </a:solidFill>
                        </a:rPr>
                        <a:t>2,0</a:t>
                      </a:r>
                    </a:p>
                  </a:txBody>
                  <a:tcPr marL="54864" marR="54864" marT="18288" marB="18288" anchor="ctr">
                    <a:solidFill>
                      <a:srgbClr val="F4F6F9"/>
                    </a:solidFill>
                  </a:tcPr>
                </a:tc>
                <a:tc>
                  <a:txBody>
                    <a:bodyPr/>
                    <a:lstStyle/>
                    <a:p>
                      <a:pPr algn="l"/>
                      <a:r>
                        <a:rPr sz="1050" b="0">
                          <a:solidFill>
                            <a:srgbClr val="222222"/>
                          </a:solidFill>
                        </a:rPr>
                        <a:t>atténue le bruit des similarités</a:t>
                      </a:r>
                    </a:p>
                  </a:txBody>
                  <a:tcPr marL="54864" marR="54864" marT="18288" marB="18288" anchor="ctr">
                    <a:solidFill>
                      <a:srgbClr val="F4F6F9"/>
                    </a:solidFill>
                  </a:tcPr>
                </a:tc>
                <a:extLst>
                  <a:ext uri="{0D108BD9-81ED-4DB2-BD59-A6C34878D82A}">
                    <a16:rowId xmlns:a16="http://schemas.microsoft.com/office/drawing/2014/main" val="10002"/>
                  </a:ext>
                </a:extLst>
              </a:tr>
              <a:tr h="310896">
                <a:tc>
                  <a:txBody>
                    <a:bodyPr/>
                    <a:lstStyle/>
                    <a:p>
                      <a:pPr algn="l"/>
                      <a:r>
                        <a:rPr sz="1050" b="0" dirty="0">
                          <a:solidFill>
                            <a:srgbClr val="222222"/>
                          </a:solidFill>
                        </a:rPr>
                        <a:t>Percentile de </a:t>
                      </a:r>
                      <a:r>
                        <a:rPr sz="1050" b="0" dirty="0" err="1">
                          <a:solidFill>
                            <a:srgbClr val="222222"/>
                          </a:solidFill>
                        </a:rPr>
                        <a:t>vallée</a:t>
                      </a:r>
                      <a:endParaRPr sz="1050" b="0" dirty="0">
                        <a:solidFill>
                          <a:srgbClr val="222222"/>
                        </a:solidFill>
                      </a:endParaRPr>
                    </a:p>
                  </a:txBody>
                  <a:tcPr marL="54864" marR="54864" marT="18288" marB="18288" anchor="ctr">
                    <a:solidFill>
                      <a:srgbClr val="FFFFFF"/>
                    </a:solidFill>
                  </a:tcPr>
                </a:tc>
                <a:tc>
                  <a:txBody>
                    <a:bodyPr/>
                    <a:lstStyle/>
                    <a:p>
                      <a:pPr algn="l"/>
                      <a:r>
                        <a:rPr sz="1050" b="0">
                          <a:solidFill>
                            <a:srgbClr val="222222"/>
                          </a:solidFill>
                        </a:rPr>
                        <a:t>5 %</a:t>
                      </a:r>
                    </a:p>
                  </a:txBody>
                  <a:tcPr marL="54864" marR="54864" marT="18288" marB="18288" anchor="ctr">
                    <a:solidFill>
                      <a:srgbClr val="FFFFFF"/>
                    </a:solidFill>
                  </a:tcPr>
                </a:tc>
                <a:tc>
                  <a:txBody>
                    <a:bodyPr/>
                    <a:lstStyle/>
                    <a:p>
                      <a:pPr algn="l"/>
                      <a:r>
                        <a:rPr sz="1050" b="0">
                          <a:solidFill>
                            <a:srgbClr val="222222"/>
                          </a:solidFill>
                        </a:rPr>
                        <a:t>seuil de détection des frontières</a:t>
                      </a:r>
                    </a:p>
                  </a:txBody>
                  <a:tcPr marL="54864" marR="54864" marT="18288" marB="18288" anchor="ctr">
                    <a:solidFill>
                      <a:srgbClr val="FFFFFF"/>
                    </a:solidFill>
                  </a:tcPr>
                </a:tc>
                <a:extLst>
                  <a:ext uri="{0D108BD9-81ED-4DB2-BD59-A6C34878D82A}">
                    <a16:rowId xmlns:a16="http://schemas.microsoft.com/office/drawing/2014/main" val="10003"/>
                  </a:ext>
                </a:extLst>
              </a:tr>
              <a:tr h="310896">
                <a:tc>
                  <a:txBody>
                    <a:bodyPr/>
                    <a:lstStyle/>
                    <a:p>
                      <a:pPr algn="l"/>
                      <a:r>
                        <a:rPr sz="1050" b="0">
                          <a:solidFill>
                            <a:srgbClr val="222222"/>
                          </a:solidFill>
                        </a:rPr>
                        <a:t>Distance min. frontières</a:t>
                      </a:r>
                    </a:p>
                  </a:txBody>
                  <a:tcPr marL="54864" marR="54864" marT="18288" marB="18288" anchor="ctr">
                    <a:solidFill>
                      <a:srgbClr val="F4F6F9"/>
                    </a:solidFill>
                  </a:tcPr>
                </a:tc>
                <a:tc>
                  <a:txBody>
                    <a:bodyPr/>
                    <a:lstStyle/>
                    <a:p>
                      <a:pPr algn="l"/>
                      <a:r>
                        <a:rPr sz="1050" b="0">
                          <a:solidFill>
                            <a:srgbClr val="222222"/>
                          </a:solidFill>
                        </a:rPr>
                        <a:t>10 fenêtres</a:t>
                      </a:r>
                    </a:p>
                  </a:txBody>
                  <a:tcPr marL="54864" marR="54864" marT="18288" marB="18288" anchor="ctr">
                    <a:solidFill>
                      <a:srgbClr val="F4F6F9"/>
                    </a:solidFill>
                  </a:tcPr>
                </a:tc>
                <a:tc>
                  <a:txBody>
                    <a:bodyPr/>
                    <a:lstStyle/>
                    <a:p>
                      <a:pPr algn="l"/>
                      <a:r>
                        <a:rPr sz="1050" b="0">
                          <a:solidFill>
                            <a:srgbClr val="222222"/>
                          </a:solidFill>
                        </a:rPr>
                        <a:t>évite les coupures trop proches</a:t>
                      </a:r>
                    </a:p>
                  </a:txBody>
                  <a:tcPr marL="54864" marR="54864" marT="18288" marB="18288" anchor="ctr">
                    <a:solidFill>
                      <a:srgbClr val="F4F6F9"/>
                    </a:solidFill>
                  </a:tcPr>
                </a:tc>
                <a:extLst>
                  <a:ext uri="{0D108BD9-81ED-4DB2-BD59-A6C34878D82A}">
                    <a16:rowId xmlns:a16="http://schemas.microsoft.com/office/drawing/2014/main" val="10004"/>
                  </a:ext>
                </a:extLst>
              </a:tr>
              <a:tr h="310896">
                <a:tc>
                  <a:txBody>
                    <a:bodyPr/>
                    <a:lstStyle/>
                    <a:p>
                      <a:pPr algn="l"/>
                      <a:r>
                        <a:rPr sz="1050" b="0" dirty="0">
                          <a:solidFill>
                            <a:srgbClr val="222222"/>
                          </a:solidFill>
                        </a:rPr>
                        <a:t>Taille max. d'un chunk</a:t>
                      </a:r>
                    </a:p>
                  </a:txBody>
                  <a:tcPr marL="54864" marR="54864" marT="18288" marB="18288" anchor="ctr">
                    <a:solidFill>
                      <a:srgbClr val="FFFFFF"/>
                    </a:solidFill>
                  </a:tcPr>
                </a:tc>
                <a:tc>
                  <a:txBody>
                    <a:bodyPr/>
                    <a:lstStyle/>
                    <a:p>
                      <a:pPr algn="l"/>
                      <a:r>
                        <a:rPr sz="1050" b="0">
                          <a:solidFill>
                            <a:srgbClr val="222222"/>
                          </a:solidFill>
                        </a:rPr>
                        <a:t>15 000 caractères</a:t>
                      </a:r>
                    </a:p>
                  </a:txBody>
                  <a:tcPr marL="54864" marR="54864" marT="18288" marB="18288" anchor="ctr">
                    <a:solidFill>
                      <a:srgbClr val="FFFFFF"/>
                    </a:solidFill>
                  </a:tcPr>
                </a:tc>
                <a:tc>
                  <a:txBody>
                    <a:bodyPr/>
                    <a:lstStyle/>
                    <a:p>
                      <a:pPr algn="l"/>
                      <a:r>
                        <a:rPr sz="1050" b="0">
                          <a:solidFill>
                            <a:srgbClr val="222222"/>
                          </a:solidFill>
                        </a:rPr>
                        <a:t>déclenche le re-split récursif</a:t>
                      </a:r>
                    </a:p>
                  </a:txBody>
                  <a:tcPr marL="54864" marR="54864" marT="18288" marB="18288" anchor="ctr">
                    <a:solidFill>
                      <a:srgbClr val="FFFFFF"/>
                    </a:solidFill>
                  </a:tcPr>
                </a:tc>
                <a:extLst>
                  <a:ext uri="{0D108BD9-81ED-4DB2-BD59-A6C34878D82A}">
                    <a16:rowId xmlns:a16="http://schemas.microsoft.com/office/drawing/2014/main" val="10005"/>
                  </a:ext>
                </a:extLst>
              </a:tr>
              <a:tr h="310896">
                <a:tc>
                  <a:txBody>
                    <a:bodyPr/>
                    <a:lstStyle/>
                    <a:p>
                      <a:pPr algn="l"/>
                      <a:r>
                        <a:rPr sz="1050" b="0" dirty="0">
                          <a:solidFill>
                            <a:srgbClr val="222222"/>
                          </a:solidFill>
                        </a:rPr>
                        <a:t>Embeddings</a:t>
                      </a:r>
                    </a:p>
                  </a:txBody>
                  <a:tcPr marL="54864" marR="54864" marT="18288" marB="18288" anchor="ctr">
                    <a:solidFill>
                      <a:srgbClr val="F4F6F9"/>
                    </a:solidFill>
                  </a:tcPr>
                </a:tc>
                <a:tc>
                  <a:txBody>
                    <a:bodyPr/>
                    <a:lstStyle/>
                    <a:p>
                      <a:pPr algn="l"/>
                      <a:r>
                        <a:rPr sz="1050" b="0">
                          <a:solidFill>
                            <a:srgbClr val="222222"/>
                          </a:solidFill>
                        </a:rPr>
                        <a:t>all-MiniLM-L6-v2 (384d, CPU)</a:t>
                      </a:r>
                    </a:p>
                  </a:txBody>
                  <a:tcPr marL="54864" marR="54864" marT="18288" marB="18288" anchor="ctr">
                    <a:solidFill>
                      <a:srgbClr val="F4F6F9"/>
                    </a:solidFill>
                  </a:tcPr>
                </a:tc>
                <a:tc>
                  <a:txBody>
                    <a:bodyPr/>
                    <a:lstStyle/>
                    <a:p>
                      <a:pPr algn="l"/>
                      <a:r>
                        <a:rPr sz="1050" b="0" dirty="0" err="1">
                          <a:solidFill>
                            <a:srgbClr val="222222"/>
                          </a:solidFill>
                        </a:rPr>
                        <a:t>vectorisation</a:t>
                      </a:r>
                      <a:r>
                        <a:rPr sz="1050" b="0" dirty="0">
                          <a:solidFill>
                            <a:srgbClr val="222222"/>
                          </a:solidFill>
                        </a:rPr>
                        <a:t> des </a:t>
                      </a:r>
                      <a:r>
                        <a:rPr sz="1050" b="0" dirty="0" err="1">
                          <a:solidFill>
                            <a:srgbClr val="222222"/>
                          </a:solidFill>
                        </a:rPr>
                        <a:t>fenêtres</a:t>
                      </a:r>
                      <a:endParaRPr sz="1050" b="0" dirty="0">
                        <a:solidFill>
                          <a:srgbClr val="222222"/>
                        </a:solidFill>
                      </a:endParaRPr>
                    </a:p>
                  </a:txBody>
                  <a:tcPr marL="54864" marR="54864" marT="18288" marB="18288" anchor="ctr">
                    <a:solidFill>
                      <a:srgbClr val="F4F6F9"/>
                    </a:solidFill>
                  </a:tcPr>
                </a:tc>
                <a:extLst>
                  <a:ext uri="{0D108BD9-81ED-4DB2-BD59-A6C34878D82A}">
                    <a16:rowId xmlns:a16="http://schemas.microsoft.com/office/drawing/2014/main" val="10006"/>
                  </a:ext>
                </a:extLst>
              </a:tr>
            </a:tbl>
          </a:graphicData>
        </a:graphic>
      </p:graphicFrame>
      <p:sp>
        <p:nvSpPr>
          <p:cNvPr id="4" name="Rectangle 3"/>
          <p:cNvSpPr/>
          <p:nvPr/>
        </p:nvSpPr>
        <p:spPr>
          <a:xfrm>
            <a:off x="457200" y="3977639"/>
            <a:ext cx="11274552" cy="1280160"/>
          </a:xfrm>
          <a:prstGeom prst="rect">
            <a:avLst/>
          </a:prstGeom>
          <a:solidFill>
            <a:srgbClr val="EEF2F6"/>
          </a:solidFill>
          <a:ln w="9525">
            <a:solidFill>
              <a:srgbClr val="1F3A5F"/>
            </a:solidFill>
          </a:ln>
          <a:effectLst/>
        </p:spPr>
        <p:style>
          <a:lnRef idx="1">
            <a:schemeClr val="accent1"/>
          </a:lnRef>
          <a:fillRef idx="3">
            <a:schemeClr val="accent1"/>
          </a:fillRef>
          <a:effectRef idx="2">
            <a:schemeClr val="accent1"/>
          </a:effectRef>
          <a:fontRef idx="minor">
            <a:schemeClr val="lt1"/>
          </a:fontRef>
        </p:style>
        <p:txBody>
          <a:bodyPr wrap="square" lIns="137160" tIns="73152" rIns="137160" bIns="73152" rtlCol="0" anchor="ctr"/>
          <a:lstStyle/>
          <a:p>
            <a:pPr algn="ctr"/>
            <a:r>
              <a:rPr sz="1100" b="1">
                <a:solidFill>
                  <a:srgbClr val="1F3A5F"/>
                </a:solidFill>
              </a:rPr>
              <a:t>Analyse  </a:t>
            </a:r>
            <a:r>
              <a:rPr sz="1100">
                <a:solidFill>
                  <a:srgbClr val="222222"/>
                </a:solidFill>
              </a:rPr>
              <a:t>all-MiniLM-L6-v2 est un MiniLM (Wang et al. 2020, distillation d'attention) affiné façon Sentence-BERT (Reimers et Gurevych 2019) pour que la similarité cosine reflète le sens. Sur dicte_audio_3 : 264 fenêtres, 6 frontières, 10 chunks ; coût 12 s d'embeddings (négligeable).</a:t>
            </a:r>
          </a:p>
        </p:txBody>
      </p:sp>
      <p:sp>
        <p:nvSpPr>
          <p:cNvPr id="5" name="TextBox 4"/>
          <p:cNvSpPr txBox="1"/>
          <p:nvPr/>
        </p:nvSpPr>
        <p:spPr>
          <a:xfrm>
            <a:off x="457200" y="5303520"/>
            <a:ext cx="11274552" cy="457200"/>
          </a:xfrm>
          <a:prstGeom prst="rect">
            <a:avLst/>
          </a:prstGeom>
          <a:noFill/>
        </p:spPr>
        <p:txBody>
          <a:bodyPr wrap="square">
            <a:spAutoFit/>
          </a:bodyPr>
          <a:lstStyle/>
          <a:p>
            <a:r>
              <a:rPr sz="900" b="1">
                <a:solidFill>
                  <a:srgbClr val="5A5A5A"/>
                </a:solidFill>
              </a:rPr>
              <a:t>Source(s) : </a:t>
            </a:r>
            <a:r>
              <a:rPr sz="900" u="sng">
                <a:solidFill>
                  <a:srgbClr val="1F3A5F"/>
                </a:solidFill>
                <a:hlinkClick r:id="rId2"/>
              </a:rPr>
              <a:t>Sentence-BERT, EMNLP 2019</a:t>
            </a:r>
            <a:r>
              <a:rPr sz="900"/>
              <a:t>      </a:t>
            </a:r>
            <a:r>
              <a:rPr sz="900" u="sng">
                <a:solidFill>
                  <a:srgbClr val="1F3A5F"/>
                </a:solidFill>
                <a:hlinkClick r:id="rId3"/>
              </a:rPr>
              <a:t>MiniLM, NeurIPS 2020</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6868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wrap="square" lIns="365760" rtlCol="0" anchor="ctr"/>
          <a:lstStyle/>
          <a:p>
            <a:pPr algn="ctr"/>
            <a:r>
              <a:rPr sz="2200" b="1">
                <a:solidFill>
                  <a:srgbClr val="FFFFFF"/>
                </a:solidFill>
                <a:latin typeface="Georgia"/>
              </a:rPr>
              <a:t>1.3  Approches sans découpage (contre-exemples)</a:t>
            </a:r>
          </a:p>
        </p:txBody>
      </p:sp>
      <p:graphicFrame>
        <p:nvGraphicFramePr>
          <p:cNvPr id="3" name="Table 2"/>
          <p:cNvGraphicFramePr>
            <a:graphicFrameLocks noGrp="1"/>
          </p:cNvGraphicFramePr>
          <p:nvPr/>
        </p:nvGraphicFramePr>
        <p:xfrm>
          <a:off x="457200" y="1097280"/>
          <a:ext cx="11274549" cy="2176272"/>
        </p:xfrm>
        <a:graphic>
          <a:graphicData uri="http://schemas.openxmlformats.org/drawingml/2006/table">
            <a:tbl>
              <a:tblPr>
                <a:tableStyleId>{2D5ABB26-0587-4C30-8999-92F81FD0307C}</a:tableStyleId>
              </a:tblPr>
              <a:tblGrid>
                <a:gridCol w="1715692">
                  <a:extLst>
                    <a:ext uri="{9D8B030D-6E8A-4147-A177-3AD203B41FA5}">
                      <a16:colId xmlns:a16="http://schemas.microsoft.com/office/drawing/2014/main" val="20000"/>
                    </a:ext>
                  </a:extLst>
                </a:gridCol>
                <a:gridCol w="3676484">
                  <a:extLst>
                    <a:ext uri="{9D8B030D-6E8A-4147-A177-3AD203B41FA5}">
                      <a16:colId xmlns:a16="http://schemas.microsoft.com/office/drawing/2014/main" val="20001"/>
                    </a:ext>
                  </a:extLst>
                </a:gridCol>
                <a:gridCol w="2450989">
                  <a:extLst>
                    <a:ext uri="{9D8B030D-6E8A-4147-A177-3AD203B41FA5}">
                      <a16:colId xmlns:a16="http://schemas.microsoft.com/office/drawing/2014/main" val="20002"/>
                    </a:ext>
                  </a:extLst>
                </a:gridCol>
                <a:gridCol w="1470593">
                  <a:extLst>
                    <a:ext uri="{9D8B030D-6E8A-4147-A177-3AD203B41FA5}">
                      <a16:colId xmlns:a16="http://schemas.microsoft.com/office/drawing/2014/main" val="20003"/>
                    </a:ext>
                  </a:extLst>
                </a:gridCol>
                <a:gridCol w="1960791">
                  <a:extLst>
                    <a:ext uri="{9D8B030D-6E8A-4147-A177-3AD203B41FA5}">
                      <a16:colId xmlns:a16="http://schemas.microsoft.com/office/drawing/2014/main" val="20004"/>
                    </a:ext>
                  </a:extLst>
                </a:gridCol>
              </a:tblGrid>
              <a:tr h="310896">
                <a:tc>
                  <a:txBody>
                    <a:bodyPr/>
                    <a:lstStyle/>
                    <a:p>
                      <a:pPr algn="l"/>
                      <a:r>
                        <a:rPr sz="1000" b="1">
                          <a:solidFill>
                            <a:srgbClr val="FFFFFF"/>
                          </a:solidFill>
                        </a:rPr>
                        <a:t>Pipeline</a:t>
                      </a:r>
                    </a:p>
                  </a:txBody>
                  <a:tcPr marL="54864" marR="54864" marT="18288" marB="18288" anchor="ctr">
                    <a:solidFill>
                      <a:srgbClr val="1F3A5F"/>
                    </a:solidFill>
                  </a:tcPr>
                </a:tc>
                <a:tc>
                  <a:txBody>
                    <a:bodyPr/>
                    <a:lstStyle/>
                    <a:p>
                      <a:pPr algn="l"/>
                      <a:r>
                        <a:rPr sz="1000" b="1">
                          <a:solidFill>
                            <a:srgbClr val="FFFFFF"/>
                          </a:solidFill>
                        </a:rPr>
                        <a:t>Principe</a:t>
                      </a:r>
                    </a:p>
                  </a:txBody>
                  <a:tcPr marL="54864" marR="54864" marT="18288" marB="18288" anchor="ctr">
                    <a:solidFill>
                      <a:srgbClr val="1F3A5F"/>
                    </a:solidFill>
                  </a:tcPr>
                </a:tc>
                <a:tc>
                  <a:txBody>
                    <a:bodyPr/>
                    <a:lstStyle/>
                    <a:p>
                      <a:pPr algn="l"/>
                      <a:r>
                        <a:rPr sz="1000" b="1">
                          <a:solidFill>
                            <a:srgbClr val="FFFFFF"/>
                          </a:solidFill>
                        </a:rPr>
                        <a:t>Modèle(s)</a:t>
                      </a:r>
                    </a:p>
                  </a:txBody>
                  <a:tcPr marL="54864" marR="54864" marT="18288" marB="18288" anchor="ctr">
                    <a:solidFill>
                      <a:srgbClr val="1F3A5F"/>
                    </a:solidFill>
                  </a:tcPr>
                </a:tc>
                <a:tc>
                  <a:txBody>
                    <a:bodyPr/>
                    <a:lstStyle/>
                    <a:p>
                      <a:pPr algn="l"/>
                      <a:r>
                        <a:rPr sz="1000" b="1">
                          <a:solidFill>
                            <a:srgbClr val="FFFFFF"/>
                          </a:solidFill>
                        </a:rPr>
                        <a:t>Durée</a:t>
                      </a:r>
                    </a:p>
                  </a:txBody>
                  <a:tcPr marL="54864" marR="54864" marT="18288" marB="18288" anchor="ctr">
                    <a:solidFill>
                      <a:srgbClr val="1F3A5F"/>
                    </a:solidFill>
                  </a:tcPr>
                </a:tc>
                <a:tc>
                  <a:txBody>
                    <a:bodyPr/>
                    <a:lstStyle/>
                    <a:p>
                      <a:pPr algn="l"/>
                      <a:r>
                        <a:rPr sz="1000" b="1">
                          <a:solidFill>
                            <a:srgbClr val="FFFFFF"/>
                          </a:solidFill>
                        </a:rPr>
                        <a:t>Remarque</a:t>
                      </a:r>
                    </a:p>
                  </a:txBody>
                  <a:tcPr marL="54864" marR="54864" marT="18288" marB="18288" anchor="ctr">
                    <a:solidFill>
                      <a:srgbClr val="1F3A5F"/>
                    </a:solidFill>
                  </a:tcPr>
                </a:tc>
                <a:extLst>
                  <a:ext uri="{0D108BD9-81ED-4DB2-BD59-A6C34878D82A}">
                    <a16:rowId xmlns:a16="http://schemas.microsoft.com/office/drawing/2014/main" val="10000"/>
                  </a:ext>
                </a:extLst>
              </a:tr>
              <a:tr h="310896">
                <a:tc>
                  <a:txBody>
                    <a:bodyPr/>
                    <a:lstStyle/>
                    <a:p>
                      <a:pPr algn="l"/>
                      <a:r>
                        <a:rPr sz="1000" b="0">
                          <a:solidFill>
                            <a:srgbClr val="222222"/>
                          </a:solidFill>
                        </a:rPr>
                        <a:t>Multi-pass V1</a:t>
                      </a:r>
                    </a:p>
                  </a:txBody>
                  <a:tcPr marL="54864" marR="54864" marT="18288" marB="18288" anchor="ctr">
                    <a:solidFill>
                      <a:srgbClr val="FFFFFF"/>
                    </a:solidFill>
                  </a:tcPr>
                </a:tc>
                <a:tc>
                  <a:txBody>
                    <a:bodyPr/>
                    <a:lstStyle/>
                    <a:p>
                      <a:pPr algn="l"/>
                      <a:r>
                        <a:rPr sz="1000" b="0">
                          <a:solidFill>
                            <a:srgbClr val="222222"/>
                          </a:solidFill>
                        </a:rPr>
                        <a:t>4 extractions/chunk + 3 sections (~40 appels)</a:t>
                      </a:r>
                    </a:p>
                  </a:txBody>
                  <a:tcPr marL="54864" marR="54864" marT="18288" marB="18288" anchor="ctr">
                    <a:solidFill>
                      <a:srgbClr val="FFFFFF"/>
                    </a:solidFill>
                  </a:tcPr>
                </a:tc>
                <a:tc>
                  <a:txBody>
                    <a:bodyPr/>
                    <a:lstStyle/>
                    <a:p>
                      <a:pPr algn="l"/>
                      <a:r>
                        <a:rPr sz="1000" b="0">
                          <a:solidFill>
                            <a:srgbClr val="222222"/>
                          </a:solidFill>
                        </a:rPr>
                        <a:t>Mistral 7B</a:t>
                      </a:r>
                    </a:p>
                  </a:txBody>
                  <a:tcPr marL="54864" marR="54864" marT="18288" marB="18288" anchor="ctr">
                    <a:solidFill>
                      <a:srgbClr val="FFFFFF"/>
                    </a:solidFill>
                  </a:tcPr>
                </a:tc>
                <a:tc>
                  <a:txBody>
                    <a:bodyPr/>
                    <a:lstStyle/>
                    <a:p>
                      <a:pPr algn="l"/>
                      <a:r>
                        <a:rPr sz="1000" b="0">
                          <a:solidFill>
                            <a:srgbClr val="222222"/>
                          </a:solidFill>
                        </a:rPr>
                        <a:t>1 h 46</a:t>
                      </a:r>
                    </a:p>
                  </a:txBody>
                  <a:tcPr marL="54864" marR="54864" marT="18288" marB="18288" anchor="ctr">
                    <a:solidFill>
                      <a:srgbClr val="FFFFFF"/>
                    </a:solidFill>
                  </a:tcPr>
                </a:tc>
                <a:tc>
                  <a:txBody>
                    <a:bodyPr/>
                    <a:lstStyle/>
                    <a:p>
                      <a:pPr algn="l"/>
                      <a:r>
                        <a:rPr sz="1000" b="0">
                          <a:solidFill>
                            <a:srgbClr val="222222"/>
                          </a:solidFill>
                        </a:rPr>
                        <a:t>lent</a:t>
                      </a:r>
                    </a:p>
                  </a:txBody>
                  <a:tcPr marL="54864" marR="54864" marT="18288" marB="18288" anchor="ctr">
                    <a:solidFill>
                      <a:srgbClr val="FFFFFF"/>
                    </a:solidFill>
                  </a:tcPr>
                </a:tc>
                <a:extLst>
                  <a:ext uri="{0D108BD9-81ED-4DB2-BD59-A6C34878D82A}">
                    <a16:rowId xmlns:a16="http://schemas.microsoft.com/office/drawing/2014/main" val="10001"/>
                  </a:ext>
                </a:extLst>
              </a:tr>
              <a:tr h="310896">
                <a:tc>
                  <a:txBody>
                    <a:bodyPr/>
                    <a:lstStyle/>
                    <a:p>
                      <a:pPr algn="l"/>
                      <a:r>
                        <a:rPr sz="1000" b="0">
                          <a:solidFill>
                            <a:srgbClr val="222222"/>
                          </a:solidFill>
                        </a:rPr>
                        <a:t>Multi-pass V1</a:t>
                      </a:r>
                    </a:p>
                  </a:txBody>
                  <a:tcPr marL="54864" marR="54864" marT="18288" marB="18288" anchor="ctr">
                    <a:solidFill>
                      <a:srgbClr val="F4F6F9"/>
                    </a:solidFill>
                  </a:tcPr>
                </a:tc>
                <a:tc>
                  <a:txBody>
                    <a:bodyPr/>
                    <a:lstStyle/>
                    <a:p>
                      <a:pPr algn="l"/>
                      <a:r>
                        <a:rPr sz="1000" b="0">
                          <a:solidFill>
                            <a:srgbClr val="222222"/>
                          </a:solidFill>
                        </a:rPr>
                        <a:t>idem</a:t>
                      </a:r>
                    </a:p>
                  </a:txBody>
                  <a:tcPr marL="54864" marR="54864" marT="18288" marB="18288" anchor="ctr">
                    <a:solidFill>
                      <a:srgbClr val="F4F6F9"/>
                    </a:solidFill>
                  </a:tcPr>
                </a:tc>
                <a:tc>
                  <a:txBody>
                    <a:bodyPr/>
                    <a:lstStyle/>
                    <a:p>
                      <a:pPr algn="l"/>
                      <a:r>
                        <a:rPr sz="1000" b="0">
                          <a:solidFill>
                            <a:srgbClr val="222222"/>
                          </a:solidFill>
                        </a:rPr>
                        <a:t>Qwen2.5 3B</a:t>
                      </a:r>
                    </a:p>
                  </a:txBody>
                  <a:tcPr marL="54864" marR="54864" marT="18288" marB="18288" anchor="ctr">
                    <a:solidFill>
                      <a:srgbClr val="F4F6F9"/>
                    </a:solidFill>
                  </a:tcPr>
                </a:tc>
                <a:tc>
                  <a:txBody>
                    <a:bodyPr/>
                    <a:lstStyle/>
                    <a:p>
                      <a:pPr algn="l"/>
                      <a:r>
                        <a:rPr sz="1000" b="0">
                          <a:solidFill>
                            <a:srgbClr val="222222"/>
                          </a:solidFill>
                        </a:rPr>
                        <a:t>43 min 38</a:t>
                      </a:r>
                    </a:p>
                  </a:txBody>
                  <a:tcPr marL="54864" marR="54864" marT="18288" marB="18288" anchor="ctr">
                    <a:solidFill>
                      <a:srgbClr val="F4F6F9"/>
                    </a:solidFill>
                  </a:tcPr>
                </a:tc>
                <a:tc>
                  <a:txBody>
                    <a:bodyPr/>
                    <a:lstStyle/>
                    <a:p>
                      <a:pPr algn="l"/>
                      <a:endParaRPr/>
                    </a:p>
                  </a:txBody>
                  <a:tcPr marL="54864" marR="54864" marT="18288" marB="18288" anchor="ctr">
                    <a:solidFill>
                      <a:srgbClr val="F4F6F9"/>
                    </a:solidFill>
                  </a:tcPr>
                </a:tc>
                <a:extLst>
                  <a:ext uri="{0D108BD9-81ED-4DB2-BD59-A6C34878D82A}">
                    <a16:rowId xmlns:a16="http://schemas.microsoft.com/office/drawing/2014/main" val="10002"/>
                  </a:ext>
                </a:extLst>
              </a:tr>
              <a:tr h="310896">
                <a:tc>
                  <a:txBody>
                    <a:bodyPr/>
                    <a:lstStyle/>
                    <a:p>
                      <a:pPr algn="l"/>
                      <a:r>
                        <a:rPr sz="1000" b="0">
                          <a:solidFill>
                            <a:srgbClr val="222222"/>
                          </a:solidFill>
                        </a:rPr>
                        <a:t>Multi-pass V1</a:t>
                      </a:r>
                    </a:p>
                  </a:txBody>
                  <a:tcPr marL="54864" marR="54864" marT="18288" marB="18288" anchor="ctr">
                    <a:solidFill>
                      <a:srgbClr val="FFFFFF"/>
                    </a:solidFill>
                  </a:tcPr>
                </a:tc>
                <a:tc>
                  <a:txBody>
                    <a:bodyPr/>
                    <a:lstStyle/>
                    <a:p>
                      <a:pPr algn="l"/>
                      <a:r>
                        <a:rPr sz="1000" b="0">
                          <a:solidFill>
                            <a:srgbClr val="222222"/>
                          </a:solidFill>
                        </a:rPr>
                        <a:t>idem</a:t>
                      </a:r>
                    </a:p>
                  </a:txBody>
                  <a:tcPr marL="54864" marR="54864" marT="18288" marB="18288" anchor="ctr">
                    <a:solidFill>
                      <a:srgbClr val="FFFFFF"/>
                    </a:solidFill>
                  </a:tcPr>
                </a:tc>
                <a:tc>
                  <a:txBody>
                    <a:bodyPr/>
                    <a:lstStyle/>
                    <a:p>
                      <a:pPr algn="l"/>
                      <a:r>
                        <a:rPr sz="1000" b="0">
                          <a:solidFill>
                            <a:srgbClr val="222222"/>
                          </a:solidFill>
                        </a:rPr>
                        <a:t>LFM2.5-1.2B</a:t>
                      </a:r>
                    </a:p>
                  </a:txBody>
                  <a:tcPr marL="54864" marR="54864" marT="18288" marB="18288" anchor="ctr">
                    <a:solidFill>
                      <a:srgbClr val="FFFFFF"/>
                    </a:solidFill>
                  </a:tcPr>
                </a:tc>
                <a:tc>
                  <a:txBody>
                    <a:bodyPr/>
                    <a:lstStyle/>
                    <a:p>
                      <a:pPr algn="l"/>
                      <a:r>
                        <a:rPr sz="1000" b="0">
                          <a:solidFill>
                            <a:srgbClr val="222222"/>
                          </a:solidFill>
                        </a:rPr>
                        <a:t>18 min 14</a:t>
                      </a:r>
                    </a:p>
                  </a:txBody>
                  <a:tcPr marL="54864" marR="54864" marT="18288" marB="18288" anchor="ctr">
                    <a:solidFill>
                      <a:srgbClr val="FFFFFF"/>
                    </a:solidFill>
                  </a:tcPr>
                </a:tc>
                <a:tc>
                  <a:txBody>
                    <a:bodyPr/>
                    <a:lstStyle/>
                    <a:p>
                      <a:pPr algn="l"/>
                      <a:r>
                        <a:rPr sz="1000" b="1">
                          <a:solidFill>
                            <a:srgbClr val="9E2B25"/>
                          </a:solidFill>
                        </a:rPr>
                        <a:t>rapport quasi vide</a:t>
                      </a:r>
                    </a:p>
                  </a:txBody>
                  <a:tcPr marL="54864" marR="54864" marT="18288" marB="18288" anchor="ctr">
                    <a:solidFill>
                      <a:srgbClr val="FFFFFF"/>
                    </a:solidFill>
                  </a:tcPr>
                </a:tc>
                <a:extLst>
                  <a:ext uri="{0D108BD9-81ED-4DB2-BD59-A6C34878D82A}">
                    <a16:rowId xmlns:a16="http://schemas.microsoft.com/office/drawing/2014/main" val="10003"/>
                  </a:ext>
                </a:extLst>
              </a:tr>
              <a:tr h="310896">
                <a:tc>
                  <a:txBody>
                    <a:bodyPr/>
                    <a:lstStyle/>
                    <a:p>
                      <a:pPr algn="l"/>
                      <a:r>
                        <a:rPr sz="1000" b="0" dirty="0">
                          <a:solidFill>
                            <a:srgbClr val="222222"/>
                          </a:solidFill>
                        </a:rPr>
                        <a:t>3-calls</a:t>
                      </a:r>
                    </a:p>
                  </a:txBody>
                  <a:tcPr marL="54864" marR="54864" marT="18288" marB="18288" anchor="ctr">
                    <a:solidFill>
                      <a:srgbClr val="F4F6F9"/>
                    </a:solidFill>
                  </a:tcPr>
                </a:tc>
                <a:tc>
                  <a:txBody>
                    <a:bodyPr/>
                    <a:lstStyle/>
                    <a:p>
                      <a:pPr algn="l"/>
                      <a:r>
                        <a:rPr sz="1000" b="0">
                          <a:solidFill>
                            <a:srgbClr val="222222"/>
                          </a:solidFill>
                        </a:rPr>
                        <a:t>0 chunking, 3 appels (ctx 32k)</a:t>
                      </a:r>
                    </a:p>
                  </a:txBody>
                  <a:tcPr marL="54864" marR="54864" marT="18288" marB="18288" anchor="ctr">
                    <a:solidFill>
                      <a:srgbClr val="F4F6F9"/>
                    </a:solidFill>
                  </a:tcPr>
                </a:tc>
                <a:tc>
                  <a:txBody>
                    <a:bodyPr/>
                    <a:lstStyle/>
                    <a:p>
                      <a:pPr algn="l"/>
                      <a:r>
                        <a:rPr sz="1000" b="0">
                          <a:solidFill>
                            <a:srgbClr val="222222"/>
                          </a:solidFill>
                        </a:rPr>
                        <a:t>LFM Extract+Transcript</a:t>
                      </a:r>
                    </a:p>
                  </a:txBody>
                  <a:tcPr marL="54864" marR="54864" marT="18288" marB="18288" anchor="ctr">
                    <a:solidFill>
                      <a:srgbClr val="F4F6F9"/>
                    </a:solidFill>
                  </a:tcPr>
                </a:tc>
                <a:tc>
                  <a:txBody>
                    <a:bodyPr/>
                    <a:lstStyle/>
                    <a:p>
                      <a:pPr algn="l"/>
                      <a:r>
                        <a:rPr sz="1000" b="0">
                          <a:solidFill>
                            <a:srgbClr val="222222"/>
                          </a:solidFill>
                        </a:rPr>
                        <a:t>6 min 10</a:t>
                      </a:r>
                    </a:p>
                  </a:txBody>
                  <a:tcPr marL="54864" marR="54864" marT="18288" marB="18288" anchor="ctr">
                    <a:solidFill>
                      <a:srgbClr val="F4F6F9"/>
                    </a:solidFill>
                  </a:tcPr>
                </a:tc>
                <a:tc>
                  <a:txBody>
                    <a:bodyPr/>
                    <a:lstStyle/>
                    <a:p>
                      <a:pPr algn="l"/>
                      <a:r>
                        <a:rPr sz="1000" b="0">
                          <a:solidFill>
                            <a:srgbClr val="222222"/>
                          </a:solidFill>
                        </a:rPr>
                        <a:t>le plus rapide</a:t>
                      </a:r>
                    </a:p>
                  </a:txBody>
                  <a:tcPr marL="54864" marR="54864" marT="18288" marB="18288" anchor="ctr">
                    <a:solidFill>
                      <a:srgbClr val="F4F6F9"/>
                    </a:solidFill>
                  </a:tcPr>
                </a:tc>
                <a:extLst>
                  <a:ext uri="{0D108BD9-81ED-4DB2-BD59-A6C34878D82A}">
                    <a16:rowId xmlns:a16="http://schemas.microsoft.com/office/drawing/2014/main" val="10004"/>
                  </a:ext>
                </a:extLst>
              </a:tr>
              <a:tr h="310896">
                <a:tc>
                  <a:txBody>
                    <a:bodyPr/>
                    <a:lstStyle/>
                    <a:p>
                      <a:pPr algn="l"/>
                      <a:r>
                        <a:rPr sz="1000" b="0">
                          <a:solidFill>
                            <a:srgbClr val="222222"/>
                          </a:solidFill>
                        </a:rPr>
                        <a:t>one-shot</a:t>
                      </a:r>
                    </a:p>
                  </a:txBody>
                  <a:tcPr marL="54864" marR="54864" marT="18288" marB="18288" anchor="ctr">
                    <a:solidFill>
                      <a:srgbClr val="FFFFFF"/>
                    </a:solidFill>
                  </a:tcPr>
                </a:tc>
                <a:tc>
                  <a:txBody>
                    <a:bodyPr/>
                    <a:lstStyle/>
                    <a:p>
                      <a:pPr algn="l"/>
                      <a:r>
                        <a:rPr sz="1000" b="0">
                          <a:solidFill>
                            <a:srgbClr val="222222"/>
                          </a:solidFill>
                        </a:rPr>
                        <a:t>tout en 1 appel</a:t>
                      </a:r>
                    </a:p>
                  </a:txBody>
                  <a:tcPr marL="54864" marR="54864" marT="18288" marB="18288" anchor="ctr">
                    <a:solidFill>
                      <a:srgbClr val="FFFFFF"/>
                    </a:solidFill>
                  </a:tcPr>
                </a:tc>
                <a:tc>
                  <a:txBody>
                    <a:bodyPr/>
                    <a:lstStyle/>
                    <a:p>
                      <a:pPr algn="l"/>
                      <a:r>
                        <a:rPr sz="1000" b="0">
                          <a:solidFill>
                            <a:srgbClr val="222222"/>
                          </a:solidFill>
                        </a:rPr>
                        <a:t>LFM2-2.6B</a:t>
                      </a:r>
                    </a:p>
                  </a:txBody>
                  <a:tcPr marL="54864" marR="54864" marT="18288" marB="18288" anchor="ctr">
                    <a:solidFill>
                      <a:srgbClr val="FFFFFF"/>
                    </a:solidFill>
                  </a:tcPr>
                </a:tc>
                <a:tc>
                  <a:txBody>
                    <a:bodyPr/>
                    <a:lstStyle/>
                    <a:p>
                      <a:pPr algn="l"/>
                      <a:r>
                        <a:rPr sz="1000" b="0">
                          <a:solidFill>
                            <a:srgbClr val="222222"/>
                          </a:solidFill>
                        </a:rPr>
                        <a:t>29 min 09</a:t>
                      </a:r>
                    </a:p>
                  </a:txBody>
                  <a:tcPr marL="54864" marR="54864" marT="18288" marB="18288" anchor="ctr">
                    <a:solidFill>
                      <a:srgbClr val="FFFFFF"/>
                    </a:solidFill>
                  </a:tcPr>
                </a:tc>
                <a:tc>
                  <a:txBody>
                    <a:bodyPr/>
                    <a:lstStyle/>
                    <a:p>
                      <a:pPr algn="l"/>
                      <a:endParaRPr/>
                    </a:p>
                  </a:txBody>
                  <a:tcPr marL="54864" marR="54864" marT="18288" marB="18288" anchor="ctr">
                    <a:solidFill>
                      <a:srgbClr val="FFFFFF"/>
                    </a:solidFill>
                  </a:tcPr>
                </a:tc>
                <a:extLst>
                  <a:ext uri="{0D108BD9-81ED-4DB2-BD59-A6C34878D82A}">
                    <a16:rowId xmlns:a16="http://schemas.microsoft.com/office/drawing/2014/main" val="10005"/>
                  </a:ext>
                </a:extLst>
              </a:tr>
              <a:tr h="310896">
                <a:tc>
                  <a:txBody>
                    <a:bodyPr/>
                    <a:lstStyle/>
                    <a:p>
                      <a:pPr algn="l"/>
                      <a:r>
                        <a:rPr sz="1000" b="0">
                          <a:solidFill>
                            <a:srgbClr val="222222"/>
                          </a:solidFill>
                        </a:rPr>
                        <a:t>one-shot</a:t>
                      </a:r>
                    </a:p>
                  </a:txBody>
                  <a:tcPr marL="54864" marR="54864" marT="18288" marB="18288" anchor="ctr">
                    <a:solidFill>
                      <a:srgbClr val="F4F6F9"/>
                    </a:solidFill>
                  </a:tcPr>
                </a:tc>
                <a:tc>
                  <a:txBody>
                    <a:bodyPr/>
                    <a:lstStyle/>
                    <a:p>
                      <a:pPr algn="l"/>
                      <a:r>
                        <a:rPr sz="1000" b="0">
                          <a:solidFill>
                            <a:srgbClr val="222222"/>
                          </a:solidFill>
                        </a:rPr>
                        <a:t>tout en 1 appel</a:t>
                      </a:r>
                    </a:p>
                  </a:txBody>
                  <a:tcPr marL="54864" marR="54864" marT="18288" marB="18288" anchor="ctr">
                    <a:solidFill>
                      <a:srgbClr val="F4F6F9"/>
                    </a:solidFill>
                  </a:tcPr>
                </a:tc>
                <a:tc>
                  <a:txBody>
                    <a:bodyPr/>
                    <a:lstStyle/>
                    <a:p>
                      <a:pPr algn="l"/>
                      <a:r>
                        <a:rPr sz="1000" b="0">
                          <a:solidFill>
                            <a:srgbClr val="222222"/>
                          </a:solidFill>
                        </a:rPr>
                        <a:t>LFM2.5-1.2B</a:t>
                      </a:r>
                    </a:p>
                  </a:txBody>
                  <a:tcPr marL="54864" marR="54864" marT="18288" marB="18288" anchor="ctr">
                    <a:solidFill>
                      <a:srgbClr val="F4F6F9"/>
                    </a:solidFill>
                  </a:tcPr>
                </a:tc>
                <a:tc>
                  <a:txBody>
                    <a:bodyPr/>
                    <a:lstStyle/>
                    <a:p>
                      <a:pPr algn="l"/>
                      <a:r>
                        <a:rPr sz="1000" b="0">
                          <a:solidFill>
                            <a:srgbClr val="222222"/>
                          </a:solidFill>
                        </a:rPr>
                        <a:t>4 min 17</a:t>
                      </a:r>
                    </a:p>
                  </a:txBody>
                  <a:tcPr marL="54864" marR="54864" marT="18288" marB="18288" anchor="ctr">
                    <a:solidFill>
                      <a:srgbClr val="F4F6F9"/>
                    </a:solidFill>
                  </a:tcPr>
                </a:tc>
                <a:tc>
                  <a:txBody>
                    <a:bodyPr/>
                    <a:lstStyle/>
                    <a:p>
                      <a:pPr algn="l"/>
                      <a:r>
                        <a:rPr sz="1000" b="0" dirty="0">
                          <a:solidFill>
                            <a:srgbClr val="222222"/>
                          </a:solidFill>
                        </a:rPr>
                        <a:t>1 509 car. (court)</a:t>
                      </a:r>
                    </a:p>
                  </a:txBody>
                  <a:tcPr marL="54864" marR="54864" marT="18288" marB="18288" anchor="ctr">
                    <a:solidFill>
                      <a:srgbClr val="F4F6F9"/>
                    </a:solidFill>
                  </a:tcPr>
                </a:tc>
                <a:extLst>
                  <a:ext uri="{0D108BD9-81ED-4DB2-BD59-A6C34878D82A}">
                    <a16:rowId xmlns:a16="http://schemas.microsoft.com/office/drawing/2014/main" val="10006"/>
                  </a:ext>
                </a:extLst>
              </a:tr>
            </a:tbl>
          </a:graphicData>
        </a:graphic>
      </p:graphicFrame>
      <p:sp>
        <p:nvSpPr>
          <p:cNvPr id="4" name="Rectangle 3"/>
          <p:cNvSpPr/>
          <p:nvPr/>
        </p:nvSpPr>
        <p:spPr>
          <a:xfrm>
            <a:off x="457200" y="4846320"/>
            <a:ext cx="11274552" cy="1097280"/>
          </a:xfrm>
          <a:prstGeom prst="rect">
            <a:avLst/>
          </a:prstGeom>
          <a:solidFill>
            <a:srgbClr val="EEF2F6"/>
          </a:solidFill>
          <a:ln w="9525">
            <a:solidFill>
              <a:srgbClr val="1F3A5F"/>
            </a:solidFill>
          </a:ln>
          <a:effectLst/>
        </p:spPr>
        <p:style>
          <a:lnRef idx="1">
            <a:schemeClr val="accent1"/>
          </a:lnRef>
          <a:fillRef idx="3">
            <a:schemeClr val="accent1"/>
          </a:fillRef>
          <a:effectRef idx="2">
            <a:schemeClr val="accent1"/>
          </a:effectRef>
          <a:fontRef idx="minor">
            <a:schemeClr val="lt1"/>
          </a:fontRef>
        </p:style>
        <p:txBody>
          <a:bodyPr wrap="square" lIns="137160" tIns="73152" rIns="137160" bIns="73152" rtlCol="0" anchor="ctr"/>
          <a:lstStyle/>
          <a:p>
            <a:pPr algn="ctr"/>
            <a:r>
              <a:rPr sz="1200" b="1">
                <a:solidFill>
                  <a:srgbClr val="1F3A5F"/>
                </a:solidFill>
              </a:rPr>
              <a:t>Verdict  </a:t>
            </a:r>
            <a:r>
              <a:rPr sz="1200">
                <a:solidFill>
                  <a:srgbClr val="222222"/>
                </a:solidFill>
              </a:rPr>
              <a:t>Les approches sans découpage sont spectaculairement rapides mais produisent des CR trop courts ou incomplets sur 1 h. Le découpage par frontières reste le meilleur compromis exhaustivité / fiabilité.</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lIns="914400" rtlCol="0" anchor="ctr"/>
          <a:lstStyle/>
          <a:p>
            <a:pPr algn="ctr"/>
            <a:r>
              <a:rPr sz="2800" b="1" dirty="0">
                <a:solidFill>
                  <a:srgbClr val="9DC3E6"/>
                </a:solidFill>
              </a:rPr>
              <a:t>Partie 2</a:t>
            </a:r>
          </a:p>
          <a:p>
            <a:r>
              <a:rPr sz="4000" b="1" dirty="0">
                <a:solidFill>
                  <a:srgbClr val="FFFFFF"/>
                </a:solidFill>
                <a:latin typeface="Georgia"/>
              </a:rPr>
              <a:t>Les architectures</a:t>
            </a:r>
          </a:p>
          <a:p>
            <a:pPr>
              <a:spcBef>
                <a:spcPts val="1000"/>
              </a:spcBef>
            </a:pPr>
            <a:r>
              <a:rPr sz="1600" dirty="0">
                <a:solidFill>
                  <a:srgbClr val="D6E4F0"/>
                </a:solidFill>
              </a:rPr>
              <a:t>Extraction (assemblage </a:t>
            </a:r>
            <a:r>
              <a:rPr sz="1600" dirty="0" err="1">
                <a:solidFill>
                  <a:srgbClr val="D6E4F0"/>
                </a:solidFill>
              </a:rPr>
              <a:t>déterministe</a:t>
            </a:r>
            <a:r>
              <a:rPr sz="1600" dirty="0">
                <a:solidFill>
                  <a:srgbClr val="D6E4F0"/>
                </a:solidFill>
              </a:rPr>
              <a:t>) </a:t>
            </a:r>
            <a:r>
              <a:rPr sz="1600" dirty="0" err="1">
                <a:solidFill>
                  <a:srgbClr val="D6E4F0"/>
                </a:solidFill>
              </a:rPr>
              <a:t>puis</a:t>
            </a:r>
            <a:r>
              <a:rPr sz="1600" dirty="0">
                <a:solidFill>
                  <a:srgbClr val="D6E4F0"/>
                </a:solidFill>
              </a:rPr>
              <a:t> </a:t>
            </a:r>
            <a:r>
              <a:rPr sz="1600" dirty="0" err="1">
                <a:solidFill>
                  <a:srgbClr val="D6E4F0"/>
                </a:solidFill>
              </a:rPr>
              <a:t>refonte</a:t>
            </a:r>
            <a:r>
              <a:rPr sz="1600" dirty="0">
                <a:solidFill>
                  <a:srgbClr val="D6E4F0"/>
                </a:solidFill>
              </a:rPr>
              <a:t> </a:t>
            </a:r>
            <a:r>
              <a:rPr sz="1600" dirty="0" err="1">
                <a:solidFill>
                  <a:srgbClr val="D6E4F0"/>
                </a:solidFill>
              </a:rPr>
              <a:t>agentique</a:t>
            </a:r>
            <a:endParaRPr sz="1600" dirty="0">
              <a:solidFill>
                <a:srgbClr val="D6E4F0"/>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6868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wrap="square" lIns="365760" rtlCol="0" anchor="ctr"/>
          <a:lstStyle/>
          <a:p>
            <a:pPr algn="ctr"/>
            <a:r>
              <a:rPr sz="2200" b="1">
                <a:solidFill>
                  <a:srgbClr val="FFFFFF"/>
                </a:solidFill>
                <a:latin typeface="Georgia"/>
              </a:rPr>
              <a:t>2.A  Architecture extraction + assemblage déterministe</a:t>
            </a:r>
          </a:p>
        </p:txBody>
      </p:sp>
      <p:sp>
        <p:nvSpPr>
          <p:cNvPr id="3" name="TextBox 2"/>
          <p:cNvSpPr txBox="1"/>
          <p:nvPr/>
        </p:nvSpPr>
        <p:spPr>
          <a:xfrm>
            <a:off x="457200" y="1005840"/>
            <a:ext cx="11274552" cy="548640"/>
          </a:xfrm>
          <a:prstGeom prst="rect">
            <a:avLst/>
          </a:prstGeom>
          <a:noFill/>
        </p:spPr>
        <p:txBody>
          <a:bodyPr wrap="square">
            <a:spAutoFit/>
          </a:bodyPr>
          <a:lstStyle/>
          <a:p>
            <a:r>
              <a:rPr sz="1300" b="0" i="0">
                <a:solidFill>
                  <a:srgbClr val="222222"/>
                </a:solidFill>
              </a:rPr>
              <a:t>Par chunk : résumé JSON + extraction JSON (few-shot négatifs), puis assemblage 100 % Python. Mesuré sur dicte_audio_3 (266 seg, 11 chunks).</a:t>
            </a:r>
          </a:p>
        </p:txBody>
      </p:sp>
      <p:graphicFrame>
        <p:nvGraphicFramePr>
          <p:cNvPr id="4" name="Table 3"/>
          <p:cNvGraphicFramePr>
            <a:graphicFrameLocks noGrp="1"/>
          </p:cNvGraphicFramePr>
          <p:nvPr/>
        </p:nvGraphicFramePr>
        <p:xfrm>
          <a:off x="457200" y="1691640"/>
          <a:ext cx="10058397" cy="1243584"/>
        </p:xfrm>
        <a:graphic>
          <a:graphicData uri="http://schemas.openxmlformats.org/drawingml/2006/table">
            <a:tbl>
              <a:tblPr>
                <a:tableStyleId>{2D5ABB26-0587-4C30-8999-92F81FD0307C}</a:tableStyleId>
              </a:tblPr>
              <a:tblGrid>
                <a:gridCol w="1938968">
                  <a:extLst>
                    <a:ext uri="{9D8B030D-6E8A-4147-A177-3AD203B41FA5}">
                      <a16:colId xmlns:a16="http://schemas.microsoft.com/office/drawing/2014/main" val="20000"/>
                    </a:ext>
                  </a:extLst>
                </a:gridCol>
                <a:gridCol w="1938968">
                  <a:extLst>
                    <a:ext uri="{9D8B030D-6E8A-4147-A177-3AD203B41FA5}">
                      <a16:colId xmlns:a16="http://schemas.microsoft.com/office/drawing/2014/main" val="20001"/>
                    </a:ext>
                  </a:extLst>
                </a:gridCol>
                <a:gridCol w="1696597">
                  <a:extLst>
                    <a:ext uri="{9D8B030D-6E8A-4147-A177-3AD203B41FA5}">
                      <a16:colId xmlns:a16="http://schemas.microsoft.com/office/drawing/2014/main" val="20002"/>
                    </a:ext>
                  </a:extLst>
                </a:gridCol>
                <a:gridCol w="1575412">
                  <a:extLst>
                    <a:ext uri="{9D8B030D-6E8A-4147-A177-3AD203B41FA5}">
                      <a16:colId xmlns:a16="http://schemas.microsoft.com/office/drawing/2014/main" val="20003"/>
                    </a:ext>
                  </a:extLst>
                </a:gridCol>
                <a:gridCol w="1454226">
                  <a:extLst>
                    <a:ext uri="{9D8B030D-6E8A-4147-A177-3AD203B41FA5}">
                      <a16:colId xmlns:a16="http://schemas.microsoft.com/office/drawing/2014/main" val="20004"/>
                    </a:ext>
                  </a:extLst>
                </a:gridCol>
                <a:gridCol w="1454226">
                  <a:extLst>
                    <a:ext uri="{9D8B030D-6E8A-4147-A177-3AD203B41FA5}">
                      <a16:colId xmlns:a16="http://schemas.microsoft.com/office/drawing/2014/main" val="20005"/>
                    </a:ext>
                  </a:extLst>
                </a:gridCol>
              </a:tblGrid>
              <a:tr h="310896">
                <a:tc>
                  <a:txBody>
                    <a:bodyPr/>
                    <a:lstStyle/>
                    <a:p>
                      <a:pPr algn="l"/>
                      <a:r>
                        <a:rPr sz="1050" b="1">
                          <a:solidFill>
                            <a:srgbClr val="FFFFFF"/>
                          </a:solidFill>
                        </a:rPr>
                        <a:t>Run</a:t>
                      </a:r>
                    </a:p>
                  </a:txBody>
                  <a:tcPr marL="54864" marR="54864" marT="18288" marB="18288" anchor="ctr">
                    <a:solidFill>
                      <a:srgbClr val="1F3A5F"/>
                    </a:solidFill>
                  </a:tcPr>
                </a:tc>
                <a:tc>
                  <a:txBody>
                    <a:bodyPr/>
                    <a:lstStyle/>
                    <a:p>
                      <a:pPr algn="l"/>
                      <a:r>
                        <a:rPr sz="1050" b="1">
                          <a:solidFill>
                            <a:srgbClr val="FFFFFF"/>
                          </a:solidFill>
                        </a:rPr>
                        <a:t>Modèle</a:t>
                      </a:r>
                    </a:p>
                  </a:txBody>
                  <a:tcPr marL="54864" marR="54864" marT="18288" marB="18288" anchor="ctr">
                    <a:solidFill>
                      <a:srgbClr val="1F3A5F"/>
                    </a:solidFill>
                  </a:tcPr>
                </a:tc>
                <a:tc>
                  <a:txBody>
                    <a:bodyPr/>
                    <a:lstStyle/>
                    <a:p>
                      <a:pPr algn="l"/>
                      <a:r>
                        <a:rPr sz="1050" b="1">
                          <a:solidFill>
                            <a:srgbClr val="FFFFFF"/>
                          </a:solidFill>
                        </a:rPr>
                        <a:t>Durée</a:t>
                      </a:r>
                    </a:p>
                  </a:txBody>
                  <a:tcPr marL="54864" marR="54864" marT="18288" marB="18288" anchor="ctr">
                    <a:solidFill>
                      <a:srgbClr val="1F3A5F"/>
                    </a:solidFill>
                  </a:tcPr>
                </a:tc>
                <a:tc>
                  <a:txBody>
                    <a:bodyPr/>
                    <a:lstStyle/>
                    <a:p>
                      <a:pPr algn="l"/>
                      <a:r>
                        <a:rPr sz="1050" b="1">
                          <a:solidFill>
                            <a:srgbClr val="FFFFFF"/>
                          </a:solidFill>
                        </a:rPr>
                        <a:t>RAM pic</a:t>
                      </a:r>
                    </a:p>
                  </a:txBody>
                  <a:tcPr marL="54864" marR="54864" marT="18288" marB="18288" anchor="ctr">
                    <a:solidFill>
                      <a:srgbClr val="1F3A5F"/>
                    </a:solidFill>
                  </a:tcPr>
                </a:tc>
                <a:tc>
                  <a:txBody>
                    <a:bodyPr/>
                    <a:lstStyle/>
                    <a:p>
                      <a:pPr algn="l"/>
                      <a:r>
                        <a:rPr sz="1050" b="1">
                          <a:solidFill>
                            <a:srgbClr val="FFFFFF"/>
                          </a:solidFill>
                        </a:rPr>
                        <a:t>Décisions</a:t>
                      </a:r>
                    </a:p>
                  </a:txBody>
                  <a:tcPr marL="54864" marR="54864" marT="18288" marB="18288" anchor="ctr">
                    <a:solidFill>
                      <a:srgbClr val="1F3A5F"/>
                    </a:solidFill>
                  </a:tcPr>
                </a:tc>
                <a:tc>
                  <a:txBody>
                    <a:bodyPr/>
                    <a:lstStyle/>
                    <a:p>
                      <a:pPr algn="l"/>
                      <a:r>
                        <a:rPr sz="1050" b="1">
                          <a:solidFill>
                            <a:srgbClr val="FFFFFF"/>
                          </a:solidFill>
                        </a:rPr>
                        <a:t>Actions</a:t>
                      </a:r>
                    </a:p>
                  </a:txBody>
                  <a:tcPr marL="54864" marR="54864" marT="18288" marB="18288" anchor="ctr">
                    <a:solidFill>
                      <a:srgbClr val="1F3A5F"/>
                    </a:solidFill>
                  </a:tcPr>
                </a:tc>
                <a:extLst>
                  <a:ext uri="{0D108BD9-81ED-4DB2-BD59-A6C34878D82A}">
                    <a16:rowId xmlns:a16="http://schemas.microsoft.com/office/drawing/2014/main" val="10000"/>
                  </a:ext>
                </a:extLst>
              </a:tr>
              <a:tr h="310896">
                <a:tc>
                  <a:txBody>
                    <a:bodyPr/>
                    <a:lstStyle/>
                    <a:p>
                      <a:pPr algn="l"/>
                      <a:r>
                        <a:rPr sz="1050" b="0">
                          <a:solidFill>
                            <a:srgbClr val="222222"/>
                          </a:solidFill>
                        </a:rPr>
                        <a:t>boundary (V3)</a:t>
                      </a:r>
                    </a:p>
                  </a:txBody>
                  <a:tcPr marL="54864" marR="54864" marT="18288" marB="18288" anchor="ctr">
                    <a:solidFill>
                      <a:srgbClr val="FFFFFF"/>
                    </a:solidFill>
                  </a:tcPr>
                </a:tc>
                <a:tc>
                  <a:txBody>
                    <a:bodyPr/>
                    <a:lstStyle/>
                    <a:p>
                      <a:pPr algn="l"/>
                      <a:r>
                        <a:rPr sz="1050" b="0">
                          <a:solidFill>
                            <a:srgbClr val="222222"/>
                          </a:solidFill>
                        </a:rPr>
                        <a:t>Ministral 3B</a:t>
                      </a:r>
                    </a:p>
                  </a:txBody>
                  <a:tcPr marL="54864" marR="54864" marT="18288" marB="18288" anchor="ctr">
                    <a:solidFill>
                      <a:srgbClr val="FFFFFF"/>
                    </a:solidFill>
                  </a:tcPr>
                </a:tc>
                <a:tc>
                  <a:txBody>
                    <a:bodyPr/>
                    <a:lstStyle/>
                    <a:p>
                      <a:pPr algn="l"/>
                      <a:r>
                        <a:rPr sz="1050" b="0">
                          <a:solidFill>
                            <a:srgbClr val="222222"/>
                          </a:solidFill>
                        </a:rPr>
                        <a:t>29 min 15</a:t>
                      </a:r>
                    </a:p>
                  </a:txBody>
                  <a:tcPr marL="54864" marR="54864" marT="18288" marB="18288" anchor="ctr">
                    <a:solidFill>
                      <a:srgbClr val="FFFFFF"/>
                    </a:solidFill>
                  </a:tcPr>
                </a:tc>
                <a:tc>
                  <a:txBody>
                    <a:bodyPr/>
                    <a:lstStyle/>
                    <a:p>
                      <a:pPr algn="l"/>
                      <a:r>
                        <a:rPr sz="1050" b="0">
                          <a:solidFill>
                            <a:srgbClr val="222222"/>
                          </a:solidFill>
                        </a:rPr>
                        <a:t>2 945 Mo</a:t>
                      </a:r>
                    </a:p>
                  </a:txBody>
                  <a:tcPr marL="54864" marR="54864" marT="18288" marB="18288" anchor="ctr">
                    <a:solidFill>
                      <a:srgbClr val="FFFFFF"/>
                    </a:solidFill>
                  </a:tcPr>
                </a:tc>
                <a:tc>
                  <a:txBody>
                    <a:bodyPr/>
                    <a:lstStyle/>
                    <a:p>
                      <a:pPr algn="l"/>
                      <a:r>
                        <a:rPr sz="1050" b="0">
                          <a:solidFill>
                            <a:srgbClr val="222222"/>
                          </a:solidFill>
                        </a:rPr>
                        <a:t>n.c.</a:t>
                      </a:r>
                    </a:p>
                  </a:txBody>
                  <a:tcPr marL="54864" marR="54864" marT="18288" marB="18288" anchor="ctr">
                    <a:solidFill>
                      <a:srgbClr val="FFFFFF"/>
                    </a:solidFill>
                  </a:tcPr>
                </a:tc>
                <a:tc>
                  <a:txBody>
                    <a:bodyPr/>
                    <a:lstStyle/>
                    <a:p>
                      <a:pPr algn="l"/>
                      <a:r>
                        <a:rPr sz="1050" b="0">
                          <a:solidFill>
                            <a:srgbClr val="222222"/>
                          </a:solidFill>
                        </a:rPr>
                        <a:t>n.c.</a:t>
                      </a:r>
                    </a:p>
                  </a:txBody>
                  <a:tcPr marL="54864" marR="54864" marT="18288" marB="18288" anchor="ctr">
                    <a:solidFill>
                      <a:srgbClr val="FFFFFF"/>
                    </a:solidFill>
                  </a:tcPr>
                </a:tc>
                <a:extLst>
                  <a:ext uri="{0D108BD9-81ED-4DB2-BD59-A6C34878D82A}">
                    <a16:rowId xmlns:a16="http://schemas.microsoft.com/office/drawing/2014/main" val="10001"/>
                  </a:ext>
                </a:extLst>
              </a:tr>
              <a:tr h="310896">
                <a:tc>
                  <a:txBody>
                    <a:bodyPr/>
                    <a:lstStyle/>
                    <a:p>
                      <a:pPr algn="l"/>
                      <a:r>
                        <a:rPr sz="1050" b="0">
                          <a:solidFill>
                            <a:srgbClr val="222222"/>
                          </a:solidFill>
                        </a:rPr>
                        <a:t>extraction (V4)</a:t>
                      </a:r>
                    </a:p>
                  </a:txBody>
                  <a:tcPr marL="54864" marR="54864" marT="18288" marB="18288" anchor="ctr">
                    <a:solidFill>
                      <a:srgbClr val="F4F6F9"/>
                    </a:solidFill>
                  </a:tcPr>
                </a:tc>
                <a:tc>
                  <a:txBody>
                    <a:bodyPr/>
                    <a:lstStyle/>
                    <a:p>
                      <a:pPr algn="l"/>
                      <a:r>
                        <a:rPr sz="1050" b="0" dirty="0" err="1">
                          <a:solidFill>
                            <a:srgbClr val="222222"/>
                          </a:solidFill>
                        </a:rPr>
                        <a:t>Ministral</a:t>
                      </a:r>
                      <a:r>
                        <a:rPr sz="1050" b="0" dirty="0">
                          <a:solidFill>
                            <a:srgbClr val="222222"/>
                          </a:solidFill>
                        </a:rPr>
                        <a:t> 3B</a:t>
                      </a:r>
                    </a:p>
                  </a:txBody>
                  <a:tcPr marL="54864" marR="54864" marT="18288" marB="18288" anchor="ctr">
                    <a:solidFill>
                      <a:srgbClr val="F4F6F9"/>
                    </a:solidFill>
                  </a:tcPr>
                </a:tc>
                <a:tc>
                  <a:txBody>
                    <a:bodyPr/>
                    <a:lstStyle/>
                    <a:p>
                      <a:pPr algn="l"/>
                      <a:r>
                        <a:rPr sz="1050" b="1">
                          <a:solidFill>
                            <a:srgbClr val="9E2B25"/>
                          </a:solidFill>
                        </a:rPr>
                        <a:t>51 min 52</a:t>
                      </a:r>
                    </a:p>
                  </a:txBody>
                  <a:tcPr marL="54864" marR="54864" marT="18288" marB="18288" anchor="ctr">
                    <a:solidFill>
                      <a:srgbClr val="F4F6F9"/>
                    </a:solidFill>
                  </a:tcPr>
                </a:tc>
                <a:tc>
                  <a:txBody>
                    <a:bodyPr/>
                    <a:lstStyle/>
                    <a:p>
                      <a:pPr algn="l"/>
                      <a:r>
                        <a:rPr sz="1050" b="0">
                          <a:solidFill>
                            <a:srgbClr val="222222"/>
                          </a:solidFill>
                        </a:rPr>
                        <a:t>5 825 Mo</a:t>
                      </a:r>
                    </a:p>
                  </a:txBody>
                  <a:tcPr marL="54864" marR="54864" marT="18288" marB="18288" anchor="ctr">
                    <a:solidFill>
                      <a:srgbClr val="F4F6F9"/>
                    </a:solidFill>
                  </a:tcPr>
                </a:tc>
                <a:tc>
                  <a:txBody>
                    <a:bodyPr/>
                    <a:lstStyle/>
                    <a:p>
                      <a:pPr algn="l"/>
                      <a:r>
                        <a:rPr sz="1050" b="0">
                          <a:solidFill>
                            <a:srgbClr val="222222"/>
                          </a:solidFill>
                        </a:rPr>
                        <a:t>0</a:t>
                      </a:r>
                    </a:p>
                  </a:txBody>
                  <a:tcPr marL="54864" marR="54864" marT="18288" marB="18288" anchor="ctr">
                    <a:solidFill>
                      <a:srgbClr val="F4F6F9"/>
                    </a:solidFill>
                  </a:tcPr>
                </a:tc>
                <a:tc>
                  <a:txBody>
                    <a:bodyPr/>
                    <a:lstStyle/>
                    <a:p>
                      <a:pPr algn="l"/>
                      <a:r>
                        <a:rPr sz="1050" b="0">
                          <a:solidFill>
                            <a:srgbClr val="222222"/>
                          </a:solidFill>
                        </a:rPr>
                        <a:t>0</a:t>
                      </a:r>
                    </a:p>
                  </a:txBody>
                  <a:tcPr marL="54864" marR="54864" marT="18288" marB="18288" anchor="ctr">
                    <a:solidFill>
                      <a:srgbClr val="F4F6F9"/>
                    </a:solidFill>
                  </a:tcPr>
                </a:tc>
                <a:extLst>
                  <a:ext uri="{0D108BD9-81ED-4DB2-BD59-A6C34878D82A}">
                    <a16:rowId xmlns:a16="http://schemas.microsoft.com/office/drawing/2014/main" val="10002"/>
                  </a:ext>
                </a:extLst>
              </a:tr>
              <a:tr h="310896">
                <a:tc>
                  <a:txBody>
                    <a:bodyPr/>
                    <a:lstStyle/>
                    <a:p>
                      <a:pPr algn="l"/>
                      <a:r>
                        <a:rPr sz="1050" b="0">
                          <a:solidFill>
                            <a:srgbClr val="222222"/>
                          </a:solidFill>
                        </a:rPr>
                        <a:t>extraction (V4)</a:t>
                      </a:r>
                    </a:p>
                  </a:txBody>
                  <a:tcPr marL="54864" marR="54864" marT="18288" marB="18288" anchor="ctr">
                    <a:solidFill>
                      <a:srgbClr val="FFFFFF"/>
                    </a:solidFill>
                  </a:tcPr>
                </a:tc>
                <a:tc>
                  <a:txBody>
                    <a:bodyPr/>
                    <a:lstStyle/>
                    <a:p>
                      <a:pPr algn="l"/>
                      <a:r>
                        <a:rPr sz="1050" b="0">
                          <a:solidFill>
                            <a:srgbClr val="222222"/>
                          </a:solidFill>
                        </a:rPr>
                        <a:t>Qwen2.5 3B</a:t>
                      </a:r>
                    </a:p>
                  </a:txBody>
                  <a:tcPr marL="54864" marR="54864" marT="18288" marB="18288" anchor="ctr">
                    <a:solidFill>
                      <a:srgbClr val="FFFFFF"/>
                    </a:solidFill>
                  </a:tcPr>
                </a:tc>
                <a:tc>
                  <a:txBody>
                    <a:bodyPr/>
                    <a:lstStyle/>
                    <a:p>
                      <a:pPr algn="l"/>
                      <a:r>
                        <a:rPr sz="1050" b="1">
                          <a:solidFill>
                            <a:srgbClr val="2E6B3F"/>
                          </a:solidFill>
                        </a:rPr>
                        <a:t>16 min 10</a:t>
                      </a:r>
                    </a:p>
                  </a:txBody>
                  <a:tcPr marL="54864" marR="54864" marT="18288" marB="18288" anchor="ctr">
                    <a:solidFill>
                      <a:srgbClr val="FFFFFF"/>
                    </a:solidFill>
                  </a:tcPr>
                </a:tc>
                <a:tc>
                  <a:txBody>
                    <a:bodyPr/>
                    <a:lstStyle/>
                    <a:p>
                      <a:pPr algn="l"/>
                      <a:r>
                        <a:rPr sz="1050" b="0">
                          <a:solidFill>
                            <a:srgbClr val="222222"/>
                          </a:solidFill>
                        </a:rPr>
                        <a:t>4 165 Mo</a:t>
                      </a:r>
                    </a:p>
                  </a:txBody>
                  <a:tcPr marL="54864" marR="54864" marT="18288" marB="18288" anchor="ctr">
                    <a:solidFill>
                      <a:srgbClr val="FFFFFF"/>
                    </a:solidFill>
                  </a:tcPr>
                </a:tc>
                <a:tc>
                  <a:txBody>
                    <a:bodyPr/>
                    <a:lstStyle/>
                    <a:p>
                      <a:pPr algn="l"/>
                      <a:r>
                        <a:rPr sz="1050" b="0">
                          <a:solidFill>
                            <a:srgbClr val="222222"/>
                          </a:solidFill>
                        </a:rPr>
                        <a:t>5</a:t>
                      </a:r>
                    </a:p>
                  </a:txBody>
                  <a:tcPr marL="54864" marR="54864" marT="18288" marB="18288" anchor="ctr">
                    <a:solidFill>
                      <a:srgbClr val="FFFFFF"/>
                    </a:solidFill>
                  </a:tcPr>
                </a:tc>
                <a:tc>
                  <a:txBody>
                    <a:bodyPr/>
                    <a:lstStyle/>
                    <a:p>
                      <a:pPr algn="l"/>
                      <a:r>
                        <a:rPr sz="1050" b="0" dirty="0">
                          <a:solidFill>
                            <a:srgbClr val="222222"/>
                          </a:solidFill>
                        </a:rPr>
                        <a:t>9</a:t>
                      </a:r>
                    </a:p>
                  </a:txBody>
                  <a:tcPr marL="54864" marR="54864" marT="18288" marB="18288" anchor="ctr">
                    <a:solidFill>
                      <a:srgbClr val="FFFFFF"/>
                    </a:solidFill>
                  </a:tcPr>
                </a:tc>
                <a:extLst>
                  <a:ext uri="{0D108BD9-81ED-4DB2-BD59-A6C34878D82A}">
                    <a16:rowId xmlns:a16="http://schemas.microsoft.com/office/drawing/2014/main" val="10003"/>
                  </a:ext>
                </a:extLst>
              </a:tr>
            </a:tbl>
          </a:graphicData>
        </a:graphic>
      </p:graphicFrame>
      <p:sp>
        <p:nvSpPr>
          <p:cNvPr id="5" name="Rectangle 4"/>
          <p:cNvSpPr/>
          <p:nvPr/>
        </p:nvSpPr>
        <p:spPr>
          <a:xfrm>
            <a:off x="457200" y="3383280"/>
            <a:ext cx="11274552" cy="731520"/>
          </a:xfrm>
          <a:prstGeom prst="rect">
            <a:avLst/>
          </a:prstGeom>
          <a:solidFill>
            <a:srgbClr val="EAF1EC"/>
          </a:solidFill>
          <a:ln w="9525">
            <a:solidFill>
              <a:srgbClr val="2E6B3F"/>
            </a:solidFill>
          </a:ln>
          <a:effectLst/>
        </p:spPr>
        <p:style>
          <a:lnRef idx="1">
            <a:schemeClr val="accent1"/>
          </a:lnRef>
          <a:fillRef idx="3">
            <a:schemeClr val="accent1"/>
          </a:fillRef>
          <a:effectRef idx="2">
            <a:schemeClr val="accent1"/>
          </a:effectRef>
          <a:fontRef idx="minor">
            <a:schemeClr val="lt1"/>
          </a:fontRef>
        </p:style>
        <p:txBody>
          <a:bodyPr wrap="square" lIns="137160" tIns="73152" rIns="137160" bIns="73152" rtlCol="0" anchor="ctr"/>
          <a:lstStyle/>
          <a:p>
            <a:pPr algn="ctr"/>
            <a:r>
              <a:rPr sz="1200" b="1">
                <a:solidFill>
                  <a:srgbClr val="2E6B3F"/>
                </a:solidFill>
              </a:rPr>
              <a:t>Verdict  </a:t>
            </a:r>
            <a:r>
              <a:rPr sz="1200">
                <a:solidFill>
                  <a:srgbClr val="222222"/>
                </a:solidFill>
              </a:rPr>
              <a:t>Adopté (extraction JSON + assemblage déterministe), pour la fiabilité du format. Qwen2.5 3B est environ 3 fois plus rapide que Ministral 3B et ose extraire des items.</a:t>
            </a:r>
          </a:p>
        </p:txBody>
      </p:sp>
      <p:sp>
        <p:nvSpPr>
          <p:cNvPr id="6" name="Rectangle 5"/>
          <p:cNvSpPr/>
          <p:nvPr/>
        </p:nvSpPr>
        <p:spPr>
          <a:xfrm>
            <a:off x="457200" y="4206240"/>
            <a:ext cx="11274552" cy="1371600"/>
          </a:xfrm>
          <a:prstGeom prst="rect">
            <a:avLst/>
          </a:prstGeom>
          <a:solidFill>
            <a:srgbClr val="FBF4EA"/>
          </a:solidFill>
          <a:ln w="9525">
            <a:solidFill>
              <a:srgbClr val="8A6D00"/>
            </a:solidFill>
          </a:ln>
          <a:effectLst/>
        </p:spPr>
        <p:style>
          <a:lnRef idx="1">
            <a:schemeClr val="accent1"/>
          </a:lnRef>
          <a:fillRef idx="3">
            <a:schemeClr val="accent1"/>
          </a:fillRef>
          <a:effectRef idx="2">
            <a:schemeClr val="accent1"/>
          </a:effectRef>
          <a:fontRef idx="minor">
            <a:schemeClr val="lt1"/>
          </a:fontRef>
        </p:style>
        <p:txBody>
          <a:bodyPr wrap="square" lIns="137160" tIns="73152" rIns="137160" bIns="73152" rtlCol="0" anchor="ctr"/>
          <a:lstStyle/>
          <a:p>
            <a:pPr algn="ctr"/>
            <a:r>
              <a:rPr sz="1150" b="1">
                <a:solidFill>
                  <a:srgbClr val="8A6D00"/>
                </a:solidFill>
              </a:rPr>
              <a:t>Note  </a:t>
            </a:r>
            <a:r>
              <a:rPr sz="1150">
                <a:solidFill>
                  <a:srgbClr val="222222"/>
                </a:solidFill>
              </a:rPr>
              <a:t>Attention : quantité n'est pas qualité. Les 5 décisions de Qwen sont en réalité 2 récits d'un projet passé de Maya, 1 non-décision et 2 suggestions. Le 0 de Ministral est plus FIDÈLE (c'est une prise de contact sans décision). Extraire beaucoup peut vouloir dire halluciner beaucoup.</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6868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wrap="square" lIns="365760" rtlCol="0" anchor="ctr"/>
          <a:lstStyle/>
          <a:p>
            <a:pPr algn="ctr"/>
            <a:r>
              <a:rPr sz="2200" b="1">
                <a:solidFill>
                  <a:srgbClr val="FFFFFF"/>
                </a:solidFill>
                <a:latin typeface="Georgia"/>
              </a:rPr>
              <a:t>2.A  Même passage : Qwen invente des décisions, Ministral reste fidèle</a:t>
            </a:r>
          </a:p>
        </p:txBody>
      </p:sp>
      <p:sp>
        <p:nvSpPr>
          <p:cNvPr id="3" name="TextBox 2"/>
          <p:cNvSpPr txBox="1"/>
          <p:nvPr/>
        </p:nvSpPr>
        <p:spPr>
          <a:xfrm>
            <a:off x="457200" y="1005840"/>
            <a:ext cx="11274552" cy="548640"/>
          </a:xfrm>
          <a:prstGeom prst="rect">
            <a:avLst/>
          </a:prstGeom>
          <a:noFill/>
        </p:spPr>
        <p:txBody>
          <a:bodyPr wrap="square">
            <a:spAutoFit/>
          </a:bodyPr>
          <a:lstStyle/>
          <a:p>
            <a:r>
              <a:rPr sz="1200" b="0" i="0">
                <a:solidFill>
                  <a:srgbClr val="222222"/>
                </a:solidFill>
              </a:rPr>
              <a:t>L'outil PPT de Maya est un projet PASSÉ qu'elle raconte. Qwen le transforme en décisions de la réunion ; Ministral indique correctement qu'aucune décision n'a été prise.</a:t>
            </a:r>
          </a:p>
        </p:txBody>
      </p:sp>
      <p:sp>
        <p:nvSpPr>
          <p:cNvPr id="4" name="Rounded Rectangle 3"/>
          <p:cNvSpPr/>
          <p:nvPr/>
        </p:nvSpPr>
        <p:spPr>
          <a:xfrm>
            <a:off x="457200" y="1691640"/>
            <a:ext cx="5440680" cy="3108960"/>
          </a:xfrm>
          <a:prstGeom prst="roundRect">
            <a:avLst/>
          </a:prstGeom>
          <a:solidFill>
            <a:srgbClr val="F7ECEB"/>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91440" rIns="137160" rtlCol="0" anchor="ctr"/>
          <a:lstStyle/>
          <a:p>
            <a:pPr algn="ctr"/>
            <a:r>
              <a:rPr sz="1300" b="1">
                <a:solidFill>
                  <a:srgbClr val="9E2B25"/>
                </a:solidFill>
              </a:rPr>
              <a:t>Qwen2.5 3B : fabrique des décisions</a:t>
            </a:r>
          </a:p>
          <a:p>
            <a:pPr>
              <a:spcBef>
                <a:spcPts val="400"/>
              </a:spcBef>
            </a:pPr>
            <a:r>
              <a:rPr sz="1050" i="1">
                <a:solidFill>
                  <a:srgbClr val="222222"/>
                </a:solidFill>
              </a:rPr>
              <a:t>« Décisions : Automatisation de la chaîne de traitement... ; Définition d'une structure préétablie pour le rapport. » Or ce sont des éléments d'un projet ANTÉRIEUR, pas des décisions prises en séance.</a:t>
            </a:r>
          </a:p>
          <a:p>
            <a:pPr>
              <a:spcBef>
                <a:spcPts val="400"/>
              </a:spcBef>
            </a:pPr>
            <a:r>
              <a:rPr sz="850">
                <a:solidFill>
                  <a:srgbClr val="2E4D6B"/>
                </a:solidFill>
              </a:rPr>
              <a:t>Source : archi_extraction_v4_qwen2.5-3b.md</a:t>
            </a:r>
          </a:p>
        </p:txBody>
      </p:sp>
      <p:sp>
        <p:nvSpPr>
          <p:cNvPr id="5" name="Rounded Rectangle 4"/>
          <p:cNvSpPr/>
          <p:nvPr/>
        </p:nvSpPr>
        <p:spPr>
          <a:xfrm>
            <a:off x="6291072" y="1691640"/>
            <a:ext cx="5440680" cy="3108960"/>
          </a:xfrm>
          <a:prstGeom prst="roundRect">
            <a:avLst/>
          </a:prstGeom>
          <a:solidFill>
            <a:srgbClr val="EAF1EC"/>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91440" rIns="137160" rtlCol="0" anchor="ctr"/>
          <a:lstStyle/>
          <a:p>
            <a:pPr algn="ctr"/>
            <a:r>
              <a:rPr sz="1300" b="1">
                <a:solidFill>
                  <a:srgbClr val="2E6B3F"/>
                </a:solidFill>
              </a:rPr>
              <a:t>Ministral 3B : reste fidèle</a:t>
            </a:r>
          </a:p>
          <a:p>
            <a:pPr>
              <a:spcBef>
                <a:spcPts val="400"/>
              </a:spcBef>
            </a:pPr>
            <a:r>
              <a:rPr sz="1050" i="1">
                <a:solidFill>
                  <a:srgbClr val="222222"/>
                </a:solidFill>
              </a:rPr>
              <a:t>« ... Aucune décision prise concernant la validation ou l'extension de ces éléments. » (synthèse : « Si aucune décision claire n'a été prise pour orienter une mission... »)</a:t>
            </a:r>
          </a:p>
          <a:p>
            <a:pPr>
              <a:spcBef>
                <a:spcPts val="400"/>
              </a:spcBef>
            </a:pPr>
            <a:r>
              <a:rPr sz="850">
                <a:solidFill>
                  <a:srgbClr val="2E4D6B"/>
                </a:solidFill>
              </a:rPr>
              <a:t>Source : archi_extraction_v4_ministral3b.md</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6868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wrap="square" lIns="365760" rtlCol="0" anchor="ctr"/>
          <a:lstStyle/>
          <a:p>
            <a:pPr algn="ctr"/>
            <a:r>
              <a:rPr sz="2200" b="1">
                <a:solidFill>
                  <a:srgbClr val="FFFFFF"/>
                </a:solidFill>
                <a:latin typeface="Georgia"/>
              </a:rPr>
              <a:t>2.A  Modèles évalués (≤ 7B, CPU)</a:t>
            </a:r>
          </a:p>
        </p:txBody>
      </p:sp>
      <p:graphicFrame>
        <p:nvGraphicFramePr>
          <p:cNvPr id="3" name="Table 2"/>
          <p:cNvGraphicFramePr>
            <a:graphicFrameLocks noGrp="1"/>
          </p:cNvGraphicFramePr>
          <p:nvPr/>
        </p:nvGraphicFramePr>
        <p:xfrm>
          <a:off x="457200" y="1097280"/>
          <a:ext cx="9143998" cy="2487168"/>
        </p:xfrm>
        <a:graphic>
          <a:graphicData uri="http://schemas.openxmlformats.org/drawingml/2006/table">
            <a:tbl>
              <a:tblPr>
                <a:tableStyleId>{2D5ABB26-0587-4C30-8999-92F81FD0307C}</a:tableStyleId>
              </a:tblPr>
              <a:tblGrid>
                <a:gridCol w="3345365">
                  <a:extLst>
                    <a:ext uri="{9D8B030D-6E8A-4147-A177-3AD203B41FA5}">
                      <a16:colId xmlns:a16="http://schemas.microsoft.com/office/drawing/2014/main" val="20000"/>
                    </a:ext>
                  </a:extLst>
                </a:gridCol>
                <a:gridCol w="2453268">
                  <a:extLst>
                    <a:ext uri="{9D8B030D-6E8A-4147-A177-3AD203B41FA5}">
                      <a16:colId xmlns:a16="http://schemas.microsoft.com/office/drawing/2014/main" val="20001"/>
                    </a:ext>
                  </a:extLst>
                </a:gridCol>
                <a:gridCol w="1784195">
                  <a:extLst>
                    <a:ext uri="{9D8B030D-6E8A-4147-A177-3AD203B41FA5}">
                      <a16:colId xmlns:a16="http://schemas.microsoft.com/office/drawing/2014/main" val="20002"/>
                    </a:ext>
                  </a:extLst>
                </a:gridCol>
                <a:gridCol w="1561170">
                  <a:extLst>
                    <a:ext uri="{9D8B030D-6E8A-4147-A177-3AD203B41FA5}">
                      <a16:colId xmlns:a16="http://schemas.microsoft.com/office/drawing/2014/main" val="20003"/>
                    </a:ext>
                  </a:extLst>
                </a:gridCol>
              </a:tblGrid>
              <a:tr h="310896">
                <a:tc>
                  <a:txBody>
                    <a:bodyPr/>
                    <a:lstStyle/>
                    <a:p>
                      <a:pPr algn="l"/>
                      <a:r>
                        <a:rPr sz="1100" b="1">
                          <a:solidFill>
                            <a:srgbClr val="FFFFFF"/>
                          </a:solidFill>
                        </a:rPr>
                        <a:t>Modèle</a:t>
                      </a:r>
                    </a:p>
                  </a:txBody>
                  <a:tcPr marL="54864" marR="54864" marT="18288" marB="18288" anchor="ctr">
                    <a:solidFill>
                      <a:srgbClr val="1F3A5F"/>
                    </a:solidFill>
                  </a:tcPr>
                </a:tc>
                <a:tc>
                  <a:txBody>
                    <a:bodyPr/>
                    <a:lstStyle/>
                    <a:p>
                      <a:pPr algn="l"/>
                      <a:r>
                        <a:rPr sz="1100" b="1">
                          <a:solidFill>
                            <a:srgbClr val="FFFFFF"/>
                          </a:solidFill>
                        </a:rPr>
                        <a:t>Famille</a:t>
                      </a:r>
                    </a:p>
                  </a:txBody>
                  <a:tcPr marL="54864" marR="54864" marT="18288" marB="18288" anchor="ctr">
                    <a:solidFill>
                      <a:srgbClr val="1F3A5F"/>
                    </a:solidFill>
                  </a:tcPr>
                </a:tc>
                <a:tc>
                  <a:txBody>
                    <a:bodyPr/>
                    <a:lstStyle/>
                    <a:p>
                      <a:pPr algn="l"/>
                      <a:r>
                        <a:rPr sz="1100" b="1">
                          <a:solidFill>
                            <a:srgbClr val="FFFFFF"/>
                          </a:solidFill>
                        </a:rPr>
                        <a:t>Quantization</a:t>
                      </a:r>
                    </a:p>
                  </a:txBody>
                  <a:tcPr marL="54864" marR="54864" marT="18288" marB="18288" anchor="ctr">
                    <a:solidFill>
                      <a:srgbClr val="1F3A5F"/>
                    </a:solidFill>
                  </a:tcPr>
                </a:tc>
                <a:tc>
                  <a:txBody>
                    <a:bodyPr/>
                    <a:lstStyle/>
                    <a:p>
                      <a:pPr algn="l"/>
                      <a:r>
                        <a:rPr sz="1100" b="1">
                          <a:solidFill>
                            <a:srgbClr val="FFFFFF"/>
                          </a:solidFill>
                        </a:rPr>
                        <a:t>Taille</a:t>
                      </a:r>
                    </a:p>
                  </a:txBody>
                  <a:tcPr marL="54864" marR="54864" marT="18288" marB="18288" anchor="ctr">
                    <a:solidFill>
                      <a:srgbClr val="1F3A5F"/>
                    </a:solidFill>
                  </a:tcPr>
                </a:tc>
                <a:extLst>
                  <a:ext uri="{0D108BD9-81ED-4DB2-BD59-A6C34878D82A}">
                    <a16:rowId xmlns:a16="http://schemas.microsoft.com/office/drawing/2014/main" val="10000"/>
                  </a:ext>
                </a:extLst>
              </a:tr>
              <a:tr h="310896">
                <a:tc>
                  <a:txBody>
                    <a:bodyPr/>
                    <a:lstStyle/>
                    <a:p>
                      <a:pPr algn="l"/>
                      <a:r>
                        <a:rPr sz="1100" b="0">
                          <a:solidFill>
                            <a:srgbClr val="222222"/>
                          </a:solidFill>
                        </a:rPr>
                        <a:t>Ministral-3-3B-Instruct-2512</a:t>
                      </a:r>
                    </a:p>
                  </a:txBody>
                  <a:tcPr marL="54864" marR="54864" marT="18288" marB="18288" anchor="ctr">
                    <a:solidFill>
                      <a:srgbClr val="FFFFFF"/>
                    </a:solidFill>
                  </a:tcPr>
                </a:tc>
                <a:tc>
                  <a:txBody>
                    <a:bodyPr/>
                    <a:lstStyle/>
                    <a:p>
                      <a:pPr algn="l"/>
                      <a:r>
                        <a:rPr sz="1100" b="0">
                          <a:solidFill>
                            <a:srgbClr val="222222"/>
                          </a:solidFill>
                        </a:rPr>
                        <a:t>Mistral 3B</a:t>
                      </a:r>
                    </a:p>
                  </a:txBody>
                  <a:tcPr marL="54864" marR="54864" marT="18288" marB="18288" anchor="ctr">
                    <a:solidFill>
                      <a:srgbClr val="FFFFFF"/>
                    </a:solidFill>
                  </a:tcPr>
                </a:tc>
                <a:tc>
                  <a:txBody>
                    <a:bodyPr/>
                    <a:lstStyle/>
                    <a:p>
                      <a:pPr algn="l"/>
                      <a:r>
                        <a:rPr sz="1100" b="0">
                          <a:solidFill>
                            <a:srgbClr val="222222"/>
                          </a:solidFill>
                        </a:rPr>
                        <a:t>Q4_K_M</a:t>
                      </a:r>
                    </a:p>
                  </a:txBody>
                  <a:tcPr marL="54864" marR="54864" marT="18288" marB="18288" anchor="ctr">
                    <a:solidFill>
                      <a:srgbClr val="FFFFFF"/>
                    </a:solidFill>
                  </a:tcPr>
                </a:tc>
                <a:tc>
                  <a:txBody>
                    <a:bodyPr/>
                    <a:lstStyle/>
                    <a:p>
                      <a:pPr algn="l"/>
                      <a:r>
                        <a:rPr sz="1100" b="0">
                          <a:solidFill>
                            <a:srgbClr val="222222"/>
                          </a:solidFill>
                        </a:rPr>
                        <a:t>~1,9 Go</a:t>
                      </a:r>
                    </a:p>
                  </a:txBody>
                  <a:tcPr marL="54864" marR="54864" marT="18288" marB="18288" anchor="ctr">
                    <a:solidFill>
                      <a:srgbClr val="FFFFFF"/>
                    </a:solidFill>
                  </a:tcPr>
                </a:tc>
                <a:extLst>
                  <a:ext uri="{0D108BD9-81ED-4DB2-BD59-A6C34878D82A}">
                    <a16:rowId xmlns:a16="http://schemas.microsoft.com/office/drawing/2014/main" val="10001"/>
                  </a:ext>
                </a:extLst>
              </a:tr>
              <a:tr h="310896">
                <a:tc>
                  <a:txBody>
                    <a:bodyPr/>
                    <a:lstStyle/>
                    <a:p>
                      <a:pPr algn="l"/>
                      <a:r>
                        <a:rPr sz="1100" b="0">
                          <a:solidFill>
                            <a:srgbClr val="222222"/>
                          </a:solidFill>
                        </a:rPr>
                        <a:t>Mistral-7B-Instruct-v0.3</a:t>
                      </a:r>
                    </a:p>
                  </a:txBody>
                  <a:tcPr marL="54864" marR="54864" marT="18288" marB="18288" anchor="ctr">
                    <a:solidFill>
                      <a:srgbClr val="F4F6F9"/>
                    </a:solidFill>
                  </a:tcPr>
                </a:tc>
                <a:tc>
                  <a:txBody>
                    <a:bodyPr/>
                    <a:lstStyle/>
                    <a:p>
                      <a:pPr algn="l"/>
                      <a:r>
                        <a:rPr sz="1100" b="0">
                          <a:solidFill>
                            <a:srgbClr val="222222"/>
                          </a:solidFill>
                        </a:rPr>
                        <a:t>Mistral 7B</a:t>
                      </a:r>
                    </a:p>
                  </a:txBody>
                  <a:tcPr marL="54864" marR="54864" marT="18288" marB="18288" anchor="ctr">
                    <a:solidFill>
                      <a:srgbClr val="F4F6F9"/>
                    </a:solidFill>
                  </a:tcPr>
                </a:tc>
                <a:tc>
                  <a:txBody>
                    <a:bodyPr/>
                    <a:lstStyle/>
                    <a:p>
                      <a:pPr algn="l"/>
                      <a:r>
                        <a:rPr sz="1100" b="0">
                          <a:solidFill>
                            <a:srgbClr val="222222"/>
                          </a:solidFill>
                        </a:rPr>
                        <a:t>Q4_K_M</a:t>
                      </a:r>
                    </a:p>
                  </a:txBody>
                  <a:tcPr marL="54864" marR="54864" marT="18288" marB="18288" anchor="ctr">
                    <a:solidFill>
                      <a:srgbClr val="F4F6F9"/>
                    </a:solidFill>
                  </a:tcPr>
                </a:tc>
                <a:tc>
                  <a:txBody>
                    <a:bodyPr/>
                    <a:lstStyle/>
                    <a:p>
                      <a:pPr algn="l"/>
                      <a:r>
                        <a:rPr sz="1100" b="0">
                          <a:solidFill>
                            <a:srgbClr val="222222"/>
                          </a:solidFill>
                        </a:rPr>
                        <a:t>~4,1 Go</a:t>
                      </a:r>
                    </a:p>
                  </a:txBody>
                  <a:tcPr marL="54864" marR="54864" marT="18288" marB="18288" anchor="ctr">
                    <a:solidFill>
                      <a:srgbClr val="F4F6F9"/>
                    </a:solidFill>
                  </a:tcPr>
                </a:tc>
                <a:extLst>
                  <a:ext uri="{0D108BD9-81ED-4DB2-BD59-A6C34878D82A}">
                    <a16:rowId xmlns:a16="http://schemas.microsoft.com/office/drawing/2014/main" val="10002"/>
                  </a:ext>
                </a:extLst>
              </a:tr>
              <a:tr h="310896">
                <a:tc>
                  <a:txBody>
                    <a:bodyPr/>
                    <a:lstStyle/>
                    <a:p>
                      <a:pPr algn="l"/>
                      <a:r>
                        <a:rPr sz="1100" b="0">
                          <a:solidFill>
                            <a:srgbClr val="222222"/>
                          </a:solidFill>
                        </a:rPr>
                        <a:t>qwen2.5-3b-instruct</a:t>
                      </a:r>
                    </a:p>
                  </a:txBody>
                  <a:tcPr marL="54864" marR="54864" marT="18288" marB="18288" anchor="ctr">
                    <a:solidFill>
                      <a:srgbClr val="FFFFFF"/>
                    </a:solidFill>
                  </a:tcPr>
                </a:tc>
                <a:tc>
                  <a:txBody>
                    <a:bodyPr/>
                    <a:lstStyle/>
                    <a:p>
                      <a:pPr algn="l"/>
                      <a:r>
                        <a:rPr sz="1100" b="0">
                          <a:solidFill>
                            <a:srgbClr val="222222"/>
                          </a:solidFill>
                        </a:rPr>
                        <a:t>Qwen 2.5 3B</a:t>
                      </a:r>
                    </a:p>
                  </a:txBody>
                  <a:tcPr marL="54864" marR="54864" marT="18288" marB="18288" anchor="ctr">
                    <a:solidFill>
                      <a:srgbClr val="FFFFFF"/>
                    </a:solidFill>
                  </a:tcPr>
                </a:tc>
                <a:tc>
                  <a:txBody>
                    <a:bodyPr/>
                    <a:lstStyle/>
                    <a:p>
                      <a:pPr algn="l"/>
                      <a:r>
                        <a:rPr sz="1100" b="0">
                          <a:solidFill>
                            <a:srgbClr val="222222"/>
                          </a:solidFill>
                        </a:rPr>
                        <a:t>Q4_0</a:t>
                      </a:r>
                    </a:p>
                  </a:txBody>
                  <a:tcPr marL="54864" marR="54864" marT="18288" marB="18288" anchor="ctr">
                    <a:solidFill>
                      <a:srgbClr val="FFFFFF"/>
                    </a:solidFill>
                  </a:tcPr>
                </a:tc>
                <a:tc>
                  <a:txBody>
                    <a:bodyPr/>
                    <a:lstStyle/>
                    <a:p>
                      <a:pPr algn="l"/>
                      <a:r>
                        <a:rPr sz="1100" b="0">
                          <a:solidFill>
                            <a:srgbClr val="222222"/>
                          </a:solidFill>
                        </a:rPr>
                        <a:t>~1,9 Go</a:t>
                      </a:r>
                    </a:p>
                  </a:txBody>
                  <a:tcPr marL="54864" marR="54864" marT="18288" marB="18288" anchor="ctr">
                    <a:solidFill>
                      <a:srgbClr val="FFFFFF"/>
                    </a:solidFill>
                  </a:tcPr>
                </a:tc>
                <a:extLst>
                  <a:ext uri="{0D108BD9-81ED-4DB2-BD59-A6C34878D82A}">
                    <a16:rowId xmlns:a16="http://schemas.microsoft.com/office/drawing/2014/main" val="10003"/>
                  </a:ext>
                </a:extLst>
              </a:tr>
              <a:tr h="310896">
                <a:tc>
                  <a:txBody>
                    <a:bodyPr/>
                    <a:lstStyle/>
                    <a:p>
                      <a:pPr algn="l"/>
                      <a:r>
                        <a:rPr sz="1100" b="0">
                          <a:solidFill>
                            <a:srgbClr val="222222"/>
                          </a:solidFill>
                        </a:rPr>
                        <a:t>Qwen3-4B (thinking)</a:t>
                      </a:r>
                    </a:p>
                  </a:txBody>
                  <a:tcPr marL="54864" marR="54864" marT="18288" marB="18288" anchor="ctr">
                    <a:solidFill>
                      <a:srgbClr val="F4F6F9"/>
                    </a:solidFill>
                  </a:tcPr>
                </a:tc>
                <a:tc>
                  <a:txBody>
                    <a:bodyPr/>
                    <a:lstStyle/>
                    <a:p>
                      <a:pPr algn="l"/>
                      <a:r>
                        <a:rPr sz="1100" b="0">
                          <a:solidFill>
                            <a:srgbClr val="222222"/>
                          </a:solidFill>
                        </a:rPr>
                        <a:t>Qwen 3 4B</a:t>
                      </a:r>
                    </a:p>
                  </a:txBody>
                  <a:tcPr marL="54864" marR="54864" marT="18288" marB="18288" anchor="ctr">
                    <a:solidFill>
                      <a:srgbClr val="F4F6F9"/>
                    </a:solidFill>
                  </a:tcPr>
                </a:tc>
                <a:tc>
                  <a:txBody>
                    <a:bodyPr/>
                    <a:lstStyle/>
                    <a:p>
                      <a:pPr algn="l"/>
                      <a:r>
                        <a:rPr sz="1100" b="0">
                          <a:solidFill>
                            <a:srgbClr val="222222"/>
                          </a:solidFill>
                        </a:rPr>
                        <a:t>Q4_K_M</a:t>
                      </a:r>
                    </a:p>
                  </a:txBody>
                  <a:tcPr marL="54864" marR="54864" marT="18288" marB="18288" anchor="ctr">
                    <a:solidFill>
                      <a:srgbClr val="F4F6F9"/>
                    </a:solidFill>
                  </a:tcPr>
                </a:tc>
                <a:tc>
                  <a:txBody>
                    <a:bodyPr/>
                    <a:lstStyle/>
                    <a:p>
                      <a:pPr algn="l"/>
                      <a:r>
                        <a:rPr sz="1100" b="0">
                          <a:solidFill>
                            <a:srgbClr val="222222"/>
                          </a:solidFill>
                        </a:rPr>
                        <a:t>~2,5 Go</a:t>
                      </a:r>
                    </a:p>
                  </a:txBody>
                  <a:tcPr marL="54864" marR="54864" marT="18288" marB="18288" anchor="ctr">
                    <a:solidFill>
                      <a:srgbClr val="F4F6F9"/>
                    </a:solidFill>
                  </a:tcPr>
                </a:tc>
                <a:extLst>
                  <a:ext uri="{0D108BD9-81ED-4DB2-BD59-A6C34878D82A}">
                    <a16:rowId xmlns:a16="http://schemas.microsoft.com/office/drawing/2014/main" val="10004"/>
                  </a:ext>
                </a:extLst>
              </a:tr>
              <a:tr h="310896">
                <a:tc>
                  <a:txBody>
                    <a:bodyPr/>
                    <a:lstStyle/>
                    <a:p>
                      <a:pPr algn="l"/>
                      <a:r>
                        <a:rPr sz="1100" b="0">
                          <a:solidFill>
                            <a:srgbClr val="222222"/>
                          </a:solidFill>
                        </a:rPr>
                        <a:t>SmolLM3-3B</a:t>
                      </a:r>
                    </a:p>
                  </a:txBody>
                  <a:tcPr marL="54864" marR="54864" marT="18288" marB="18288" anchor="ctr">
                    <a:solidFill>
                      <a:srgbClr val="FFFFFF"/>
                    </a:solidFill>
                  </a:tcPr>
                </a:tc>
                <a:tc>
                  <a:txBody>
                    <a:bodyPr/>
                    <a:lstStyle/>
                    <a:p>
                      <a:pPr algn="l"/>
                      <a:r>
                        <a:rPr sz="1100" b="0">
                          <a:solidFill>
                            <a:srgbClr val="222222"/>
                          </a:solidFill>
                        </a:rPr>
                        <a:t>HuggingFace</a:t>
                      </a:r>
                    </a:p>
                  </a:txBody>
                  <a:tcPr marL="54864" marR="54864" marT="18288" marB="18288" anchor="ctr">
                    <a:solidFill>
                      <a:srgbClr val="FFFFFF"/>
                    </a:solidFill>
                  </a:tcPr>
                </a:tc>
                <a:tc>
                  <a:txBody>
                    <a:bodyPr/>
                    <a:lstStyle/>
                    <a:p>
                      <a:pPr algn="l"/>
                      <a:r>
                        <a:rPr sz="1100" b="0">
                          <a:solidFill>
                            <a:srgbClr val="222222"/>
                          </a:solidFill>
                        </a:rPr>
                        <a:t>Q4_K_M</a:t>
                      </a:r>
                    </a:p>
                  </a:txBody>
                  <a:tcPr marL="54864" marR="54864" marT="18288" marB="18288" anchor="ctr">
                    <a:solidFill>
                      <a:srgbClr val="FFFFFF"/>
                    </a:solidFill>
                  </a:tcPr>
                </a:tc>
                <a:tc>
                  <a:txBody>
                    <a:bodyPr/>
                    <a:lstStyle/>
                    <a:p>
                      <a:pPr algn="l"/>
                      <a:r>
                        <a:rPr sz="1100" b="0">
                          <a:solidFill>
                            <a:srgbClr val="222222"/>
                          </a:solidFill>
                        </a:rPr>
                        <a:t>~1,9 Go</a:t>
                      </a:r>
                    </a:p>
                  </a:txBody>
                  <a:tcPr marL="54864" marR="54864" marT="18288" marB="18288" anchor="ctr">
                    <a:solidFill>
                      <a:srgbClr val="FFFFFF"/>
                    </a:solidFill>
                  </a:tcPr>
                </a:tc>
                <a:extLst>
                  <a:ext uri="{0D108BD9-81ED-4DB2-BD59-A6C34878D82A}">
                    <a16:rowId xmlns:a16="http://schemas.microsoft.com/office/drawing/2014/main" val="10005"/>
                  </a:ext>
                </a:extLst>
              </a:tr>
              <a:tr h="310896">
                <a:tc>
                  <a:txBody>
                    <a:bodyPr/>
                    <a:lstStyle/>
                    <a:p>
                      <a:pPr algn="l"/>
                      <a:r>
                        <a:rPr sz="1100" b="0">
                          <a:solidFill>
                            <a:srgbClr val="222222"/>
                          </a:solidFill>
                        </a:rPr>
                        <a:t>LFM2.5-1.2B et LFM2-2.6B</a:t>
                      </a:r>
                    </a:p>
                  </a:txBody>
                  <a:tcPr marL="54864" marR="54864" marT="18288" marB="18288" anchor="ctr">
                    <a:solidFill>
                      <a:srgbClr val="F4F6F9"/>
                    </a:solidFill>
                  </a:tcPr>
                </a:tc>
                <a:tc>
                  <a:txBody>
                    <a:bodyPr/>
                    <a:lstStyle/>
                    <a:p>
                      <a:pPr algn="l"/>
                      <a:r>
                        <a:rPr sz="1100" b="0">
                          <a:solidFill>
                            <a:srgbClr val="222222"/>
                          </a:solidFill>
                        </a:rPr>
                        <a:t>Liquid</a:t>
                      </a:r>
                    </a:p>
                  </a:txBody>
                  <a:tcPr marL="54864" marR="54864" marT="18288" marB="18288" anchor="ctr">
                    <a:solidFill>
                      <a:srgbClr val="F4F6F9"/>
                    </a:solidFill>
                  </a:tcPr>
                </a:tc>
                <a:tc>
                  <a:txBody>
                    <a:bodyPr/>
                    <a:lstStyle/>
                    <a:p>
                      <a:pPr algn="l"/>
                      <a:r>
                        <a:rPr sz="1100" b="0">
                          <a:solidFill>
                            <a:srgbClr val="222222"/>
                          </a:solidFill>
                        </a:rPr>
                        <a:t>Q4 / Q6</a:t>
                      </a:r>
                    </a:p>
                  </a:txBody>
                  <a:tcPr marL="54864" marR="54864" marT="18288" marB="18288" anchor="ctr">
                    <a:solidFill>
                      <a:srgbClr val="F4F6F9"/>
                    </a:solidFill>
                  </a:tcPr>
                </a:tc>
                <a:tc>
                  <a:txBody>
                    <a:bodyPr/>
                    <a:lstStyle/>
                    <a:p>
                      <a:pPr algn="l"/>
                      <a:r>
                        <a:rPr sz="1100" b="0">
                          <a:solidFill>
                            <a:srgbClr val="222222"/>
                          </a:solidFill>
                        </a:rPr>
                        <a:t>0,66 à 2,0 Go</a:t>
                      </a:r>
                    </a:p>
                  </a:txBody>
                  <a:tcPr marL="54864" marR="54864" marT="18288" marB="18288" anchor="ctr">
                    <a:solidFill>
                      <a:srgbClr val="F4F6F9"/>
                    </a:solidFill>
                  </a:tcPr>
                </a:tc>
                <a:extLst>
                  <a:ext uri="{0D108BD9-81ED-4DB2-BD59-A6C34878D82A}">
                    <a16:rowId xmlns:a16="http://schemas.microsoft.com/office/drawing/2014/main" val="10006"/>
                  </a:ext>
                </a:extLst>
              </a:tr>
              <a:tr h="310896">
                <a:tc>
                  <a:txBody>
                    <a:bodyPr/>
                    <a:lstStyle/>
                    <a:p>
                      <a:pPr algn="l"/>
                      <a:r>
                        <a:rPr sz="1100" b="0">
                          <a:solidFill>
                            <a:srgbClr val="222222"/>
                          </a:solidFill>
                        </a:rPr>
                        <a:t>NuExtract-2.0-2B</a:t>
                      </a:r>
                    </a:p>
                  </a:txBody>
                  <a:tcPr marL="54864" marR="54864" marT="18288" marB="18288" anchor="ctr">
                    <a:solidFill>
                      <a:srgbClr val="FFFFFF"/>
                    </a:solidFill>
                  </a:tcPr>
                </a:tc>
                <a:tc>
                  <a:txBody>
                    <a:bodyPr/>
                    <a:lstStyle/>
                    <a:p>
                      <a:pPr algn="l"/>
                      <a:r>
                        <a:rPr sz="1100" b="0">
                          <a:solidFill>
                            <a:srgbClr val="222222"/>
                          </a:solidFill>
                        </a:rPr>
                        <a:t>Extraction structurée</a:t>
                      </a:r>
                    </a:p>
                  </a:txBody>
                  <a:tcPr marL="54864" marR="54864" marT="18288" marB="18288" anchor="ctr">
                    <a:solidFill>
                      <a:srgbClr val="FFFFFF"/>
                    </a:solidFill>
                  </a:tcPr>
                </a:tc>
                <a:tc>
                  <a:txBody>
                    <a:bodyPr/>
                    <a:lstStyle/>
                    <a:p>
                      <a:pPr algn="l"/>
                      <a:r>
                        <a:rPr sz="1100" b="0">
                          <a:solidFill>
                            <a:srgbClr val="222222"/>
                          </a:solidFill>
                        </a:rPr>
                        <a:t>Q4_K_M</a:t>
                      </a:r>
                    </a:p>
                  </a:txBody>
                  <a:tcPr marL="54864" marR="54864" marT="18288" marB="18288" anchor="ctr">
                    <a:solidFill>
                      <a:srgbClr val="FFFFFF"/>
                    </a:solidFill>
                  </a:tcPr>
                </a:tc>
                <a:tc>
                  <a:txBody>
                    <a:bodyPr/>
                    <a:lstStyle/>
                    <a:p>
                      <a:pPr algn="l"/>
                      <a:r>
                        <a:rPr sz="1100" b="0">
                          <a:solidFill>
                            <a:srgbClr val="222222"/>
                          </a:solidFill>
                        </a:rPr>
                        <a:t>~1,3 Go</a:t>
                      </a:r>
                    </a:p>
                  </a:txBody>
                  <a:tcPr marL="54864" marR="54864" marT="18288" marB="18288" anchor="ctr">
                    <a:solidFill>
                      <a:srgbClr val="FFFFFF"/>
                    </a:solidFill>
                  </a:tcPr>
                </a:tc>
                <a:extLst>
                  <a:ext uri="{0D108BD9-81ED-4DB2-BD59-A6C34878D82A}">
                    <a16:rowId xmlns:a16="http://schemas.microsoft.com/office/drawing/2014/main" val="10007"/>
                  </a:ext>
                </a:extLst>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6868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wrap="square" lIns="365760" rtlCol="0" anchor="ctr"/>
          <a:lstStyle/>
          <a:p>
            <a:pPr algn="ctr"/>
            <a:r>
              <a:rPr sz="2200" b="1">
                <a:solidFill>
                  <a:srgbClr val="FFFFFF"/>
                </a:solidFill>
                <a:latin typeface="Georgia"/>
              </a:rPr>
              <a:t>2.B  Refonte agentique : orchestrateur + workers</a:t>
            </a:r>
          </a:p>
        </p:txBody>
      </p:sp>
      <p:sp>
        <p:nvSpPr>
          <p:cNvPr id="3" name="TextBox 2"/>
          <p:cNvSpPr txBox="1"/>
          <p:nvPr/>
        </p:nvSpPr>
        <p:spPr>
          <a:xfrm>
            <a:off x="457200" y="1005840"/>
            <a:ext cx="11274552" cy="548640"/>
          </a:xfrm>
          <a:prstGeom prst="rect">
            <a:avLst/>
          </a:prstGeom>
          <a:noFill/>
        </p:spPr>
        <p:txBody>
          <a:bodyPr wrap="square">
            <a:spAutoFit/>
          </a:bodyPr>
          <a:lstStyle/>
          <a:p>
            <a:r>
              <a:rPr sz="1300" b="0" i="0">
                <a:solidFill>
                  <a:srgbClr val="222222"/>
                </a:solidFill>
              </a:rPr>
              <a:t>Limite de l'extraction : même structure de CR pour toutes les réunions. L'agentique adapte la structure au type de réunion via des agents spécialisés.</a:t>
            </a:r>
          </a:p>
        </p:txBody>
      </p:sp>
      <p:sp>
        <p:nvSpPr>
          <p:cNvPr id="4" name="TextBox 3"/>
          <p:cNvSpPr txBox="1"/>
          <p:nvPr/>
        </p:nvSpPr>
        <p:spPr>
          <a:xfrm>
            <a:off x="457200" y="1737360"/>
            <a:ext cx="11274552" cy="2743200"/>
          </a:xfrm>
          <a:prstGeom prst="rect">
            <a:avLst/>
          </a:prstGeom>
          <a:noFill/>
        </p:spPr>
        <p:txBody>
          <a:bodyPr wrap="square">
            <a:spAutoFit/>
          </a:bodyPr>
          <a:lstStyle/>
          <a:p>
            <a:pPr>
              <a:spcAft>
                <a:spcPts val="600"/>
              </a:spcAft>
            </a:pPr>
            <a:r>
              <a:rPr sz="1400">
                <a:solidFill>
                  <a:srgbClr val="2E4D6B"/>
                </a:solidFill>
              </a:rPr>
              <a:t>•  </a:t>
            </a:r>
            <a:r>
              <a:rPr sz="1400" b="1">
                <a:solidFill>
                  <a:srgbClr val="222222"/>
                </a:solidFill>
              </a:rPr>
              <a:t>Agent CONTEXT BUILDER : </a:t>
            </a:r>
            <a:r>
              <a:rPr sz="1400">
                <a:solidFill>
                  <a:srgbClr val="222222"/>
                </a:solidFill>
              </a:rPr>
              <a:t>type de réunion (multi-hypothèses), objectif, synthèse globale.</a:t>
            </a:r>
          </a:p>
          <a:p>
            <a:pPr>
              <a:spcAft>
                <a:spcPts val="600"/>
              </a:spcAft>
            </a:pPr>
            <a:r>
              <a:rPr sz="1400">
                <a:solidFill>
                  <a:srgbClr val="2E4D6B"/>
                </a:solidFill>
              </a:rPr>
              <a:t>•  </a:t>
            </a:r>
            <a:r>
              <a:rPr sz="1400" b="1">
                <a:solidFill>
                  <a:srgbClr val="222222"/>
                </a:solidFill>
              </a:rPr>
              <a:t>Agent PLANNER : </a:t>
            </a:r>
            <a:r>
              <a:rPr sz="1400">
                <a:solidFill>
                  <a:srgbClr val="222222"/>
                </a:solidFill>
              </a:rPr>
              <a:t>conçoit la structure (les sections).</a:t>
            </a:r>
          </a:p>
          <a:p>
            <a:pPr>
              <a:spcAft>
                <a:spcPts val="600"/>
              </a:spcAft>
            </a:pPr>
            <a:r>
              <a:rPr sz="1400">
                <a:solidFill>
                  <a:srgbClr val="2E4D6B"/>
                </a:solidFill>
              </a:rPr>
              <a:t>•  </a:t>
            </a:r>
            <a:r>
              <a:rPr sz="1400" b="1">
                <a:solidFill>
                  <a:srgbClr val="222222"/>
                </a:solidFill>
              </a:rPr>
              <a:t>Agent CONTENT DESIGNER : </a:t>
            </a:r>
            <a:r>
              <a:rPr sz="1400">
                <a:solidFill>
                  <a:srgbClr val="222222"/>
                </a:solidFill>
              </a:rPr>
              <a:t>pour chaque section, choisit les chunks et rédige le brief.</a:t>
            </a:r>
          </a:p>
          <a:p>
            <a:pPr>
              <a:spcAft>
                <a:spcPts val="600"/>
              </a:spcAft>
            </a:pPr>
            <a:r>
              <a:rPr sz="1400">
                <a:solidFill>
                  <a:srgbClr val="2E4D6B"/>
                </a:solidFill>
              </a:rPr>
              <a:t>•  </a:t>
            </a:r>
            <a:r>
              <a:rPr sz="1400" b="1">
                <a:solidFill>
                  <a:srgbClr val="222222"/>
                </a:solidFill>
              </a:rPr>
              <a:t>Agents WORKERS : </a:t>
            </a:r>
            <a:r>
              <a:rPr sz="1400">
                <a:solidFill>
                  <a:srgbClr val="222222"/>
                </a:solidFill>
              </a:rPr>
              <a:t>rédigent chaque section (narratif, puces, tableaux) à partir du texte brut.</a:t>
            </a:r>
          </a:p>
          <a:p>
            <a:pPr>
              <a:spcAft>
                <a:spcPts val="600"/>
              </a:spcAft>
            </a:pPr>
            <a:r>
              <a:rPr sz="1400">
                <a:solidFill>
                  <a:srgbClr val="2E4D6B"/>
                </a:solidFill>
              </a:rPr>
              <a:t>•  </a:t>
            </a:r>
            <a:r>
              <a:rPr sz="1400" b="1">
                <a:solidFill>
                  <a:srgbClr val="222222"/>
                </a:solidFill>
              </a:rPr>
              <a:t>Juges déterministes : </a:t>
            </a:r>
            <a:r>
              <a:rPr sz="1400">
                <a:solidFill>
                  <a:srgbClr val="222222"/>
                </a:solidFill>
              </a:rPr>
              <a:t>décisions et actions, puis assemblage Markdown 100 % Python.</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6868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wrap="square" lIns="365760" rtlCol="0" anchor="ctr"/>
          <a:lstStyle/>
          <a:p>
            <a:pPr algn="ctr"/>
            <a:r>
              <a:rPr sz="2200" b="1">
                <a:solidFill>
                  <a:srgbClr val="FFFFFF"/>
                </a:solidFill>
                <a:latin typeface="Georgia"/>
              </a:rPr>
              <a:t>2.B  Évolution version par version (V1 à V10)</a:t>
            </a:r>
          </a:p>
        </p:txBody>
      </p:sp>
      <p:graphicFrame>
        <p:nvGraphicFramePr>
          <p:cNvPr id="3" name="Table 2"/>
          <p:cNvGraphicFramePr>
            <a:graphicFrameLocks noGrp="1"/>
          </p:cNvGraphicFramePr>
          <p:nvPr/>
        </p:nvGraphicFramePr>
        <p:xfrm>
          <a:off x="457200" y="1051560"/>
          <a:ext cx="11274550" cy="3118104"/>
        </p:xfrm>
        <a:graphic>
          <a:graphicData uri="http://schemas.openxmlformats.org/drawingml/2006/table">
            <a:tbl>
              <a:tblPr>
                <a:tableStyleId>{2D5ABB26-0587-4C30-8999-92F81FD0307C}</a:tableStyleId>
              </a:tblPr>
              <a:tblGrid>
                <a:gridCol w="687472">
                  <a:extLst>
                    <a:ext uri="{9D8B030D-6E8A-4147-A177-3AD203B41FA5}">
                      <a16:colId xmlns:a16="http://schemas.microsoft.com/office/drawing/2014/main" val="20000"/>
                    </a:ext>
                  </a:extLst>
                </a:gridCol>
                <a:gridCol w="2337407">
                  <a:extLst>
                    <a:ext uri="{9D8B030D-6E8A-4147-A177-3AD203B41FA5}">
                      <a16:colId xmlns:a16="http://schemas.microsoft.com/office/drawing/2014/main" val="20001"/>
                    </a:ext>
                  </a:extLst>
                </a:gridCol>
                <a:gridCol w="824967">
                  <a:extLst>
                    <a:ext uri="{9D8B030D-6E8A-4147-A177-3AD203B41FA5}">
                      <a16:colId xmlns:a16="http://schemas.microsoft.com/office/drawing/2014/main" val="20002"/>
                    </a:ext>
                  </a:extLst>
                </a:gridCol>
                <a:gridCol w="1649934">
                  <a:extLst>
                    <a:ext uri="{9D8B030D-6E8A-4147-A177-3AD203B41FA5}">
                      <a16:colId xmlns:a16="http://schemas.microsoft.com/office/drawing/2014/main" val="20003"/>
                    </a:ext>
                  </a:extLst>
                </a:gridCol>
                <a:gridCol w="5774770">
                  <a:extLst>
                    <a:ext uri="{9D8B030D-6E8A-4147-A177-3AD203B41FA5}">
                      <a16:colId xmlns:a16="http://schemas.microsoft.com/office/drawing/2014/main" val="20004"/>
                    </a:ext>
                  </a:extLst>
                </a:gridCol>
              </a:tblGrid>
              <a:tr h="283464">
                <a:tc>
                  <a:txBody>
                    <a:bodyPr/>
                    <a:lstStyle/>
                    <a:p>
                      <a:pPr algn="l"/>
                      <a:r>
                        <a:rPr sz="950" b="1">
                          <a:solidFill>
                            <a:srgbClr val="FFFFFF"/>
                          </a:solidFill>
                        </a:rPr>
                        <a:t>V</a:t>
                      </a:r>
                    </a:p>
                  </a:txBody>
                  <a:tcPr marL="54864" marR="54864" marT="18288" marB="18288" anchor="ctr">
                    <a:solidFill>
                      <a:srgbClr val="1F3A5F"/>
                    </a:solidFill>
                  </a:tcPr>
                </a:tc>
                <a:tc>
                  <a:txBody>
                    <a:bodyPr/>
                    <a:lstStyle/>
                    <a:p>
                      <a:pPr algn="l"/>
                      <a:r>
                        <a:rPr sz="950" b="1">
                          <a:solidFill>
                            <a:srgbClr val="FFFFFF"/>
                          </a:solidFill>
                        </a:rPr>
                        <a:t>Modèle(s)</a:t>
                      </a:r>
                    </a:p>
                  </a:txBody>
                  <a:tcPr marL="54864" marR="54864" marT="18288" marB="18288" anchor="ctr">
                    <a:solidFill>
                      <a:srgbClr val="1F3A5F"/>
                    </a:solidFill>
                  </a:tcPr>
                </a:tc>
                <a:tc>
                  <a:txBody>
                    <a:bodyPr/>
                    <a:lstStyle/>
                    <a:p>
                      <a:pPr algn="l"/>
                      <a:r>
                        <a:rPr sz="950" b="1">
                          <a:solidFill>
                            <a:srgbClr val="FFFFFF"/>
                          </a:solidFill>
                        </a:rPr>
                        <a:t>Sect.</a:t>
                      </a:r>
                    </a:p>
                  </a:txBody>
                  <a:tcPr marL="54864" marR="54864" marT="18288" marB="18288" anchor="ctr">
                    <a:solidFill>
                      <a:srgbClr val="1F3A5F"/>
                    </a:solidFill>
                  </a:tcPr>
                </a:tc>
                <a:tc>
                  <a:txBody>
                    <a:bodyPr/>
                    <a:lstStyle/>
                    <a:p>
                      <a:pPr algn="l"/>
                      <a:r>
                        <a:rPr sz="950" b="1">
                          <a:solidFill>
                            <a:srgbClr val="FFFFFF"/>
                          </a:solidFill>
                        </a:rPr>
                        <a:t>Durée</a:t>
                      </a:r>
                    </a:p>
                  </a:txBody>
                  <a:tcPr marL="54864" marR="54864" marT="18288" marB="18288" anchor="ctr">
                    <a:solidFill>
                      <a:srgbClr val="1F3A5F"/>
                    </a:solidFill>
                  </a:tcPr>
                </a:tc>
                <a:tc>
                  <a:txBody>
                    <a:bodyPr/>
                    <a:lstStyle/>
                    <a:p>
                      <a:pPr algn="l"/>
                      <a:r>
                        <a:rPr sz="950" b="1">
                          <a:solidFill>
                            <a:srgbClr val="FFFFFF"/>
                          </a:solidFill>
                        </a:rPr>
                        <a:t>Résultat clé, ce qu'elle corrigeait</a:t>
                      </a:r>
                    </a:p>
                  </a:txBody>
                  <a:tcPr marL="54864" marR="54864" marT="18288" marB="18288" anchor="ctr">
                    <a:solidFill>
                      <a:srgbClr val="1F3A5F"/>
                    </a:solidFill>
                  </a:tcPr>
                </a:tc>
                <a:extLst>
                  <a:ext uri="{0D108BD9-81ED-4DB2-BD59-A6C34878D82A}">
                    <a16:rowId xmlns:a16="http://schemas.microsoft.com/office/drawing/2014/main" val="10000"/>
                  </a:ext>
                </a:extLst>
              </a:tr>
              <a:tr h="283464">
                <a:tc>
                  <a:txBody>
                    <a:bodyPr/>
                    <a:lstStyle/>
                    <a:p>
                      <a:pPr algn="l"/>
                      <a:r>
                        <a:rPr sz="950" b="0">
                          <a:solidFill>
                            <a:srgbClr val="222222"/>
                          </a:solidFill>
                        </a:rPr>
                        <a:t>V1</a:t>
                      </a:r>
                    </a:p>
                  </a:txBody>
                  <a:tcPr marL="54864" marR="54864" marT="18288" marB="18288" anchor="ctr">
                    <a:solidFill>
                      <a:srgbClr val="FFFFFF"/>
                    </a:solidFill>
                  </a:tcPr>
                </a:tc>
                <a:tc>
                  <a:txBody>
                    <a:bodyPr/>
                    <a:lstStyle/>
                    <a:p>
                      <a:pPr algn="l"/>
                      <a:r>
                        <a:rPr sz="950" b="0">
                          <a:solidFill>
                            <a:srgbClr val="222222"/>
                          </a:solidFill>
                        </a:rPr>
                        <a:t>Ministral 3B</a:t>
                      </a:r>
                    </a:p>
                  </a:txBody>
                  <a:tcPr marL="54864" marR="54864" marT="18288" marB="18288" anchor="ctr">
                    <a:solidFill>
                      <a:srgbClr val="FFFFFF"/>
                    </a:solidFill>
                  </a:tcPr>
                </a:tc>
                <a:tc>
                  <a:txBody>
                    <a:bodyPr/>
                    <a:lstStyle/>
                    <a:p>
                      <a:pPr algn="l"/>
                      <a:r>
                        <a:rPr sz="950" b="0">
                          <a:solidFill>
                            <a:srgbClr val="222222"/>
                          </a:solidFill>
                        </a:rPr>
                        <a:t>3</a:t>
                      </a:r>
                    </a:p>
                  </a:txBody>
                  <a:tcPr marL="54864" marR="54864" marT="18288" marB="18288" anchor="ctr">
                    <a:solidFill>
                      <a:srgbClr val="FFFFFF"/>
                    </a:solidFill>
                  </a:tcPr>
                </a:tc>
                <a:tc>
                  <a:txBody>
                    <a:bodyPr/>
                    <a:lstStyle/>
                    <a:p>
                      <a:pPr algn="l"/>
                      <a:r>
                        <a:rPr sz="950" b="0">
                          <a:solidFill>
                            <a:srgbClr val="222222"/>
                          </a:solidFill>
                        </a:rPr>
                        <a:t>20 min</a:t>
                      </a:r>
                    </a:p>
                  </a:txBody>
                  <a:tcPr marL="54864" marR="54864" marT="18288" marB="18288" anchor="ctr">
                    <a:solidFill>
                      <a:srgbClr val="FFFFFF"/>
                    </a:solidFill>
                  </a:tcPr>
                </a:tc>
                <a:tc>
                  <a:txBody>
                    <a:bodyPr/>
                    <a:lstStyle/>
                    <a:p>
                      <a:pPr algn="l"/>
                      <a:r>
                        <a:rPr sz="950" b="0">
                          <a:solidFill>
                            <a:srgbClr val="222222"/>
                          </a:solidFill>
                        </a:rPr>
                        <a:t>1er jet : orchestrateur et workers</a:t>
                      </a:r>
                    </a:p>
                  </a:txBody>
                  <a:tcPr marL="54864" marR="54864" marT="18288" marB="18288" anchor="ctr">
                    <a:solidFill>
                      <a:srgbClr val="FFFFFF"/>
                    </a:solidFill>
                  </a:tcPr>
                </a:tc>
                <a:extLst>
                  <a:ext uri="{0D108BD9-81ED-4DB2-BD59-A6C34878D82A}">
                    <a16:rowId xmlns:a16="http://schemas.microsoft.com/office/drawing/2014/main" val="10001"/>
                  </a:ext>
                </a:extLst>
              </a:tr>
              <a:tr h="283464">
                <a:tc>
                  <a:txBody>
                    <a:bodyPr/>
                    <a:lstStyle/>
                    <a:p>
                      <a:pPr algn="l"/>
                      <a:r>
                        <a:rPr sz="950" b="0">
                          <a:solidFill>
                            <a:srgbClr val="222222"/>
                          </a:solidFill>
                        </a:rPr>
                        <a:t>V2</a:t>
                      </a:r>
                    </a:p>
                  </a:txBody>
                  <a:tcPr marL="54864" marR="54864" marT="18288" marB="18288" anchor="ctr">
                    <a:solidFill>
                      <a:srgbClr val="F4F6F9"/>
                    </a:solidFill>
                  </a:tcPr>
                </a:tc>
                <a:tc>
                  <a:txBody>
                    <a:bodyPr/>
                    <a:lstStyle/>
                    <a:p>
                      <a:pPr algn="l"/>
                      <a:r>
                        <a:rPr sz="950" b="0">
                          <a:solidFill>
                            <a:srgbClr val="222222"/>
                          </a:solidFill>
                        </a:rPr>
                        <a:t>Ministral 3B</a:t>
                      </a:r>
                    </a:p>
                  </a:txBody>
                  <a:tcPr marL="54864" marR="54864" marT="18288" marB="18288" anchor="ctr">
                    <a:solidFill>
                      <a:srgbClr val="F4F6F9"/>
                    </a:solidFill>
                  </a:tcPr>
                </a:tc>
                <a:tc>
                  <a:txBody>
                    <a:bodyPr/>
                    <a:lstStyle/>
                    <a:p>
                      <a:pPr algn="l"/>
                      <a:r>
                        <a:rPr sz="950" b="0">
                          <a:solidFill>
                            <a:srgbClr val="222222"/>
                          </a:solidFill>
                        </a:rPr>
                        <a:t>3</a:t>
                      </a:r>
                    </a:p>
                  </a:txBody>
                  <a:tcPr marL="54864" marR="54864" marT="18288" marB="18288" anchor="ctr">
                    <a:solidFill>
                      <a:srgbClr val="F4F6F9"/>
                    </a:solidFill>
                  </a:tcPr>
                </a:tc>
                <a:tc>
                  <a:txBody>
                    <a:bodyPr/>
                    <a:lstStyle/>
                    <a:p>
                      <a:pPr algn="l"/>
                      <a:r>
                        <a:rPr sz="950" b="0">
                          <a:solidFill>
                            <a:srgbClr val="222222"/>
                          </a:solidFill>
                        </a:rPr>
                        <a:t>26 min</a:t>
                      </a:r>
                    </a:p>
                  </a:txBody>
                  <a:tcPr marL="54864" marR="54864" marT="18288" marB="18288" anchor="ctr">
                    <a:solidFill>
                      <a:srgbClr val="F4F6F9"/>
                    </a:solidFill>
                  </a:tcPr>
                </a:tc>
                <a:tc>
                  <a:txBody>
                    <a:bodyPr/>
                    <a:lstStyle/>
                    <a:p>
                      <a:pPr algn="l"/>
                      <a:r>
                        <a:rPr sz="950" b="0">
                          <a:solidFill>
                            <a:srgbClr val="222222"/>
                          </a:solidFill>
                        </a:rPr>
                        <a:t>multi-agents ; bug texte brut</a:t>
                      </a:r>
                    </a:p>
                  </a:txBody>
                  <a:tcPr marL="54864" marR="54864" marT="18288" marB="18288" anchor="ctr">
                    <a:solidFill>
                      <a:srgbClr val="F4F6F9"/>
                    </a:solidFill>
                  </a:tcPr>
                </a:tc>
                <a:extLst>
                  <a:ext uri="{0D108BD9-81ED-4DB2-BD59-A6C34878D82A}">
                    <a16:rowId xmlns:a16="http://schemas.microsoft.com/office/drawing/2014/main" val="10002"/>
                  </a:ext>
                </a:extLst>
              </a:tr>
              <a:tr h="283464">
                <a:tc>
                  <a:txBody>
                    <a:bodyPr/>
                    <a:lstStyle/>
                    <a:p>
                      <a:pPr algn="l"/>
                      <a:r>
                        <a:rPr sz="950" b="0">
                          <a:solidFill>
                            <a:srgbClr val="222222"/>
                          </a:solidFill>
                        </a:rPr>
                        <a:t>V3</a:t>
                      </a:r>
                    </a:p>
                  </a:txBody>
                  <a:tcPr marL="54864" marR="54864" marT="18288" marB="18288" anchor="ctr">
                    <a:solidFill>
                      <a:srgbClr val="FFFFFF"/>
                    </a:solidFill>
                  </a:tcPr>
                </a:tc>
                <a:tc>
                  <a:txBody>
                    <a:bodyPr/>
                    <a:lstStyle/>
                    <a:p>
                      <a:pPr algn="l"/>
                      <a:r>
                        <a:rPr sz="950" b="0">
                          <a:solidFill>
                            <a:srgbClr val="222222"/>
                          </a:solidFill>
                        </a:rPr>
                        <a:t>Ministral 3B</a:t>
                      </a:r>
                    </a:p>
                  </a:txBody>
                  <a:tcPr marL="54864" marR="54864" marT="18288" marB="18288" anchor="ctr">
                    <a:solidFill>
                      <a:srgbClr val="FFFFFF"/>
                    </a:solidFill>
                  </a:tcPr>
                </a:tc>
                <a:tc>
                  <a:txBody>
                    <a:bodyPr/>
                    <a:lstStyle/>
                    <a:p>
                      <a:pPr algn="l"/>
                      <a:r>
                        <a:rPr sz="950" b="0">
                          <a:solidFill>
                            <a:srgbClr val="222222"/>
                          </a:solidFill>
                        </a:rPr>
                        <a:t>4</a:t>
                      </a:r>
                    </a:p>
                  </a:txBody>
                  <a:tcPr marL="54864" marR="54864" marT="18288" marB="18288" anchor="ctr">
                    <a:solidFill>
                      <a:srgbClr val="FFFFFF"/>
                    </a:solidFill>
                  </a:tcPr>
                </a:tc>
                <a:tc>
                  <a:txBody>
                    <a:bodyPr/>
                    <a:lstStyle/>
                    <a:p>
                      <a:pPr algn="l"/>
                      <a:r>
                        <a:rPr sz="950" b="0">
                          <a:solidFill>
                            <a:srgbClr val="222222"/>
                          </a:solidFill>
                        </a:rPr>
                        <a:t>76 min</a:t>
                      </a:r>
                    </a:p>
                  </a:txBody>
                  <a:tcPr marL="54864" marR="54864" marT="18288" marB="18288" anchor="ctr">
                    <a:solidFill>
                      <a:srgbClr val="FFFFFF"/>
                    </a:solidFill>
                  </a:tcPr>
                </a:tc>
                <a:tc>
                  <a:txBody>
                    <a:bodyPr/>
                    <a:lstStyle/>
                    <a:p>
                      <a:pPr algn="l"/>
                      <a:r>
                        <a:rPr sz="950" b="0">
                          <a:solidFill>
                            <a:srgbClr val="222222"/>
                          </a:solidFill>
                        </a:rPr>
                        <a:t>texte brut OK ; tour de table mal placé</a:t>
                      </a:r>
                    </a:p>
                  </a:txBody>
                  <a:tcPr marL="54864" marR="54864" marT="18288" marB="18288" anchor="ctr">
                    <a:solidFill>
                      <a:srgbClr val="FFFFFF"/>
                    </a:solidFill>
                  </a:tcPr>
                </a:tc>
                <a:extLst>
                  <a:ext uri="{0D108BD9-81ED-4DB2-BD59-A6C34878D82A}">
                    <a16:rowId xmlns:a16="http://schemas.microsoft.com/office/drawing/2014/main" val="10003"/>
                  </a:ext>
                </a:extLst>
              </a:tr>
              <a:tr h="283464">
                <a:tc>
                  <a:txBody>
                    <a:bodyPr/>
                    <a:lstStyle/>
                    <a:p>
                      <a:pPr algn="l"/>
                      <a:r>
                        <a:rPr sz="950" b="0">
                          <a:solidFill>
                            <a:srgbClr val="222222"/>
                          </a:solidFill>
                        </a:rPr>
                        <a:t>V4</a:t>
                      </a:r>
                    </a:p>
                  </a:txBody>
                  <a:tcPr marL="54864" marR="54864" marT="18288" marB="18288" anchor="ctr">
                    <a:solidFill>
                      <a:srgbClr val="F4F6F9"/>
                    </a:solidFill>
                  </a:tcPr>
                </a:tc>
                <a:tc>
                  <a:txBody>
                    <a:bodyPr/>
                    <a:lstStyle/>
                    <a:p>
                      <a:pPr algn="l"/>
                      <a:r>
                        <a:rPr sz="950" b="0">
                          <a:solidFill>
                            <a:srgbClr val="222222"/>
                          </a:solidFill>
                        </a:rPr>
                        <a:t>Ministral 3B</a:t>
                      </a:r>
                    </a:p>
                  </a:txBody>
                  <a:tcPr marL="54864" marR="54864" marT="18288" marB="18288" anchor="ctr">
                    <a:solidFill>
                      <a:srgbClr val="F4F6F9"/>
                    </a:solidFill>
                  </a:tcPr>
                </a:tc>
                <a:tc>
                  <a:txBody>
                    <a:bodyPr/>
                    <a:lstStyle/>
                    <a:p>
                      <a:pPr algn="l"/>
                      <a:r>
                        <a:rPr sz="950" b="0">
                          <a:solidFill>
                            <a:srgbClr val="222222"/>
                          </a:solidFill>
                        </a:rPr>
                        <a:t>4</a:t>
                      </a:r>
                    </a:p>
                  </a:txBody>
                  <a:tcPr marL="54864" marR="54864" marT="18288" marB="18288" anchor="ctr">
                    <a:solidFill>
                      <a:srgbClr val="F4F6F9"/>
                    </a:solidFill>
                  </a:tcPr>
                </a:tc>
                <a:tc>
                  <a:txBody>
                    <a:bodyPr/>
                    <a:lstStyle/>
                    <a:p>
                      <a:pPr algn="l"/>
                      <a:r>
                        <a:rPr sz="950" b="0">
                          <a:solidFill>
                            <a:srgbClr val="222222"/>
                          </a:solidFill>
                        </a:rPr>
                        <a:t>69 min</a:t>
                      </a:r>
                    </a:p>
                  </a:txBody>
                  <a:tcPr marL="54864" marR="54864" marT="18288" marB="18288" anchor="ctr">
                    <a:solidFill>
                      <a:srgbClr val="F4F6F9"/>
                    </a:solidFill>
                  </a:tcPr>
                </a:tc>
                <a:tc>
                  <a:txBody>
                    <a:bodyPr/>
                    <a:lstStyle/>
                    <a:p>
                      <a:pPr algn="l"/>
                      <a:r>
                        <a:rPr sz="950" b="0">
                          <a:solidFill>
                            <a:srgbClr val="222222"/>
                          </a:solidFill>
                        </a:rPr>
                        <a:t>tables décisions/actions ; speaker mapping</a:t>
                      </a:r>
                    </a:p>
                  </a:txBody>
                  <a:tcPr marL="54864" marR="54864" marT="18288" marB="18288" anchor="ctr">
                    <a:solidFill>
                      <a:srgbClr val="F4F6F9"/>
                    </a:solidFill>
                  </a:tcPr>
                </a:tc>
                <a:extLst>
                  <a:ext uri="{0D108BD9-81ED-4DB2-BD59-A6C34878D82A}">
                    <a16:rowId xmlns:a16="http://schemas.microsoft.com/office/drawing/2014/main" val="10004"/>
                  </a:ext>
                </a:extLst>
              </a:tr>
              <a:tr h="283464">
                <a:tc>
                  <a:txBody>
                    <a:bodyPr/>
                    <a:lstStyle/>
                    <a:p>
                      <a:pPr algn="l"/>
                      <a:r>
                        <a:rPr sz="950" b="0">
                          <a:solidFill>
                            <a:srgbClr val="222222"/>
                          </a:solidFill>
                        </a:rPr>
                        <a:t>V5</a:t>
                      </a:r>
                    </a:p>
                  </a:txBody>
                  <a:tcPr marL="54864" marR="54864" marT="18288" marB="18288" anchor="ctr">
                    <a:solidFill>
                      <a:srgbClr val="FFFFFF"/>
                    </a:solidFill>
                  </a:tcPr>
                </a:tc>
                <a:tc>
                  <a:txBody>
                    <a:bodyPr/>
                    <a:lstStyle/>
                    <a:p>
                      <a:pPr algn="l"/>
                      <a:r>
                        <a:rPr sz="950" b="0">
                          <a:solidFill>
                            <a:srgbClr val="222222"/>
                          </a:solidFill>
                        </a:rPr>
                        <a:t>Qwen7B+draft</a:t>
                      </a:r>
                    </a:p>
                  </a:txBody>
                  <a:tcPr marL="54864" marR="54864" marT="18288" marB="18288" anchor="ctr">
                    <a:solidFill>
                      <a:srgbClr val="FFFFFF"/>
                    </a:solidFill>
                  </a:tcPr>
                </a:tc>
                <a:tc>
                  <a:txBody>
                    <a:bodyPr/>
                    <a:lstStyle/>
                    <a:p>
                      <a:pPr algn="l"/>
                      <a:r>
                        <a:rPr sz="950" b="0">
                          <a:solidFill>
                            <a:srgbClr val="222222"/>
                          </a:solidFill>
                        </a:rPr>
                        <a:t>10</a:t>
                      </a:r>
                    </a:p>
                  </a:txBody>
                  <a:tcPr marL="54864" marR="54864" marT="18288" marB="18288" anchor="ctr">
                    <a:solidFill>
                      <a:srgbClr val="FFFFFF"/>
                    </a:solidFill>
                  </a:tcPr>
                </a:tc>
                <a:tc>
                  <a:txBody>
                    <a:bodyPr/>
                    <a:lstStyle/>
                    <a:p>
                      <a:pPr algn="l"/>
                      <a:r>
                        <a:rPr sz="950" b="1">
                          <a:solidFill>
                            <a:srgbClr val="9E2B25"/>
                          </a:solidFill>
                        </a:rPr>
                        <a:t>incomplet</a:t>
                      </a:r>
                    </a:p>
                  </a:txBody>
                  <a:tcPr marL="54864" marR="54864" marT="18288" marB="18288" anchor="ctr">
                    <a:solidFill>
                      <a:srgbClr val="FFFFFF"/>
                    </a:solidFill>
                  </a:tcPr>
                </a:tc>
                <a:tc>
                  <a:txBody>
                    <a:bodyPr/>
                    <a:lstStyle/>
                    <a:p>
                      <a:pPr algn="l"/>
                      <a:r>
                        <a:rPr sz="950" b="0">
                          <a:solidFill>
                            <a:srgbClr val="222222"/>
                          </a:solidFill>
                        </a:rPr>
                        <a:t>test spec decoding, run interrompu</a:t>
                      </a:r>
                    </a:p>
                  </a:txBody>
                  <a:tcPr marL="54864" marR="54864" marT="18288" marB="18288" anchor="ctr">
                    <a:solidFill>
                      <a:srgbClr val="FFFFFF"/>
                    </a:solidFill>
                  </a:tcPr>
                </a:tc>
                <a:extLst>
                  <a:ext uri="{0D108BD9-81ED-4DB2-BD59-A6C34878D82A}">
                    <a16:rowId xmlns:a16="http://schemas.microsoft.com/office/drawing/2014/main" val="10005"/>
                  </a:ext>
                </a:extLst>
              </a:tr>
              <a:tr h="283464">
                <a:tc>
                  <a:txBody>
                    <a:bodyPr/>
                    <a:lstStyle/>
                    <a:p>
                      <a:pPr algn="l"/>
                      <a:r>
                        <a:rPr sz="950" b="0">
                          <a:solidFill>
                            <a:srgbClr val="222222"/>
                          </a:solidFill>
                        </a:rPr>
                        <a:t>V6</a:t>
                      </a:r>
                    </a:p>
                  </a:txBody>
                  <a:tcPr marL="54864" marR="54864" marT="18288" marB="18288" anchor="ctr">
                    <a:solidFill>
                      <a:srgbClr val="F4F6F9"/>
                    </a:solidFill>
                  </a:tcPr>
                </a:tc>
                <a:tc>
                  <a:txBody>
                    <a:bodyPr/>
                    <a:lstStyle/>
                    <a:p>
                      <a:pPr algn="l"/>
                      <a:r>
                        <a:rPr sz="950" b="0">
                          <a:solidFill>
                            <a:srgbClr val="222222"/>
                          </a:solidFill>
                        </a:rPr>
                        <a:t>Qwen 7B</a:t>
                      </a:r>
                    </a:p>
                  </a:txBody>
                  <a:tcPr marL="54864" marR="54864" marT="18288" marB="18288" anchor="ctr">
                    <a:solidFill>
                      <a:srgbClr val="F4F6F9"/>
                    </a:solidFill>
                  </a:tcPr>
                </a:tc>
                <a:tc>
                  <a:txBody>
                    <a:bodyPr/>
                    <a:lstStyle/>
                    <a:p>
                      <a:pPr algn="l"/>
                      <a:r>
                        <a:rPr sz="950" b="0">
                          <a:solidFill>
                            <a:srgbClr val="222222"/>
                          </a:solidFill>
                        </a:rPr>
                        <a:t>8</a:t>
                      </a:r>
                    </a:p>
                  </a:txBody>
                  <a:tcPr marL="54864" marR="54864" marT="18288" marB="18288" anchor="ctr">
                    <a:solidFill>
                      <a:srgbClr val="F4F6F9"/>
                    </a:solidFill>
                  </a:tcPr>
                </a:tc>
                <a:tc>
                  <a:txBody>
                    <a:bodyPr/>
                    <a:lstStyle/>
                    <a:p>
                      <a:pPr algn="l"/>
                      <a:r>
                        <a:rPr sz="950" b="0">
                          <a:solidFill>
                            <a:srgbClr val="222222"/>
                          </a:solidFill>
                        </a:rPr>
                        <a:t>146 min</a:t>
                      </a:r>
                    </a:p>
                  </a:txBody>
                  <a:tcPr marL="54864" marR="54864" marT="18288" marB="18288" anchor="ctr">
                    <a:solidFill>
                      <a:srgbClr val="F4F6F9"/>
                    </a:solidFill>
                  </a:tcPr>
                </a:tc>
                <a:tc>
                  <a:txBody>
                    <a:bodyPr/>
                    <a:lstStyle/>
                    <a:p>
                      <a:pPr algn="l"/>
                      <a:r>
                        <a:rPr sz="950" b="0">
                          <a:solidFill>
                            <a:srgbClr val="222222"/>
                          </a:solidFill>
                        </a:rPr>
                        <a:t>prose en hausse mais détail PPT perdu</a:t>
                      </a:r>
                    </a:p>
                  </a:txBody>
                  <a:tcPr marL="54864" marR="54864" marT="18288" marB="18288" anchor="ctr">
                    <a:solidFill>
                      <a:srgbClr val="F4F6F9"/>
                    </a:solidFill>
                  </a:tcPr>
                </a:tc>
                <a:extLst>
                  <a:ext uri="{0D108BD9-81ED-4DB2-BD59-A6C34878D82A}">
                    <a16:rowId xmlns:a16="http://schemas.microsoft.com/office/drawing/2014/main" val="10006"/>
                  </a:ext>
                </a:extLst>
              </a:tr>
              <a:tr h="283464">
                <a:tc>
                  <a:txBody>
                    <a:bodyPr/>
                    <a:lstStyle/>
                    <a:p>
                      <a:pPr algn="l"/>
                      <a:r>
                        <a:rPr sz="950" b="0">
                          <a:solidFill>
                            <a:srgbClr val="222222"/>
                          </a:solidFill>
                        </a:rPr>
                        <a:t>V7</a:t>
                      </a:r>
                    </a:p>
                  </a:txBody>
                  <a:tcPr marL="54864" marR="54864" marT="18288" marB="18288" anchor="ctr">
                    <a:solidFill>
                      <a:srgbClr val="FFFFFF"/>
                    </a:solidFill>
                  </a:tcPr>
                </a:tc>
                <a:tc>
                  <a:txBody>
                    <a:bodyPr/>
                    <a:lstStyle/>
                    <a:p>
                      <a:pPr algn="l"/>
                      <a:r>
                        <a:rPr sz="950" b="0">
                          <a:solidFill>
                            <a:srgbClr val="222222"/>
                          </a:solidFill>
                        </a:rPr>
                        <a:t>Ministral 3B</a:t>
                      </a:r>
                    </a:p>
                  </a:txBody>
                  <a:tcPr marL="54864" marR="54864" marT="18288" marB="18288" anchor="ctr">
                    <a:solidFill>
                      <a:srgbClr val="FFFFFF"/>
                    </a:solidFill>
                  </a:tcPr>
                </a:tc>
                <a:tc>
                  <a:txBody>
                    <a:bodyPr/>
                    <a:lstStyle/>
                    <a:p>
                      <a:pPr algn="l"/>
                      <a:r>
                        <a:rPr sz="950" b="0">
                          <a:solidFill>
                            <a:srgbClr val="222222"/>
                          </a:solidFill>
                        </a:rPr>
                        <a:t>5</a:t>
                      </a:r>
                    </a:p>
                  </a:txBody>
                  <a:tcPr marL="54864" marR="54864" marT="18288" marB="18288" anchor="ctr">
                    <a:solidFill>
                      <a:srgbClr val="FFFFFF"/>
                    </a:solidFill>
                  </a:tcPr>
                </a:tc>
                <a:tc>
                  <a:txBody>
                    <a:bodyPr/>
                    <a:lstStyle/>
                    <a:p>
                      <a:pPr algn="l"/>
                      <a:r>
                        <a:rPr sz="950" b="0">
                          <a:solidFill>
                            <a:srgbClr val="222222"/>
                          </a:solidFill>
                        </a:rPr>
                        <a:t>182 min</a:t>
                      </a:r>
                    </a:p>
                  </a:txBody>
                  <a:tcPr marL="54864" marR="54864" marT="18288" marB="18288" anchor="ctr">
                    <a:solidFill>
                      <a:srgbClr val="FFFFFF"/>
                    </a:solidFill>
                  </a:tcPr>
                </a:tc>
                <a:tc>
                  <a:txBody>
                    <a:bodyPr/>
                    <a:lstStyle/>
                    <a:p>
                      <a:pPr algn="l"/>
                      <a:r>
                        <a:rPr sz="950" b="1">
                          <a:solidFill>
                            <a:srgbClr val="9E2B25"/>
                          </a:solidFill>
                        </a:rPr>
                        <a:t>worker planté (JSON vide), d'où robustesse</a:t>
                      </a:r>
                    </a:p>
                  </a:txBody>
                  <a:tcPr marL="54864" marR="54864" marT="18288" marB="18288" anchor="ctr">
                    <a:solidFill>
                      <a:srgbClr val="FFFFFF"/>
                    </a:solidFill>
                  </a:tcPr>
                </a:tc>
                <a:extLst>
                  <a:ext uri="{0D108BD9-81ED-4DB2-BD59-A6C34878D82A}">
                    <a16:rowId xmlns:a16="http://schemas.microsoft.com/office/drawing/2014/main" val="10007"/>
                  </a:ext>
                </a:extLst>
              </a:tr>
              <a:tr h="283464">
                <a:tc>
                  <a:txBody>
                    <a:bodyPr/>
                    <a:lstStyle/>
                    <a:p>
                      <a:pPr algn="l"/>
                      <a:r>
                        <a:rPr sz="950" b="0">
                          <a:solidFill>
                            <a:srgbClr val="222222"/>
                          </a:solidFill>
                        </a:rPr>
                        <a:t>V8</a:t>
                      </a:r>
                    </a:p>
                  </a:txBody>
                  <a:tcPr marL="54864" marR="54864" marT="18288" marB="18288" anchor="ctr">
                    <a:solidFill>
                      <a:srgbClr val="F4F6F9"/>
                    </a:solidFill>
                  </a:tcPr>
                </a:tc>
                <a:tc>
                  <a:txBody>
                    <a:bodyPr/>
                    <a:lstStyle/>
                    <a:p>
                      <a:pPr algn="l"/>
                      <a:r>
                        <a:rPr sz="950" b="0">
                          <a:solidFill>
                            <a:srgbClr val="222222"/>
                          </a:solidFill>
                        </a:rPr>
                        <a:t>Ministral 3B</a:t>
                      </a:r>
                    </a:p>
                  </a:txBody>
                  <a:tcPr marL="54864" marR="54864" marT="18288" marB="18288" anchor="ctr">
                    <a:solidFill>
                      <a:srgbClr val="F4F6F9"/>
                    </a:solidFill>
                  </a:tcPr>
                </a:tc>
                <a:tc>
                  <a:txBody>
                    <a:bodyPr/>
                    <a:lstStyle/>
                    <a:p>
                      <a:pPr algn="l"/>
                      <a:r>
                        <a:rPr sz="950" b="0">
                          <a:solidFill>
                            <a:srgbClr val="222222"/>
                          </a:solidFill>
                        </a:rPr>
                        <a:t>6</a:t>
                      </a:r>
                    </a:p>
                  </a:txBody>
                  <a:tcPr marL="54864" marR="54864" marT="18288" marB="18288" anchor="ctr">
                    <a:solidFill>
                      <a:srgbClr val="F4F6F9"/>
                    </a:solidFill>
                  </a:tcPr>
                </a:tc>
                <a:tc>
                  <a:txBody>
                    <a:bodyPr/>
                    <a:lstStyle/>
                    <a:p>
                      <a:pPr algn="l"/>
                      <a:r>
                        <a:rPr sz="950" b="0">
                          <a:solidFill>
                            <a:srgbClr val="222222"/>
                          </a:solidFill>
                        </a:rPr>
                        <a:t>125 min</a:t>
                      </a:r>
                    </a:p>
                  </a:txBody>
                  <a:tcPr marL="54864" marR="54864" marT="18288" marB="18288" anchor="ctr">
                    <a:solidFill>
                      <a:srgbClr val="F4F6F9"/>
                    </a:solidFill>
                  </a:tcPr>
                </a:tc>
                <a:tc>
                  <a:txBody>
                    <a:bodyPr/>
                    <a:lstStyle/>
                    <a:p>
                      <a:pPr algn="l"/>
                      <a:r>
                        <a:rPr sz="950" b="0">
                          <a:solidFill>
                            <a:srgbClr val="222222"/>
                          </a:solidFill>
                        </a:rPr>
                        <a:t>robustesse + juges few-shot ; extraction fraîche</a:t>
                      </a:r>
                    </a:p>
                  </a:txBody>
                  <a:tcPr marL="54864" marR="54864" marT="18288" marB="18288" anchor="ctr">
                    <a:solidFill>
                      <a:srgbClr val="F4F6F9"/>
                    </a:solidFill>
                  </a:tcPr>
                </a:tc>
                <a:extLst>
                  <a:ext uri="{0D108BD9-81ED-4DB2-BD59-A6C34878D82A}">
                    <a16:rowId xmlns:a16="http://schemas.microsoft.com/office/drawing/2014/main" val="10008"/>
                  </a:ext>
                </a:extLst>
              </a:tr>
              <a:tr h="283464">
                <a:tc>
                  <a:txBody>
                    <a:bodyPr/>
                    <a:lstStyle/>
                    <a:p>
                      <a:pPr algn="l"/>
                      <a:r>
                        <a:rPr sz="950" b="0">
                          <a:solidFill>
                            <a:srgbClr val="222222"/>
                          </a:solidFill>
                        </a:rPr>
                        <a:t>V9</a:t>
                      </a:r>
                    </a:p>
                  </a:txBody>
                  <a:tcPr marL="54864" marR="54864" marT="18288" marB="18288" anchor="ctr">
                    <a:solidFill>
                      <a:srgbClr val="FFFFFF"/>
                    </a:solidFill>
                  </a:tcPr>
                </a:tc>
                <a:tc>
                  <a:txBody>
                    <a:bodyPr/>
                    <a:lstStyle/>
                    <a:p>
                      <a:pPr algn="l"/>
                      <a:r>
                        <a:rPr sz="950" b="0">
                          <a:solidFill>
                            <a:srgbClr val="222222"/>
                          </a:solidFill>
                        </a:rPr>
                        <a:t>Hybride 7B+3B</a:t>
                      </a:r>
                    </a:p>
                  </a:txBody>
                  <a:tcPr marL="54864" marR="54864" marT="18288" marB="18288" anchor="ctr">
                    <a:solidFill>
                      <a:srgbClr val="FFFFFF"/>
                    </a:solidFill>
                  </a:tcPr>
                </a:tc>
                <a:tc>
                  <a:txBody>
                    <a:bodyPr/>
                    <a:lstStyle/>
                    <a:p>
                      <a:pPr algn="l"/>
                      <a:r>
                        <a:rPr sz="950" b="0">
                          <a:solidFill>
                            <a:srgbClr val="222222"/>
                          </a:solidFill>
                        </a:rPr>
                        <a:t>7</a:t>
                      </a:r>
                    </a:p>
                  </a:txBody>
                  <a:tcPr marL="54864" marR="54864" marT="18288" marB="18288" anchor="ctr">
                    <a:solidFill>
                      <a:srgbClr val="FFFFFF"/>
                    </a:solidFill>
                  </a:tcPr>
                </a:tc>
                <a:tc>
                  <a:txBody>
                    <a:bodyPr/>
                    <a:lstStyle/>
                    <a:p>
                      <a:pPr algn="l"/>
                      <a:r>
                        <a:rPr sz="950" b="0">
                          <a:solidFill>
                            <a:srgbClr val="222222"/>
                          </a:solidFill>
                        </a:rPr>
                        <a:t>112 min</a:t>
                      </a:r>
                    </a:p>
                  </a:txBody>
                  <a:tcPr marL="54864" marR="54864" marT="18288" marB="18288" anchor="ctr">
                    <a:solidFill>
                      <a:srgbClr val="FFFFFF"/>
                    </a:solidFill>
                  </a:tcPr>
                </a:tc>
                <a:tc>
                  <a:txBody>
                    <a:bodyPr/>
                    <a:lstStyle/>
                    <a:p>
                      <a:pPr algn="l"/>
                      <a:r>
                        <a:rPr sz="950" b="0">
                          <a:solidFill>
                            <a:srgbClr val="222222"/>
                          </a:solidFill>
                        </a:rPr>
                        <a:t>routage par agent (contexte 7B, reste 3B)</a:t>
                      </a:r>
                    </a:p>
                  </a:txBody>
                  <a:tcPr marL="54864" marR="54864" marT="18288" marB="18288" anchor="ctr">
                    <a:solidFill>
                      <a:srgbClr val="FFFFFF"/>
                    </a:solidFill>
                  </a:tcPr>
                </a:tc>
                <a:extLst>
                  <a:ext uri="{0D108BD9-81ED-4DB2-BD59-A6C34878D82A}">
                    <a16:rowId xmlns:a16="http://schemas.microsoft.com/office/drawing/2014/main" val="10009"/>
                  </a:ext>
                </a:extLst>
              </a:tr>
              <a:tr h="283464">
                <a:tc>
                  <a:txBody>
                    <a:bodyPr/>
                    <a:lstStyle/>
                    <a:p>
                      <a:pPr algn="l"/>
                      <a:r>
                        <a:rPr sz="950" b="0">
                          <a:solidFill>
                            <a:srgbClr val="222222"/>
                          </a:solidFill>
                        </a:rPr>
                        <a:t>V10</a:t>
                      </a:r>
                    </a:p>
                  </a:txBody>
                  <a:tcPr marL="54864" marR="54864" marT="18288" marB="18288" anchor="ctr">
                    <a:solidFill>
                      <a:srgbClr val="F4F6F9"/>
                    </a:solidFill>
                  </a:tcPr>
                </a:tc>
                <a:tc>
                  <a:txBody>
                    <a:bodyPr/>
                    <a:lstStyle/>
                    <a:p>
                      <a:pPr algn="l"/>
                      <a:r>
                        <a:rPr sz="950" b="0">
                          <a:solidFill>
                            <a:srgbClr val="222222"/>
                          </a:solidFill>
                        </a:rPr>
                        <a:t>Qwen 3B sans diar.</a:t>
                      </a:r>
                    </a:p>
                  </a:txBody>
                  <a:tcPr marL="54864" marR="54864" marT="18288" marB="18288" anchor="ctr">
                    <a:solidFill>
                      <a:srgbClr val="F4F6F9"/>
                    </a:solidFill>
                  </a:tcPr>
                </a:tc>
                <a:tc>
                  <a:txBody>
                    <a:bodyPr/>
                    <a:lstStyle/>
                    <a:p>
                      <a:pPr algn="l"/>
                      <a:r>
                        <a:rPr sz="950" b="0">
                          <a:solidFill>
                            <a:srgbClr val="222222"/>
                          </a:solidFill>
                        </a:rPr>
                        <a:t>10</a:t>
                      </a:r>
                    </a:p>
                  </a:txBody>
                  <a:tcPr marL="54864" marR="54864" marT="18288" marB="18288" anchor="ctr">
                    <a:solidFill>
                      <a:srgbClr val="F4F6F9"/>
                    </a:solidFill>
                  </a:tcPr>
                </a:tc>
                <a:tc>
                  <a:txBody>
                    <a:bodyPr/>
                    <a:lstStyle/>
                    <a:p>
                      <a:pPr algn="l"/>
                      <a:r>
                        <a:rPr sz="950" b="0">
                          <a:solidFill>
                            <a:srgbClr val="222222"/>
                          </a:solidFill>
                        </a:rPr>
                        <a:t>134 min</a:t>
                      </a:r>
                    </a:p>
                  </a:txBody>
                  <a:tcPr marL="54864" marR="54864" marT="18288" marB="18288" anchor="ctr">
                    <a:solidFill>
                      <a:srgbClr val="F4F6F9"/>
                    </a:solidFill>
                  </a:tcPr>
                </a:tc>
                <a:tc>
                  <a:txBody>
                    <a:bodyPr/>
                    <a:lstStyle/>
                    <a:p>
                      <a:pPr algn="l"/>
                      <a:r>
                        <a:rPr sz="950" b="0">
                          <a:solidFill>
                            <a:srgbClr val="222222"/>
                          </a:solidFill>
                        </a:rPr>
                        <a:t>tout-Qwen, transcript sans diarisation</a:t>
                      </a:r>
                    </a:p>
                  </a:txBody>
                  <a:tcPr marL="54864" marR="54864" marT="18288" marB="18288" anchor="ctr">
                    <a:solidFill>
                      <a:srgbClr val="F4F6F9"/>
                    </a:solidFill>
                  </a:tcPr>
                </a:tc>
                <a:extLst>
                  <a:ext uri="{0D108BD9-81ED-4DB2-BD59-A6C34878D82A}">
                    <a16:rowId xmlns:a16="http://schemas.microsoft.com/office/drawing/2014/main" val="10010"/>
                  </a:ext>
                </a:extLst>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6868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wrap="square" lIns="365760" rtlCol="0" anchor="ctr"/>
          <a:lstStyle/>
          <a:p>
            <a:pPr algn="ctr"/>
            <a:r>
              <a:rPr sz="2200" b="1">
                <a:solidFill>
                  <a:srgbClr val="FFFFFF"/>
                </a:solidFill>
                <a:latin typeface="Georgia"/>
              </a:rPr>
              <a:t>2.B  Côte à côte : Ministral 3B (V8) vs Qwen 7B (V6)</a:t>
            </a:r>
          </a:p>
        </p:txBody>
      </p:sp>
      <p:sp>
        <p:nvSpPr>
          <p:cNvPr id="3" name="TextBox 2"/>
          <p:cNvSpPr txBox="1"/>
          <p:nvPr/>
        </p:nvSpPr>
        <p:spPr>
          <a:xfrm>
            <a:off x="457200" y="1005840"/>
            <a:ext cx="11274552" cy="548640"/>
          </a:xfrm>
          <a:prstGeom prst="rect">
            <a:avLst/>
          </a:prstGeom>
          <a:noFill/>
        </p:spPr>
        <p:txBody>
          <a:bodyPr wrap="square">
            <a:spAutoFit/>
          </a:bodyPr>
          <a:lstStyle/>
          <a:p>
            <a:r>
              <a:rPr sz="1200" b="0" i="0">
                <a:solidFill>
                  <a:srgbClr val="222222"/>
                </a:solidFill>
              </a:rPr>
              <a:t>Même section. Le 7B cadre mieux globalement mais perd le détail concret ; le 3B retient l'outil Power et les fichiers PPT.</a:t>
            </a:r>
          </a:p>
        </p:txBody>
      </p:sp>
      <p:sp>
        <p:nvSpPr>
          <p:cNvPr id="4" name="Rounded Rectangle 3"/>
          <p:cNvSpPr/>
          <p:nvPr/>
        </p:nvSpPr>
        <p:spPr>
          <a:xfrm>
            <a:off x="457200" y="1600200"/>
            <a:ext cx="5440680" cy="3017520"/>
          </a:xfrm>
          <a:prstGeom prst="roundRect">
            <a:avLst/>
          </a:prstGeom>
          <a:solidFill>
            <a:srgbClr val="EAF1EC"/>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91440" rIns="137160" rtlCol="0" anchor="ctr"/>
          <a:lstStyle/>
          <a:p>
            <a:pPr algn="ctr"/>
            <a:r>
              <a:rPr sz="1300" b="1">
                <a:solidFill>
                  <a:srgbClr val="2E6B3F"/>
                </a:solidFill>
              </a:rPr>
              <a:t>Ministral 3B (V8) : détail conservé</a:t>
            </a:r>
          </a:p>
          <a:p>
            <a:pPr>
              <a:spcBef>
                <a:spcPts val="400"/>
              </a:spcBef>
            </a:pPr>
            <a:r>
              <a:rPr sz="1050" i="1">
                <a:solidFill>
                  <a:srgbClr val="222222"/>
                </a:solidFill>
              </a:rPr>
              <a:t>« ... automatiser la rédaction de rapports métiers... L'équipe utilisait déjà un outil interne nommé Power... résultats stockés en fichiers PPT contenant principalement des graphiques et peu de texte... »</a:t>
            </a:r>
          </a:p>
          <a:p>
            <a:pPr>
              <a:spcBef>
                <a:spcPts val="400"/>
              </a:spcBef>
            </a:pPr>
            <a:r>
              <a:rPr sz="850">
                <a:solidFill>
                  <a:srgbClr val="2E4D6B"/>
                </a:solidFill>
              </a:rPr>
              <a:t>Source : agentique_v8_ministral3b.md</a:t>
            </a:r>
          </a:p>
        </p:txBody>
      </p:sp>
      <p:sp>
        <p:nvSpPr>
          <p:cNvPr id="5" name="Rounded Rectangle 4"/>
          <p:cNvSpPr/>
          <p:nvPr/>
        </p:nvSpPr>
        <p:spPr>
          <a:xfrm>
            <a:off x="6291072" y="1600200"/>
            <a:ext cx="5440680" cy="3017520"/>
          </a:xfrm>
          <a:prstGeom prst="roundRect">
            <a:avLst/>
          </a:prstGeom>
          <a:solidFill>
            <a:srgbClr val="F7ECEB"/>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91440" rIns="137160" rtlCol="0" anchor="ctr"/>
          <a:lstStyle/>
          <a:p>
            <a:pPr algn="ctr"/>
            <a:r>
              <a:rPr sz="1300" b="1">
                <a:solidFill>
                  <a:srgbClr val="9E2B25"/>
                </a:solidFill>
              </a:rPr>
              <a:t>Qwen 7B (V6) : générique, détail perdu</a:t>
            </a:r>
          </a:p>
          <a:p>
            <a:pPr>
              <a:spcBef>
                <a:spcPts val="400"/>
              </a:spcBef>
            </a:pPr>
            <a:r>
              <a:rPr sz="1050" i="1">
                <a:solidFill>
                  <a:srgbClr val="222222"/>
                </a:solidFill>
              </a:rPr>
              <a:t>« ... présentation des rôles et expertises... Ensuite Maya SAHRAOUI a présenté ses méthodes pour automatiser la rédaction de rapports à partir d'études PowerPoint. »</a:t>
            </a:r>
          </a:p>
          <a:p>
            <a:pPr>
              <a:spcBef>
                <a:spcPts val="400"/>
              </a:spcBef>
            </a:pPr>
            <a:r>
              <a:rPr sz="850">
                <a:solidFill>
                  <a:srgbClr val="2E4D6B"/>
                </a:solidFill>
              </a:rPr>
              <a:t>Source : agentique_v6_qwen7b.md</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6868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wrap="square" lIns="365760" rtlCol="0" anchor="ctr"/>
          <a:lstStyle/>
          <a:p>
            <a:pPr algn="ctr"/>
            <a:r>
              <a:rPr sz="2200" b="1">
                <a:solidFill>
                  <a:srgbClr val="FFFFFF"/>
                </a:solidFill>
                <a:latin typeface="Georgia"/>
              </a:rPr>
              <a:t>2.B  Défauts (même réunion) : pourquoi ces versions sont écartées</a:t>
            </a:r>
          </a:p>
        </p:txBody>
      </p:sp>
      <p:sp>
        <p:nvSpPr>
          <p:cNvPr id="3" name="TextBox 2"/>
          <p:cNvSpPr txBox="1"/>
          <p:nvPr/>
        </p:nvSpPr>
        <p:spPr>
          <a:xfrm>
            <a:off x="457200" y="960120"/>
            <a:ext cx="11274552" cy="548640"/>
          </a:xfrm>
          <a:prstGeom prst="rect">
            <a:avLst/>
          </a:prstGeom>
          <a:noFill/>
        </p:spPr>
        <p:txBody>
          <a:bodyPr wrap="square">
            <a:spAutoFit/>
          </a:bodyPr>
          <a:lstStyle/>
          <a:p>
            <a:r>
              <a:rPr sz="1200" b="1" i="0" dirty="0">
                <a:solidFill>
                  <a:srgbClr val="222222"/>
                </a:solidFill>
              </a:rPr>
              <a:t>V10 (tout-Qwen, sans </a:t>
            </a:r>
            <a:r>
              <a:rPr sz="1200" b="1" i="0" dirty="0" err="1">
                <a:solidFill>
                  <a:srgbClr val="222222"/>
                </a:solidFill>
              </a:rPr>
              <a:t>diarisation</a:t>
            </a:r>
            <a:r>
              <a:rPr sz="1200" b="1" i="0" dirty="0">
                <a:solidFill>
                  <a:srgbClr val="222222"/>
                </a:solidFill>
              </a:rPr>
              <a:t>) : </a:t>
            </a:r>
            <a:r>
              <a:rPr sz="1200" b="1" i="0" dirty="0" err="1">
                <a:solidFill>
                  <a:srgbClr val="222222"/>
                </a:solidFill>
              </a:rPr>
              <a:t>décisions</a:t>
            </a:r>
            <a:r>
              <a:rPr sz="1200" b="1" i="0" dirty="0">
                <a:solidFill>
                  <a:srgbClr val="222222"/>
                </a:solidFill>
              </a:rPr>
              <a:t> </a:t>
            </a:r>
            <a:r>
              <a:rPr sz="1200" b="1" i="0" dirty="0" err="1">
                <a:solidFill>
                  <a:srgbClr val="222222"/>
                </a:solidFill>
              </a:rPr>
              <a:t>fabriquées</a:t>
            </a:r>
            <a:r>
              <a:rPr sz="1200" b="1" i="0" dirty="0">
                <a:solidFill>
                  <a:srgbClr val="222222"/>
                </a:solidFill>
              </a:rPr>
              <a:t> + </a:t>
            </a:r>
            <a:r>
              <a:rPr sz="1200" b="1" i="0" dirty="0" err="1">
                <a:solidFill>
                  <a:srgbClr val="222222"/>
                </a:solidFill>
              </a:rPr>
              <a:t>fuite</a:t>
            </a:r>
            <a:r>
              <a:rPr sz="1200" b="1" i="0" dirty="0">
                <a:solidFill>
                  <a:srgbClr val="222222"/>
                </a:solidFill>
              </a:rPr>
              <a:t> d'un </a:t>
            </a:r>
            <a:r>
              <a:rPr sz="1200" b="1" i="0" dirty="0" err="1">
                <a:solidFill>
                  <a:srgbClr val="222222"/>
                </a:solidFill>
              </a:rPr>
              <a:t>exemple</a:t>
            </a:r>
            <a:r>
              <a:rPr sz="1200" b="1" i="0" dirty="0">
                <a:solidFill>
                  <a:srgbClr val="222222"/>
                </a:solidFill>
              </a:rPr>
              <a:t> du prompt.</a:t>
            </a:r>
          </a:p>
        </p:txBody>
      </p:sp>
      <p:sp>
        <p:nvSpPr>
          <p:cNvPr id="4" name="Rectangle 3"/>
          <p:cNvSpPr/>
          <p:nvPr/>
        </p:nvSpPr>
        <p:spPr>
          <a:xfrm>
            <a:off x="457200" y="1417320"/>
            <a:ext cx="11274552" cy="1600200"/>
          </a:xfrm>
          <a:prstGeom prst="rect">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tlCol="0" anchor="ctr"/>
          <a:lstStyle/>
          <a:p>
            <a:pPr algn="ctr"/>
            <a:r>
              <a:rPr sz="1000" i="1" dirty="0">
                <a:solidFill>
                  <a:srgbClr val="222222"/>
                </a:solidFill>
              </a:rPr>
              <a:t>| 1 | on </a:t>
            </a:r>
            <a:r>
              <a:rPr sz="1000" i="1" dirty="0" err="1">
                <a:solidFill>
                  <a:srgbClr val="222222"/>
                </a:solidFill>
              </a:rPr>
              <a:t>décide</a:t>
            </a:r>
            <a:r>
              <a:rPr sz="1000" i="1" dirty="0">
                <a:solidFill>
                  <a:srgbClr val="222222"/>
                </a:solidFill>
              </a:rPr>
              <a:t> de faire des </a:t>
            </a:r>
            <a:r>
              <a:rPr sz="1000" i="1" dirty="0" err="1">
                <a:solidFill>
                  <a:srgbClr val="222222"/>
                </a:solidFill>
              </a:rPr>
              <a:t>connaissances</a:t>
            </a:r>
            <a:r>
              <a:rPr sz="1000" i="1" dirty="0">
                <a:solidFill>
                  <a:srgbClr val="222222"/>
                </a:solidFill>
              </a:rPr>
              <a:t> | On </a:t>
            </a:r>
            <a:r>
              <a:rPr sz="1000" i="1" dirty="0" err="1">
                <a:solidFill>
                  <a:srgbClr val="222222"/>
                </a:solidFill>
              </a:rPr>
              <a:t>décide</a:t>
            </a:r>
            <a:r>
              <a:rPr sz="1000" i="1" dirty="0">
                <a:solidFill>
                  <a:srgbClr val="222222"/>
                </a:solidFill>
              </a:rPr>
              <a:t> de faire des </a:t>
            </a:r>
            <a:r>
              <a:rPr sz="1000" i="1" dirty="0" err="1">
                <a:solidFill>
                  <a:srgbClr val="222222"/>
                </a:solidFill>
              </a:rPr>
              <a:t>connaissances</a:t>
            </a:r>
            <a:r>
              <a:rPr sz="1000" i="1" dirty="0">
                <a:solidFill>
                  <a:srgbClr val="222222"/>
                </a:solidFill>
              </a:rPr>
              <a:t> |</a:t>
            </a:r>
          </a:p>
          <a:p>
            <a:r>
              <a:rPr sz="1000" i="1" dirty="0">
                <a:solidFill>
                  <a:srgbClr val="222222"/>
                </a:solidFill>
              </a:rPr>
              <a:t>| 2 | on </a:t>
            </a:r>
            <a:r>
              <a:rPr sz="1000" i="1" dirty="0" err="1">
                <a:solidFill>
                  <a:srgbClr val="222222"/>
                </a:solidFill>
              </a:rPr>
              <a:t>décide</a:t>
            </a:r>
            <a:r>
              <a:rPr sz="1000" i="1" dirty="0">
                <a:solidFill>
                  <a:srgbClr val="222222"/>
                </a:solidFill>
              </a:rPr>
              <a:t> de </a:t>
            </a:r>
            <a:r>
              <a:rPr sz="1000" i="1" dirty="0" err="1">
                <a:solidFill>
                  <a:srgbClr val="222222"/>
                </a:solidFill>
              </a:rPr>
              <a:t>gagner</a:t>
            </a:r>
            <a:r>
              <a:rPr sz="1000" i="1" dirty="0">
                <a:solidFill>
                  <a:srgbClr val="222222"/>
                </a:solidFill>
              </a:rPr>
              <a:t> </a:t>
            </a:r>
            <a:r>
              <a:rPr sz="1000" i="1" dirty="0" err="1">
                <a:solidFill>
                  <a:srgbClr val="222222"/>
                </a:solidFill>
              </a:rPr>
              <a:t>en</a:t>
            </a:r>
            <a:r>
              <a:rPr sz="1000" i="1" dirty="0">
                <a:solidFill>
                  <a:srgbClr val="222222"/>
                </a:solidFill>
              </a:rPr>
              <a:t> </a:t>
            </a:r>
            <a:r>
              <a:rPr sz="1000" i="1" dirty="0" err="1">
                <a:solidFill>
                  <a:srgbClr val="222222"/>
                </a:solidFill>
              </a:rPr>
              <a:t>souveraineté</a:t>
            </a:r>
            <a:r>
              <a:rPr sz="1000" i="1" dirty="0">
                <a:solidFill>
                  <a:srgbClr val="222222"/>
                </a:solidFill>
              </a:rPr>
              <a:t>  | On </a:t>
            </a:r>
            <a:r>
              <a:rPr sz="1000" i="1" dirty="0" err="1">
                <a:solidFill>
                  <a:srgbClr val="222222"/>
                </a:solidFill>
              </a:rPr>
              <a:t>décide</a:t>
            </a:r>
            <a:r>
              <a:rPr sz="1000" i="1" dirty="0">
                <a:solidFill>
                  <a:srgbClr val="222222"/>
                </a:solidFill>
              </a:rPr>
              <a:t> de </a:t>
            </a:r>
            <a:r>
              <a:rPr sz="1000" i="1" dirty="0" err="1">
                <a:solidFill>
                  <a:srgbClr val="222222"/>
                </a:solidFill>
              </a:rPr>
              <a:t>gagner</a:t>
            </a:r>
            <a:r>
              <a:rPr sz="1000" i="1" dirty="0">
                <a:solidFill>
                  <a:srgbClr val="222222"/>
                </a:solidFill>
              </a:rPr>
              <a:t> </a:t>
            </a:r>
            <a:r>
              <a:rPr sz="1000" i="1" dirty="0" err="1">
                <a:solidFill>
                  <a:srgbClr val="222222"/>
                </a:solidFill>
              </a:rPr>
              <a:t>en</a:t>
            </a:r>
            <a:r>
              <a:rPr sz="1000" i="1" dirty="0">
                <a:solidFill>
                  <a:srgbClr val="222222"/>
                </a:solidFill>
              </a:rPr>
              <a:t> </a:t>
            </a:r>
            <a:r>
              <a:rPr sz="1000" i="1" dirty="0" err="1">
                <a:solidFill>
                  <a:srgbClr val="222222"/>
                </a:solidFill>
              </a:rPr>
              <a:t>souveraineté</a:t>
            </a:r>
            <a:r>
              <a:rPr sz="1000" i="1" dirty="0">
                <a:solidFill>
                  <a:srgbClr val="222222"/>
                </a:solidFill>
              </a:rPr>
              <a:t> |</a:t>
            </a:r>
          </a:p>
          <a:p>
            <a:r>
              <a:rPr sz="1000" i="1" dirty="0">
                <a:solidFill>
                  <a:srgbClr val="222222"/>
                </a:solidFill>
              </a:rPr>
              <a:t>Plan d'action : | 1 | </a:t>
            </a:r>
            <a:r>
              <a:rPr sz="1000" i="1" dirty="0" err="1">
                <a:solidFill>
                  <a:srgbClr val="222222"/>
                </a:solidFill>
              </a:rPr>
              <a:t>S'occuper</a:t>
            </a:r>
            <a:r>
              <a:rPr sz="1000" i="1" dirty="0">
                <a:solidFill>
                  <a:srgbClr val="222222"/>
                </a:solidFill>
              </a:rPr>
              <a:t> de la doc, </a:t>
            </a:r>
            <a:r>
              <a:rPr sz="1000" i="1" dirty="0" err="1">
                <a:solidFill>
                  <a:srgbClr val="222222"/>
                </a:solidFill>
              </a:rPr>
              <a:t>vendredi</a:t>
            </a:r>
            <a:r>
              <a:rPr sz="1000" i="1" dirty="0">
                <a:solidFill>
                  <a:srgbClr val="222222"/>
                </a:solidFill>
              </a:rPr>
              <a:t> | Alice | </a:t>
            </a:r>
            <a:r>
              <a:rPr sz="1000" i="1" dirty="0" err="1">
                <a:solidFill>
                  <a:srgbClr val="222222"/>
                </a:solidFill>
              </a:rPr>
              <a:t>vendredi</a:t>
            </a:r>
            <a:r>
              <a:rPr sz="1000" i="1" dirty="0">
                <a:solidFill>
                  <a:srgbClr val="222222"/>
                </a:solidFill>
              </a:rPr>
              <a:t> |  (Alice </a:t>
            </a:r>
            <a:r>
              <a:rPr sz="1000" i="1" dirty="0" err="1">
                <a:solidFill>
                  <a:srgbClr val="222222"/>
                </a:solidFill>
              </a:rPr>
              <a:t>vient</a:t>
            </a:r>
            <a:r>
              <a:rPr sz="1000" i="1" dirty="0">
                <a:solidFill>
                  <a:srgbClr val="222222"/>
                </a:solidFill>
              </a:rPr>
              <a:t> du prompt)</a:t>
            </a:r>
          </a:p>
          <a:p>
            <a:r>
              <a:rPr sz="850" dirty="0">
                <a:solidFill>
                  <a:srgbClr val="2E4D6B"/>
                </a:solidFill>
              </a:rPr>
              <a:t>Extrait de : agentique_v10_qwen3b_sans-diarisation.md</a:t>
            </a:r>
          </a:p>
        </p:txBody>
      </p:sp>
      <p:sp>
        <p:nvSpPr>
          <p:cNvPr id="5" name="TextBox 4"/>
          <p:cNvSpPr txBox="1"/>
          <p:nvPr/>
        </p:nvSpPr>
        <p:spPr>
          <a:xfrm>
            <a:off x="457200" y="3200400"/>
            <a:ext cx="11274552" cy="548640"/>
          </a:xfrm>
          <a:prstGeom prst="rect">
            <a:avLst/>
          </a:prstGeom>
          <a:noFill/>
        </p:spPr>
        <p:txBody>
          <a:bodyPr wrap="square">
            <a:spAutoFit/>
          </a:bodyPr>
          <a:lstStyle/>
          <a:p>
            <a:r>
              <a:rPr sz="1200" b="1" i="0">
                <a:solidFill>
                  <a:srgbClr val="222222"/>
                </a:solidFill>
              </a:rPr>
              <a:t>V7 (Ministral 3B) : un worker renvoie un JSON vide, section perdue. Déclencheur des garde-fous (timeout, retry, fallback déterministe).</a:t>
            </a:r>
          </a:p>
        </p:txBody>
      </p:sp>
      <p:sp>
        <p:nvSpPr>
          <p:cNvPr id="6" name="Rectangle 5"/>
          <p:cNvSpPr/>
          <p:nvPr/>
        </p:nvSpPr>
        <p:spPr>
          <a:xfrm>
            <a:off x="457200" y="3657600"/>
            <a:ext cx="11274552" cy="1005840"/>
          </a:xfrm>
          <a:prstGeom prst="rect">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tlCol="0" anchor="ctr"/>
          <a:lstStyle/>
          <a:p>
            <a:pPr algn="ctr"/>
            <a:r>
              <a:rPr sz="1000" i="1">
                <a:solidFill>
                  <a:srgbClr val="222222"/>
                </a:solidFill>
              </a:rPr>
              <a:t>## 5. Plan d'action</a:t>
            </a:r>
          </a:p>
          <a:p>
            <a:r>
              <a:rPr sz="1000" i="1">
                <a:solidFill>
                  <a:srgbClr val="222222"/>
                </a:solidFill>
              </a:rPr>
              <a:t>_Section non rendue (Expecting value: line 1 column 1 (char 0))._</a:t>
            </a:r>
          </a:p>
          <a:p>
            <a:r>
              <a:rPr sz="850">
                <a:solidFill>
                  <a:srgbClr val="2E4D6B"/>
                </a:solidFill>
              </a:rPr>
              <a:t>Extrait de : agentique_v7_ministral3b.md</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6868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wrap="square" lIns="365760" rtlCol="0" anchor="ctr"/>
          <a:lstStyle/>
          <a:p>
            <a:pPr algn="ctr"/>
            <a:r>
              <a:rPr sz="2200" b="1">
                <a:solidFill>
                  <a:srgbClr val="FFFFFF"/>
                </a:solidFill>
                <a:latin typeface="Georgia"/>
              </a:rPr>
              <a:t>2.B  V9 : routage hybride par agent</a:t>
            </a:r>
          </a:p>
        </p:txBody>
      </p:sp>
      <p:sp>
        <p:nvSpPr>
          <p:cNvPr id="3" name="TextBox 2"/>
          <p:cNvSpPr txBox="1"/>
          <p:nvPr/>
        </p:nvSpPr>
        <p:spPr>
          <a:xfrm>
            <a:off x="457200" y="1005840"/>
            <a:ext cx="11274552" cy="548640"/>
          </a:xfrm>
          <a:prstGeom prst="rect">
            <a:avLst/>
          </a:prstGeom>
          <a:noFill/>
        </p:spPr>
        <p:txBody>
          <a:bodyPr wrap="square">
            <a:spAutoFit/>
          </a:bodyPr>
          <a:lstStyle/>
          <a:p>
            <a:r>
              <a:rPr sz="1300" b="0" i="0">
                <a:solidFill>
                  <a:srgbClr val="222222"/>
                </a:solidFill>
              </a:rPr>
              <a:t>Le 7B n'est meilleur que sur le cadrage global (Context Builder) et la fluidité ; le 3B suffit et est plus rapide ailleurs. V9 met un modèle différent par phase.</a:t>
            </a:r>
          </a:p>
        </p:txBody>
      </p:sp>
      <p:graphicFrame>
        <p:nvGraphicFramePr>
          <p:cNvPr id="4" name="Table 3"/>
          <p:cNvGraphicFramePr>
            <a:graphicFrameLocks noGrp="1"/>
          </p:cNvGraphicFramePr>
          <p:nvPr/>
        </p:nvGraphicFramePr>
        <p:xfrm>
          <a:off x="457200" y="1783080"/>
          <a:ext cx="7315199" cy="2176272"/>
        </p:xfrm>
        <a:graphic>
          <a:graphicData uri="http://schemas.openxmlformats.org/drawingml/2006/table">
            <a:tbl>
              <a:tblPr>
                <a:tableStyleId>{2D5ABB26-0587-4C30-8999-92F81FD0307C}</a:tableStyleId>
              </a:tblPr>
              <a:tblGrid>
                <a:gridCol w="3135085">
                  <a:extLst>
                    <a:ext uri="{9D8B030D-6E8A-4147-A177-3AD203B41FA5}">
                      <a16:colId xmlns:a16="http://schemas.microsoft.com/office/drawing/2014/main" val="20000"/>
                    </a:ext>
                  </a:extLst>
                </a:gridCol>
                <a:gridCol w="2090057">
                  <a:extLst>
                    <a:ext uri="{9D8B030D-6E8A-4147-A177-3AD203B41FA5}">
                      <a16:colId xmlns:a16="http://schemas.microsoft.com/office/drawing/2014/main" val="20001"/>
                    </a:ext>
                  </a:extLst>
                </a:gridCol>
                <a:gridCol w="2090057">
                  <a:extLst>
                    <a:ext uri="{9D8B030D-6E8A-4147-A177-3AD203B41FA5}">
                      <a16:colId xmlns:a16="http://schemas.microsoft.com/office/drawing/2014/main" val="20002"/>
                    </a:ext>
                  </a:extLst>
                </a:gridCol>
              </a:tblGrid>
              <a:tr h="310896">
                <a:tc>
                  <a:txBody>
                    <a:bodyPr/>
                    <a:lstStyle/>
                    <a:p>
                      <a:pPr algn="l"/>
                      <a:r>
                        <a:rPr sz="1100" b="1">
                          <a:solidFill>
                            <a:srgbClr val="FFFFFF"/>
                          </a:solidFill>
                        </a:rPr>
                        <a:t>Phase</a:t>
                      </a:r>
                    </a:p>
                  </a:txBody>
                  <a:tcPr marL="54864" marR="54864" marT="18288" marB="18288" anchor="ctr">
                    <a:solidFill>
                      <a:srgbClr val="1F3A5F"/>
                    </a:solidFill>
                  </a:tcPr>
                </a:tc>
                <a:tc>
                  <a:txBody>
                    <a:bodyPr/>
                    <a:lstStyle/>
                    <a:p>
                      <a:pPr algn="l"/>
                      <a:r>
                        <a:rPr sz="1100" b="1">
                          <a:solidFill>
                            <a:srgbClr val="FFFFFF"/>
                          </a:solidFill>
                        </a:rPr>
                        <a:t>Modèle</a:t>
                      </a:r>
                    </a:p>
                  </a:txBody>
                  <a:tcPr marL="54864" marR="54864" marT="18288" marB="18288" anchor="ctr">
                    <a:solidFill>
                      <a:srgbClr val="1F3A5F"/>
                    </a:solidFill>
                  </a:tcPr>
                </a:tc>
                <a:tc>
                  <a:txBody>
                    <a:bodyPr/>
                    <a:lstStyle/>
                    <a:p>
                      <a:pPr algn="l"/>
                      <a:r>
                        <a:rPr sz="1100" b="1">
                          <a:solidFill>
                            <a:srgbClr val="FFFFFF"/>
                          </a:solidFill>
                        </a:rPr>
                        <a:t>Durée</a:t>
                      </a:r>
                    </a:p>
                  </a:txBody>
                  <a:tcPr marL="54864" marR="54864" marT="18288" marB="18288" anchor="ctr">
                    <a:solidFill>
                      <a:srgbClr val="1F3A5F"/>
                    </a:solidFill>
                  </a:tcPr>
                </a:tc>
                <a:extLst>
                  <a:ext uri="{0D108BD9-81ED-4DB2-BD59-A6C34878D82A}">
                    <a16:rowId xmlns:a16="http://schemas.microsoft.com/office/drawing/2014/main" val="10000"/>
                  </a:ext>
                </a:extLst>
              </a:tr>
              <a:tr h="310896">
                <a:tc>
                  <a:txBody>
                    <a:bodyPr/>
                    <a:lstStyle/>
                    <a:p>
                      <a:pPr algn="l"/>
                      <a:r>
                        <a:rPr sz="1100" b="0">
                          <a:solidFill>
                            <a:srgbClr val="222222"/>
                          </a:solidFill>
                        </a:rPr>
                        <a:t>Context Builder</a:t>
                      </a:r>
                    </a:p>
                  </a:txBody>
                  <a:tcPr marL="54864" marR="54864" marT="18288" marB="18288" anchor="ctr">
                    <a:solidFill>
                      <a:srgbClr val="FFFFFF"/>
                    </a:solidFill>
                  </a:tcPr>
                </a:tc>
                <a:tc>
                  <a:txBody>
                    <a:bodyPr/>
                    <a:lstStyle/>
                    <a:p>
                      <a:pPr algn="l"/>
                      <a:r>
                        <a:rPr sz="1100" b="0">
                          <a:solidFill>
                            <a:srgbClr val="222222"/>
                          </a:solidFill>
                        </a:rPr>
                        <a:t>Qwen 7B</a:t>
                      </a:r>
                    </a:p>
                  </a:txBody>
                  <a:tcPr marL="54864" marR="54864" marT="18288" marB="18288" anchor="ctr">
                    <a:solidFill>
                      <a:srgbClr val="FFFFFF"/>
                    </a:solidFill>
                  </a:tcPr>
                </a:tc>
                <a:tc>
                  <a:txBody>
                    <a:bodyPr/>
                    <a:lstStyle/>
                    <a:p>
                      <a:pPr algn="l"/>
                      <a:r>
                        <a:rPr sz="1100" b="0">
                          <a:solidFill>
                            <a:srgbClr val="222222"/>
                          </a:solidFill>
                        </a:rPr>
                        <a:t>837 s</a:t>
                      </a:r>
                    </a:p>
                  </a:txBody>
                  <a:tcPr marL="54864" marR="54864" marT="18288" marB="18288" anchor="ctr">
                    <a:solidFill>
                      <a:srgbClr val="FFFFFF"/>
                    </a:solidFill>
                  </a:tcPr>
                </a:tc>
                <a:extLst>
                  <a:ext uri="{0D108BD9-81ED-4DB2-BD59-A6C34878D82A}">
                    <a16:rowId xmlns:a16="http://schemas.microsoft.com/office/drawing/2014/main" val="10001"/>
                  </a:ext>
                </a:extLst>
              </a:tr>
              <a:tr h="310896">
                <a:tc>
                  <a:txBody>
                    <a:bodyPr/>
                    <a:lstStyle/>
                    <a:p>
                      <a:pPr algn="l"/>
                      <a:r>
                        <a:rPr sz="1100" b="0">
                          <a:solidFill>
                            <a:srgbClr val="222222"/>
                          </a:solidFill>
                        </a:rPr>
                        <a:t>Planner</a:t>
                      </a:r>
                    </a:p>
                  </a:txBody>
                  <a:tcPr marL="54864" marR="54864" marT="18288" marB="18288" anchor="ctr">
                    <a:solidFill>
                      <a:srgbClr val="F4F6F9"/>
                    </a:solidFill>
                  </a:tcPr>
                </a:tc>
                <a:tc>
                  <a:txBody>
                    <a:bodyPr/>
                    <a:lstStyle/>
                    <a:p>
                      <a:pPr algn="l"/>
                      <a:r>
                        <a:rPr sz="1100" b="0">
                          <a:solidFill>
                            <a:srgbClr val="222222"/>
                          </a:solidFill>
                        </a:rPr>
                        <a:t>Ministral 3B</a:t>
                      </a:r>
                    </a:p>
                  </a:txBody>
                  <a:tcPr marL="54864" marR="54864" marT="18288" marB="18288" anchor="ctr">
                    <a:solidFill>
                      <a:srgbClr val="F4F6F9"/>
                    </a:solidFill>
                  </a:tcPr>
                </a:tc>
                <a:tc>
                  <a:txBody>
                    <a:bodyPr/>
                    <a:lstStyle/>
                    <a:p>
                      <a:pPr algn="l"/>
                      <a:r>
                        <a:rPr sz="1100" b="0">
                          <a:solidFill>
                            <a:srgbClr val="222222"/>
                          </a:solidFill>
                        </a:rPr>
                        <a:t>629 s</a:t>
                      </a:r>
                    </a:p>
                  </a:txBody>
                  <a:tcPr marL="54864" marR="54864" marT="18288" marB="18288" anchor="ctr">
                    <a:solidFill>
                      <a:srgbClr val="F4F6F9"/>
                    </a:solidFill>
                  </a:tcPr>
                </a:tc>
                <a:extLst>
                  <a:ext uri="{0D108BD9-81ED-4DB2-BD59-A6C34878D82A}">
                    <a16:rowId xmlns:a16="http://schemas.microsoft.com/office/drawing/2014/main" val="10002"/>
                  </a:ext>
                </a:extLst>
              </a:tr>
              <a:tr h="310896">
                <a:tc>
                  <a:txBody>
                    <a:bodyPr/>
                    <a:lstStyle/>
                    <a:p>
                      <a:pPr algn="l"/>
                      <a:r>
                        <a:rPr sz="1100" b="0">
                          <a:solidFill>
                            <a:srgbClr val="222222"/>
                          </a:solidFill>
                        </a:rPr>
                        <a:t>Content Designers</a:t>
                      </a:r>
                    </a:p>
                  </a:txBody>
                  <a:tcPr marL="54864" marR="54864" marT="18288" marB="18288" anchor="ctr">
                    <a:solidFill>
                      <a:srgbClr val="FFFFFF"/>
                    </a:solidFill>
                  </a:tcPr>
                </a:tc>
                <a:tc>
                  <a:txBody>
                    <a:bodyPr/>
                    <a:lstStyle/>
                    <a:p>
                      <a:pPr algn="l"/>
                      <a:r>
                        <a:rPr sz="1100" b="0">
                          <a:solidFill>
                            <a:srgbClr val="222222"/>
                          </a:solidFill>
                        </a:rPr>
                        <a:t>Ministral 3B</a:t>
                      </a:r>
                    </a:p>
                  </a:txBody>
                  <a:tcPr marL="54864" marR="54864" marT="18288" marB="18288" anchor="ctr">
                    <a:solidFill>
                      <a:srgbClr val="FFFFFF"/>
                    </a:solidFill>
                  </a:tcPr>
                </a:tc>
                <a:tc>
                  <a:txBody>
                    <a:bodyPr/>
                    <a:lstStyle/>
                    <a:p>
                      <a:pPr algn="l"/>
                      <a:r>
                        <a:rPr sz="1100" b="0">
                          <a:solidFill>
                            <a:srgbClr val="222222"/>
                          </a:solidFill>
                        </a:rPr>
                        <a:t>3 147 s</a:t>
                      </a:r>
                    </a:p>
                  </a:txBody>
                  <a:tcPr marL="54864" marR="54864" marT="18288" marB="18288" anchor="ctr">
                    <a:solidFill>
                      <a:srgbClr val="FFFFFF"/>
                    </a:solidFill>
                  </a:tcPr>
                </a:tc>
                <a:extLst>
                  <a:ext uri="{0D108BD9-81ED-4DB2-BD59-A6C34878D82A}">
                    <a16:rowId xmlns:a16="http://schemas.microsoft.com/office/drawing/2014/main" val="10003"/>
                  </a:ext>
                </a:extLst>
              </a:tr>
              <a:tr h="310896">
                <a:tc>
                  <a:txBody>
                    <a:bodyPr/>
                    <a:lstStyle/>
                    <a:p>
                      <a:pPr algn="l"/>
                      <a:r>
                        <a:rPr sz="1100" b="0">
                          <a:solidFill>
                            <a:srgbClr val="222222"/>
                          </a:solidFill>
                        </a:rPr>
                        <a:t>Workers</a:t>
                      </a:r>
                    </a:p>
                  </a:txBody>
                  <a:tcPr marL="54864" marR="54864" marT="18288" marB="18288" anchor="ctr">
                    <a:solidFill>
                      <a:srgbClr val="F4F6F9"/>
                    </a:solidFill>
                  </a:tcPr>
                </a:tc>
                <a:tc>
                  <a:txBody>
                    <a:bodyPr/>
                    <a:lstStyle/>
                    <a:p>
                      <a:pPr algn="l"/>
                      <a:r>
                        <a:rPr sz="1100" b="0">
                          <a:solidFill>
                            <a:srgbClr val="222222"/>
                          </a:solidFill>
                        </a:rPr>
                        <a:t>Ministral 3B</a:t>
                      </a:r>
                    </a:p>
                  </a:txBody>
                  <a:tcPr marL="54864" marR="54864" marT="18288" marB="18288" anchor="ctr">
                    <a:solidFill>
                      <a:srgbClr val="F4F6F9"/>
                    </a:solidFill>
                  </a:tcPr>
                </a:tc>
                <a:tc>
                  <a:txBody>
                    <a:bodyPr/>
                    <a:lstStyle/>
                    <a:p>
                      <a:pPr algn="l"/>
                      <a:r>
                        <a:rPr sz="1100" b="0">
                          <a:solidFill>
                            <a:srgbClr val="222222"/>
                          </a:solidFill>
                        </a:rPr>
                        <a:t>2 040 s</a:t>
                      </a:r>
                    </a:p>
                  </a:txBody>
                  <a:tcPr marL="54864" marR="54864" marT="18288" marB="18288" anchor="ctr">
                    <a:solidFill>
                      <a:srgbClr val="F4F6F9"/>
                    </a:solidFill>
                  </a:tcPr>
                </a:tc>
                <a:extLst>
                  <a:ext uri="{0D108BD9-81ED-4DB2-BD59-A6C34878D82A}">
                    <a16:rowId xmlns:a16="http://schemas.microsoft.com/office/drawing/2014/main" val="10004"/>
                  </a:ext>
                </a:extLst>
              </a:tr>
              <a:tr h="310896">
                <a:tc>
                  <a:txBody>
                    <a:bodyPr/>
                    <a:lstStyle/>
                    <a:p>
                      <a:pPr algn="l"/>
                      <a:r>
                        <a:rPr sz="1100" b="0">
                          <a:solidFill>
                            <a:srgbClr val="222222"/>
                          </a:solidFill>
                        </a:rPr>
                        <a:t>Swaps de modèle (coût)</a:t>
                      </a:r>
                    </a:p>
                  </a:txBody>
                  <a:tcPr marL="54864" marR="54864" marT="18288" marB="18288" anchor="ctr">
                    <a:solidFill>
                      <a:srgbClr val="FFFFFF"/>
                    </a:solidFill>
                  </a:tcPr>
                </a:tc>
                <a:tc>
                  <a:txBody>
                    <a:bodyPr/>
                    <a:lstStyle/>
                    <a:p>
                      <a:pPr algn="l"/>
                      <a:r>
                        <a:rPr sz="1100" b="0">
                          <a:solidFill>
                            <a:srgbClr val="222222"/>
                          </a:solidFill>
                        </a:rPr>
                        <a:t>n.c.</a:t>
                      </a:r>
                    </a:p>
                  </a:txBody>
                  <a:tcPr marL="54864" marR="54864" marT="18288" marB="18288" anchor="ctr">
                    <a:solidFill>
                      <a:srgbClr val="FFFFFF"/>
                    </a:solidFill>
                  </a:tcPr>
                </a:tc>
                <a:tc>
                  <a:txBody>
                    <a:bodyPr/>
                    <a:lstStyle/>
                    <a:p>
                      <a:pPr algn="l"/>
                      <a:r>
                        <a:rPr sz="1100" b="0">
                          <a:solidFill>
                            <a:srgbClr val="222222"/>
                          </a:solidFill>
                        </a:rPr>
                        <a:t>8,1 s</a:t>
                      </a:r>
                    </a:p>
                  </a:txBody>
                  <a:tcPr marL="54864" marR="54864" marT="18288" marB="18288" anchor="ctr">
                    <a:solidFill>
                      <a:srgbClr val="FFFFFF"/>
                    </a:solidFill>
                  </a:tcPr>
                </a:tc>
                <a:extLst>
                  <a:ext uri="{0D108BD9-81ED-4DB2-BD59-A6C34878D82A}">
                    <a16:rowId xmlns:a16="http://schemas.microsoft.com/office/drawing/2014/main" val="10005"/>
                  </a:ext>
                </a:extLst>
              </a:tr>
              <a:tr h="310896">
                <a:tc>
                  <a:txBody>
                    <a:bodyPr/>
                    <a:lstStyle/>
                    <a:p>
                      <a:pPr algn="l"/>
                      <a:r>
                        <a:rPr sz="1100" b="0">
                          <a:solidFill>
                            <a:srgbClr val="222222"/>
                          </a:solidFill>
                        </a:rPr>
                        <a:t>Total</a:t>
                      </a:r>
                    </a:p>
                  </a:txBody>
                  <a:tcPr marL="54864" marR="54864" marT="18288" marB="18288" anchor="ctr">
                    <a:solidFill>
                      <a:srgbClr val="F4F6F9"/>
                    </a:solidFill>
                  </a:tcPr>
                </a:tc>
                <a:tc>
                  <a:txBody>
                    <a:bodyPr/>
                    <a:lstStyle/>
                    <a:p>
                      <a:pPr algn="l"/>
                      <a:r>
                        <a:rPr sz="1100" b="0">
                          <a:solidFill>
                            <a:srgbClr val="222222"/>
                          </a:solidFill>
                        </a:rPr>
                        <a:t>n.c.</a:t>
                      </a:r>
                    </a:p>
                  </a:txBody>
                  <a:tcPr marL="54864" marR="54864" marT="18288" marB="18288" anchor="ctr">
                    <a:solidFill>
                      <a:srgbClr val="F4F6F9"/>
                    </a:solidFill>
                  </a:tcPr>
                </a:tc>
                <a:tc>
                  <a:txBody>
                    <a:bodyPr/>
                    <a:lstStyle/>
                    <a:p>
                      <a:pPr algn="l"/>
                      <a:r>
                        <a:rPr sz="1100" b="0">
                          <a:solidFill>
                            <a:srgbClr val="222222"/>
                          </a:solidFill>
                        </a:rPr>
                        <a:t>112 min (6 701 s)</a:t>
                      </a:r>
                    </a:p>
                  </a:txBody>
                  <a:tcPr marL="54864" marR="54864" marT="18288" marB="18288" anchor="ctr">
                    <a:solidFill>
                      <a:srgbClr val="F4F6F9"/>
                    </a:solidFill>
                  </a:tcPr>
                </a:tc>
                <a:extLst>
                  <a:ext uri="{0D108BD9-81ED-4DB2-BD59-A6C34878D82A}">
                    <a16:rowId xmlns:a16="http://schemas.microsoft.com/office/drawing/2014/main" val="10006"/>
                  </a:ext>
                </a:extLst>
              </a:tr>
            </a:tbl>
          </a:graphicData>
        </a:graphic>
      </p:graphicFrame>
      <p:sp>
        <p:nvSpPr>
          <p:cNvPr id="5" name="Rectangle 4"/>
          <p:cNvSpPr/>
          <p:nvPr/>
        </p:nvSpPr>
        <p:spPr>
          <a:xfrm>
            <a:off x="457200" y="4846320"/>
            <a:ext cx="11274552" cy="914400"/>
          </a:xfrm>
          <a:prstGeom prst="rect">
            <a:avLst/>
          </a:prstGeom>
          <a:solidFill>
            <a:srgbClr val="EAF1EC"/>
          </a:solidFill>
          <a:ln w="9525">
            <a:solidFill>
              <a:srgbClr val="2E6B3F"/>
            </a:solidFill>
          </a:ln>
          <a:effectLst/>
        </p:spPr>
        <p:style>
          <a:lnRef idx="1">
            <a:schemeClr val="accent1"/>
          </a:lnRef>
          <a:fillRef idx="3">
            <a:schemeClr val="accent1"/>
          </a:fillRef>
          <a:effectRef idx="2">
            <a:schemeClr val="accent1"/>
          </a:effectRef>
          <a:fontRef idx="minor">
            <a:schemeClr val="lt1"/>
          </a:fontRef>
        </p:style>
        <p:txBody>
          <a:bodyPr wrap="square" lIns="137160" tIns="73152" rIns="137160" bIns="73152" rtlCol="0" anchor="ctr"/>
          <a:lstStyle/>
          <a:p>
            <a:pPr algn="ctr"/>
            <a:r>
              <a:rPr sz="1200" b="1">
                <a:solidFill>
                  <a:srgbClr val="2E6B3F"/>
                </a:solidFill>
              </a:rPr>
              <a:t>Verdict  </a:t>
            </a:r>
            <a:r>
              <a:rPr sz="1200">
                <a:solidFill>
                  <a:srgbClr val="222222"/>
                </a:solidFill>
              </a:rPr>
              <a:t>Prometteur (travail en cours). Le routage fonctionne (swap environ 8 s, négligeable) : qualité du 7B sur le cadrage et vitesse du 3B sur le reste.</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lIns="914400" rtlCol="0" anchor="ctr"/>
          <a:lstStyle/>
          <a:p>
            <a:pPr algn="ctr"/>
            <a:r>
              <a:rPr sz="2800" b="1" dirty="0">
                <a:solidFill>
                  <a:srgbClr val="9DC3E6"/>
                </a:solidFill>
              </a:rPr>
              <a:t>Partie 3</a:t>
            </a:r>
          </a:p>
          <a:p>
            <a:r>
              <a:rPr sz="4000" b="1" dirty="0">
                <a:solidFill>
                  <a:srgbClr val="FFFFFF"/>
                </a:solidFill>
                <a:latin typeface="Georgia"/>
              </a:rPr>
              <a:t>Les </a:t>
            </a:r>
            <a:r>
              <a:rPr sz="4000" b="1" dirty="0" err="1">
                <a:solidFill>
                  <a:srgbClr val="FFFFFF"/>
                </a:solidFill>
                <a:latin typeface="Georgia"/>
              </a:rPr>
              <a:t>optimisations</a:t>
            </a:r>
            <a:endParaRPr sz="4000" b="1" dirty="0">
              <a:solidFill>
                <a:srgbClr val="FFFFFF"/>
              </a:solidFill>
              <a:latin typeface="Georgia"/>
            </a:endParaRPr>
          </a:p>
          <a:p>
            <a:pPr>
              <a:spcBef>
                <a:spcPts val="1000"/>
              </a:spcBef>
            </a:pPr>
            <a:r>
              <a:rPr sz="1600" dirty="0">
                <a:solidFill>
                  <a:srgbClr val="D6E4F0"/>
                </a:solidFill>
              </a:rPr>
              <a:t>Tout </a:t>
            </a:r>
            <a:r>
              <a:rPr sz="1600" dirty="0" err="1">
                <a:solidFill>
                  <a:srgbClr val="D6E4F0"/>
                </a:solidFill>
              </a:rPr>
              <a:t>ce</a:t>
            </a:r>
            <a:r>
              <a:rPr sz="1600" dirty="0">
                <a:solidFill>
                  <a:srgbClr val="D6E4F0"/>
                </a:solidFill>
              </a:rPr>
              <a:t> qui a </a:t>
            </a:r>
            <a:r>
              <a:rPr sz="1600" dirty="0" err="1">
                <a:solidFill>
                  <a:srgbClr val="D6E4F0"/>
                </a:solidFill>
              </a:rPr>
              <a:t>été</a:t>
            </a:r>
            <a:r>
              <a:rPr sz="1600" dirty="0">
                <a:solidFill>
                  <a:srgbClr val="D6E4F0"/>
                </a:solidFill>
              </a:rPr>
              <a:t> </a:t>
            </a:r>
            <a:r>
              <a:rPr sz="1600" dirty="0" err="1">
                <a:solidFill>
                  <a:srgbClr val="D6E4F0"/>
                </a:solidFill>
              </a:rPr>
              <a:t>testé</a:t>
            </a:r>
            <a:r>
              <a:rPr sz="1600" dirty="0">
                <a:solidFill>
                  <a:srgbClr val="D6E4F0"/>
                </a:solidFill>
              </a:rPr>
              <a:t> pour la </a:t>
            </a:r>
            <a:r>
              <a:rPr sz="1600" dirty="0" err="1">
                <a:solidFill>
                  <a:srgbClr val="D6E4F0"/>
                </a:solidFill>
              </a:rPr>
              <a:t>vitesse</a:t>
            </a:r>
            <a:r>
              <a:rPr sz="1600" dirty="0">
                <a:solidFill>
                  <a:srgbClr val="D6E4F0"/>
                </a:solidFill>
              </a:rPr>
              <a:t> et la </a:t>
            </a:r>
            <a:r>
              <a:rPr sz="1600" dirty="0" err="1">
                <a:solidFill>
                  <a:srgbClr val="D6E4F0"/>
                </a:solidFill>
              </a:rPr>
              <a:t>qualité</a:t>
            </a:r>
            <a:endParaRPr sz="1600" dirty="0">
              <a:solidFill>
                <a:srgbClr val="D6E4F0"/>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6868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wrap="square" lIns="365760" rtlCol="0" anchor="ctr"/>
          <a:lstStyle/>
          <a:p>
            <a:pPr algn="ctr"/>
            <a:r>
              <a:rPr sz="2200" b="1">
                <a:solidFill>
                  <a:srgbClr val="FFFFFF"/>
                </a:solidFill>
                <a:latin typeface="Georgia"/>
              </a:rPr>
              <a:t>3.1 et 3.2  Baseline, puis plan d'action perchunk</a:t>
            </a:r>
          </a:p>
        </p:txBody>
      </p:sp>
      <p:sp>
        <p:nvSpPr>
          <p:cNvPr id="3" name="TextBox 2"/>
          <p:cNvSpPr txBox="1"/>
          <p:nvPr/>
        </p:nvSpPr>
        <p:spPr>
          <a:xfrm>
            <a:off x="457200" y="1005840"/>
            <a:ext cx="5486400" cy="548640"/>
          </a:xfrm>
          <a:prstGeom prst="rect">
            <a:avLst/>
          </a:prstGeom>
          <a:noFill/>
        </p:spPr>
        <p:txBody>
          <a:bodyPr wrap="square">
            <a:spAutoFit/>
          </a:bodyPr>
          <a:lstStyle/>
          <a:p>
            <a:r>
              <a:rPr sz="1200" b="0" i="0">
                <a:solidFill>
                  <a:srgbClr val="222222"/>
                </a:solidFill>
              </a:rPr>
              <a:t>Baseline (prompts verbeux) : 64 min 44, 8 appels LLM. Objectif des expériences : réduire ce temps sans perdre en qualité.</a:t>
            </a:r>
          </a:p>
        </p:txBody>
      </p:sp>
      <p:graphicFrame>
        <p:nvGraphicFramePr>
          <p:cNvPr id="4" name="Table 3"/>
          <p:cNvGraphicFramePr>
            <a:graphicFrameLocks noGrp="1"/>
          </p:cNvGraphicFramePr>
          <p:nvPr/>
        </p:nvGraphicFramePr>
        <p:xfrm>
          <a:off x="457200" y="1828800"/>
          <a:ext cx="11274549" cy="932688"/>
        </p:xfrm>
        <a:graphic>
          <a:graphicData uri="http://schemas.openxmlformats.org/drawingml/2006/table">
            <a:tbl>
              <a:tblPr>
                <a:tableStyleId>{2D5ABB26-0587-4C30-8999-92F81FD0307C}</a:tableStyleId>
              </a:tblPr>
              <a:tblGrid>
                <a:gridCol w="2952858">
                  <a:extLst>
                    <a:ext uri="{9D8B030D-6E8A-4147-A177-3AD203B41FA5}">
                      <a16:colId xmlns:a16="http://schemas.microsoft.com/office/drawing/2014/main" val="20000"/>
                    </a:ext>
                  </a:extLst>
                </a:gridCol>
                <a:gridCol w="2147533">
                  <a:extLst>
                    <a:ext uri="{9D8B030D-6E8A-4147-A177-3AD203B41FA5}">
                      <a16:colId xmlns:a16="http://schemas.microsoft.com/office/drawing/2014/main" val="20001"/>
                    </a:ext>
                  </a:extLst>
                </a:gridCol>
                <a:gridCol w="2147533">
                  <a:extLst>
                    <a:ext uri="{9D8B030D-6E8A-4147-A177-3AD203B41FA5}">
                      <a16:colId xmlns:a16="http://schemas.microsoft.com/office/drawing/2014/main" val="20002"/>
                    </a:ext>
                  </a:extLst>
                </a:gridCol>
                <a:gridCol w="4026625">
                  <a:extLst>
                    <a:ext uri="{9D8B030D-6E8A-4147-A177-3AD203B41FA5}">
                      <a16:colId xmlns:a16="http://schemas.microsoft.com/office/drawing/2014/main" val="20003"/>
                    </a:ext>
                  </a:extLst>
                </a:gridCol>
              </a:tblGrid>
              <a:tr h="310896">
                <a:tc>
                  <a:txBody>
                    <a:bodyPr/>
                    <a:lstStyle/>
                    <a:p>
                      <a:pPr algn="l"/>
                      <a:r>
                        <a:rPr sz="1100" b="1">
                          <a:solidFill>
                            <a:srgbClr val="FFFFFF"/>
                          </a:solidFill>
                        </a:rPr>
                        <a:t>Mode (plan d'action)</a:t>
                      </a:r>
                    </a:p>
                  </a:txBody>
                  <a:tcPr marL="54864" marR="54864" marT="18288" marB="18288" anchor="ctr">
                    <a:solidFill>
                      <a:srgbClr val="1F3A5F"/>
                    </a:solidFill>
                  </a:tcPr>
                </a:tc>
                <a:tc>
                  <a:txBody>
                    <a:bodyPr/>
                    <a:lstStyle/>
                    <a:p>
                      <a:pPr algn="l"/>
                      <a:r>
                        <a:rPr sz="1100" b="1">
                          <a:solidFill>
                            <a:srgbClr val="FFFFFF"/>
                          </a:solidFill>
                        </a:rPr>
                        <a:t>Durée</a:t>
                      </a:r>
                    </a:p>
                  </a:txBody>
                  <a:tcPr marL="54864" marR="54864" marT="18288" marB="18288" anchor="ctr">
                    <a:solidFill>
                      <a:srgbClr val="1F3A5F"/>
                    </a:solidFill>
                  </a:tcPr>
                </a:tc>
                <a:tc>
                  <a:txBody>
                    <a:bodyPr/>
                    <a:lstStyle/>
                    <a:p>
                      <a:pPr algn="l"/>
                      <a:r>
                        <a:rPr sz="1100" b="1">
                          <a:solidFill>
                            <a:srgbClr val="FFFFFF"/>
                          </a:solidFill>
                        </a:rPr>
                        <a:t>Appels LLM</a:t>
                      </a:r>
                    </a:p>
                  </a:txBody>
                  <a:tcPr marL="54864" marR="54864" marT="18288" marB="18288" anchor="ctr">
                    <a:solidFill>
                      <a:srgbClr val="1F3A5F"/>
                    </a:solidFill>
                  </a:tcPr>
                </a:tc>
                <a:tc>
                  <a:txBody>
                    <a:bodyPr/>
                    <a:lstStyle/>
                    <a:p>
                      <a:pPr algn="l"/>
                      <a:r>
                        <a:rPr sz="1100" b="1">
                          <a:solidFill>
                            <a:srgbClr val="FFFFFF"/>
                          </a:solidFill>
                        </a:rPr>
                        <a:t>Items de plan extraits</a:t>
                      </a:r>
                    </a:p>
                  </a:txBody>
                  <a:tcPr marL="54864" marR="54864" marT="18288" marB="18288" anchor="ctr">
                    <a:solidFill>
                      <a:srgbClr val="1F3A5F"/>
                    </a:solidFill>
                  </a:tcPr>
                </a:tc>
                <a:extLst>
                  <a:ext uri="{0D108BD9-81ED-4DB2-BD59-A6C34878D82A}">
                    <a16:rowId xmlns:a16="http://schemas.microsoft.com/office/drawing/2014/main" val="10000"/>
                  </a:ext>
                </a:extLst>
              </a:tr>
              <a:tr h="310896">
                <a:tc>
                  <a:txBody>
                    <a:bodyPr/>
                    <a:lstStyle/>
                    <a:p>
                      <a:pPr algn="l"/>
                      <a:r>
                        <a:rPr sz="1100" b="0">
                          <a:solidFill>
                            <a:srgbClr val="222222"/>
                          </a:solidFill>
                        </a:rPr>
                        <a:t>legacy (1 appel final)</a:t>
                      </a:r>
                    </a:p>
                  </a:txBody>
                  <a:tcPr marL="54864" marR="54864" marT="18288" marB="18288" anchor="ctr">
                    <a:solidFill>
                      <a:srgbClr val="FFFFFF"/>
                    </a:solidFill>
                  </a:tcPr>
                </a:tc>
                <a:tc>
                  <a:txBody>
                    <a:bodyPr/>
                    <a:lstStyle/>
                    <a:p>
                      <a:pPr algn="l"/>
                      <a:r>
                        <a:rPr sz="1100" b="0">
                          <a:solidFill>
                            <a:srgbClr val="222222"/>
                          </a:solidFill>
                        </a:rPr>
                        <a:t>35 min 47</a:t>
                      </a:r>
                    </a:p>
                  </a:txBody>
                  <a:tcPr marL="54864" marR="54864" marT="18288" marB="18288" anchor="ctr">
                    <a:solidFill>
                      <a:srgbClr val="FFFFFF"/>
                    </a:solidFill>
                  </a:tcPr>
                </a:tc>
                <a:tc>
                  <a:txBody>
                    <a:bodyPr/>
                    <a:lstStyle/>
                    <a:p>
                      <a:pPr algn="l"/>
                      <a:r>
                        <a:rPr sz="1100" b="0">
                          <a:solidFill>
                            <a:srgbClr val="222222"/>
                          </a:solidFill>
                        </a:rPr>
                        <a:t>16 (2/chunk)</a:t>
                      </a:r>
                    </a:p>
                  </a:txBody>
                  <a:tcPr marL="54864" marR="54864" marT="18288" marB="18288" anchor="ctr">
                    <a:solidFill>
                      <a:srgbClr val="FFFFFF"/>
                    </a:solidFill>
                  </a:tcPr>
                </a:tc>
                <a:tc>
                  <a:txBody>
                    <a:bodyPr/>
                    <a:lstStyle/>
                    <a:p>
                      <a:pPr algn="l"/>
                      <a:r>
                        <a:rPr sz="1100" b="1">
                          <a:solidFill>
                            <a:srgbClr val="9E2B25"/>
                          </a:solidFill>
                        </a:rPr>
                        <a:t>4</a:t>
                      </a:r>
                    </a:p>
                  </a:txBody>
                  <a:tcPr marL="54864" marR="54864" marT="18288" marB="18288" anchor="ctr">
                    <a:solidFill>
                      <a:srgbClr val="FFFFFF"/>
                    </a:solidFill>
                  </a:tcPr>
                </a:tc>
                <a:extLst>
                  <a:ext uri="{0D108BD9-81ED-4DB2-BD59-A6C34878D82A}">
                    <a16:rowId xmlns:a16="http://schemas.microsoft.com/office/drawing/2014/main" val="10001"/>
                  </a:ext>
                </a:extLst>
              </a:tr>
              <a:tr h="310896">
                <a:tc>
                  <a:txBody>
                    <a:bodyPr/>
                    <a:lstStyle/>
                    <a:p>
                      <a:pPr algn="l"/>
                      <a:r>
                        <a:rPr sz="1100" b="0">
                          <a:solidFill>
                            <a:srgbClr val="222222"/>
                          </a:solidFill>
                        </a:rPr>
                        <a:t>perchunk (par chunk)</a:t>
                      </a:r>
                    </a:p>
                  </a:txBody>
                  <a:tcPr marL="54864" marR="54864" marT="18288" marB="18288" anchor="ctr">
                    <a:solidFill>
                      <a:srgbClr val="F4F6F9"/>
                    </a:solidFill>
                  </a:tcPr>
                </a:tc>
                <a:tc>
                  <a:txBody>
                    <a:bodyPr/>
                    <a:lstStyle/>
                    <a:p>
                      <a:pPr algn="l"/>
                      <a:r>
                        <a:rPr sz="1100" b="0">
                          <a:solidFill>
                            <a:srgbClr val="222222"/>
                          </a:solidFill>
                        </a:rPr>
                        <a:t>40 min 33</a:t>
                      </a:r>
                    </a:p>
                  </a:txBody>
                  <a:tcPr marL="54864" marR="54864" marT="18288" marB="18288" anchor="ctr">
                    <a:solidFill>
                      <a:srgbClr val="F4F6F9"/>
                    </a:solidFill>
                  </a:tcPr>
                </a:tc>
                <a:tc>
                  <a:txBody>
                    <a:bodyPr/>
                    <a:lstStyle/>
                    <a:p>
                      <a:pPr algn="l"/>
                      <a:r>
                        <a:rPr sz="1100" b="0">
                          <a:solidFill>
                            <a:srgbClr val="222222"/>
                          </a:solidFill>
                        </a:rPr>
                        <a:t>29 (4/chunk)</a:t>
                      </a:r>
                    </a:p>
                  </a:txBody>
                  <a:tcPr marL="54864" marR="54864" marT="18288" marB="18288" anchor="ctr">
                    <a:solidFill>
                      <a:srgbClr val="F4F6F9"/>
                    </a:solidFill>
                  </a:tcPr>
                </a:tc>
                <a:tc>
                  <a:txBody>
                    <a:bodyPr/>
                    <a:lstStyle/>
                    <a:p>
                      <a:pPr algn="l"/>
                      <a:r>
                        <a:rPr sz="1100" b="1">
                          <a:solidFill>
                            <a:srgbClr val="2E6B3F"/>
                          </a:solidFill>
                        </a:rPr>
                        <a:t>17 (9 engagements + 8 suggestions)</a:t>
                      </a:r>
                    </a:p>
                  </a:txBody>
                  <a:tcPr marL="54864" marR="54864" marT="18288" marB="18288" anchor="ctr">
                    <a:solidFill>
                      <a:srgbClr val="F4F6F9"/>
                    </a:solidFill>
                  </a:tcPr>
                </a:tc>
                <a:extLst>
                  <a:ext uri="{0D108BD9-81ED-4DB2-BD59-A6C34878D82A}">
                    <a16:rowId xmlns:a16="http://schemas.microsoft.com/office/drawing/2014/main" val="10002"/>
                  </a:ext>
                </a:extLst>
              </a:tr>
            </a:tbl>
          </a:graphicData>
        </a:graphic>
      </p:graphicFrame>
      <p:sp>
        <p:nvSpPr>
          <p:cNvPr id="5" name="Rectangle 4"/>
          <p:cNvSpPr/>
          <p:nvPr/>
        </p:nvSpPr>
        <p:spPr>
          <a:xfrm>
            <a:off x="457200" y="3383280"/>
            <a:ext cx="11274552" cy="914400"/>
          </a:xfrm>
          <a:prstGeom prst="rect">
            <a:avLst/>
          </a:prstGeom>
          <a:solidFill>
            <a:srgbClr val="EAF1EC"/>
          </a:solidFill>
          <a:ln w="9525">
            <a:solidFill>
              <a:srgbClr val="2E6B3F"/>
            </a:solidFill>
          </a:ln>
          <a:effectLst/>
        </p:spPr>
        <p:style>
          <a:lnRef idx="1">
            <a:schemeClr val="accent1"/>
          </a:lnRef>
          <a:fillRef idx="3">
            <a:schemeClr val="accent1"/>
          </a:fillRef>
          <a:effectRef idx="2">
            <a:schemeClr val="accent1"/>
          </a:effectRef>
          <a:fontRef idx="minor">
            <a:schemeClr val="lt1"/>
          </a:fontRef>
        </p:style>
        <p:txBody>
          <a:bodyPr wrap="square" lIns="137160" tIns="73152" rIns="137160" bIns="73152" rtlCol="0" anchor="ctr"/>
          <a:lstStyle/>
          <a:p>
            <a:pPr algn="ctr"/>
            <a:r>
              <a:rPr sz="1200" b="1">
                <a:solidFill>
                  <a:srgbClr val="2E6B3F"/>
                </a:solidFill>
              </a:rPr>
              <a:t>Verdict  </a:t>
            </a:r>
            <a:r>
              <a:rPr sz="1200">
                <a:solidFill>
                  <a:srgbClr val="222222"/>
                </a:solidFill>
              </a:rPr>
              <a:t>Adopté (perchunk). Plus lent d'environ 5 min mais extrait 17 items au lieu de 4, et l'assemblage final ne coûte plus d'appel LLM. Répond au reproche pas d'action prise.</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6868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wrap="square" lIns="365760" rtlCol="0" anchor="ctr"/>
          <a:lstStyle/>
          <a:p>
            <a:pPr algn="ctr"/>
            <a:r>
              <a:rPr sz="2200" b="1">
                <a:solidFill>
                  <a:srgbClr val="FFFFFF"/>
                </a:solidFill>
                <a:latin typeface="Georgia"/>
              </a:rPr>
              <a:t>3.3  Flash Attention : ON vs OFF</a:t>
            </a:r>
          </a:p>
        </p:txBody>
      </p:sp>
      <p:graphicFrame>
        <p:nvGraphicFramePr>
          <p:cNvPr id="3" name="Table 2"/>
          <p:cNvGraphicFramePr>
            <a:graphicFrameLocks noGrp="1"/>
          </p:cNvGraphicFramePr>
          <p:nvPr/>
        </p:nvGraphicFramePr>
        <p:xfrm>
          <a:off x="457200" y="1051560"/>
          <a:ext cx="11274549" cy="932688"/>
        </p:xfrm>
        <a:graphic>
          <a:graphicData uri="http://schemas.openxmlformats.org/drawingml/2006/table">
            <a:tbl>
              <a:tblPr>
                <a:tableStyleId>{2D5ABB26-0587-4C30-8999-92F81FD0307C}</a:tableStyleId>
              </a:tblPr>
              <a:tblGrid>
                <a:gridCol w="2952858">
                  <a:extLst>
                    <a:ext uri="{9D8B030D-6E8A-4147-A177-3AD203B41FA5}">
                      <a16:colId xmlns:a16="http://schemas.microsoft.com/office/drawing/2014/main" val="20000"/>
                    </a:ext>
                  </a:extLst>
                </a:gridCol>
                <a:gridCol w="3221300">
                  <a:extLst>
                    <a:ext uri="{9D8B030D-6E8A-4147-A177-3AD203B41FA5}">
                      <a16:colId xmlns:a16="http://schemas.microsoft.com/office/drawing/2014/main" val="20001"/>
                    </a:ext>
                  </a:extLst>
                </a:gridCol>
                <a:gridCol w="2415975">
                  <a:extLst>
                    <a:ext uri="{9D8B030D-6E8A-4147-A177-3AD203B41FA5}">
                      <a16:colId xmlns:a16="http://schemas.microsoft.com/office/drawing/2014/main" val="20002"/>
                    </a:ext>
                  </a:extLst>
                </a:gridCol>
                <a:gridCol w="1342208">
                  <a:extLst>
                    <a:ext uri="{9D8B030D-6E8A-4147-A177-3AD203B41FA5}">
                      <a16:colId xmlns:a16="http://schemas.microsoft.com/office/drawing/2014/main" val="20003"/>
                    </a:ext>
                  </a:extLst>
                </a:gridCol>
                <a:gridCol w="1342208">
                  <a:extLst>
                    <a:ext uri="{9D8B030D-6E8A-4147-A177-3AD203B41FA5}">
                      <a16:colId xmlns:a16="http://schemas.microsoft.com/office/drawing/2014/main" val="20004"/>
                    </a:ext>
                  </a:extLst>
                </a:gridCol>
              </a:tblGrid>
              <a:tr h="310896">
                <a:tc>
                  <a:txBody>
                    <a:bodyPr/>
                    <a:lstStyle/>
                    <a:p>
                      <a:pPr algn="l"/>
                      <a:r>
                        <a:rPr sz="1100" b="1">
                          <a:solidFill>
                            <a:srgbClr val="FFFFFF"/>
                          </a:solidFill>
                        </a:rPr>
                        <a:t>Configuration</a:t>
                      </a:r>
                    </a:p>
                  </a:txBody>
                  <a:tcPr marL="54864" marR="54864" marT="18288" marB="18288" anchor="ctr">
                    <a:solidFill>
                      <a:srgbClr val="1F3A5F"/>
                    </a:solidFill>
                  </a:tcPr>
                </a:tc>
                <a:tc>
                  <a:txBody>
                    <a:bodyPr/>
                    <a:lstStyle/>
                    <a:p>
                      <a:pPr algn="l"/>
                      <a:r>
                        <a:rPr sz="1100" b="1">
                          <a:solidFill>
                            <a:srgbClr val="FFFFFF"/>
                          </a:solidFill>
                        </a:rPr>
                        <a:t>Durée</a:t>
                      </a:r>
                    </a:p>
                  </a:txBody>
                  <a:tcPr marL="54864" marR="54864" marT="18288" marB="18288" anchor="ctr">
                    <a:solidFill>
                      <a:srgbClr val="1F3A5F"/>
                    </a:solidFill>
                  </a:tcPr>
                </a:tc>
                <a:tc>
                  <a:txBody>
                    <a:bodyPr/>
                    <a:lstStyle/>
                    <a:p>
                      <a:pPr algn="l"/>
                      <a:r>
                        <a:rPr sz="1100" b="1">
                          <a:solidFill>
                            <a:srgbClr val="FFFFFF"/>
                          </a:solidFill>
                        </a:rPr>
                        <a:t>RAM serveur pic</a:t>
                      </a:r>
                    </a:p>
                  </a:txBody>
                  <a:tcPr marL="54864" marR="54864" marT="18288" marB="18288" anchor="ctr">
                    <a:solidFill>
                      <a:srgbClr val="1F3A5F"/>
                    </a:solidFill>
                  </a:tcPr>
                </a:tc>
                <a:tc>
                  <a:txBody>
                    <a:bodyPr/>
                    <a:lstStyle/>
                    <a:p>
                      <a:pPr algn="l"/>
                      <a:r>
                        <a:rPr sz="1100" b="1">
                          <a:solidFill>
                            <a:srgbClr val="FFFFFF"/>
                          </a:solidFill>
                        </a:rPr>
                        <a:t>Chunks</a:t>
                      </a:r>
                    </a:p>
                  </a:txBody>
                  <a:tcPr marL="54864" marR="54864" marT="18288" marB="18288" anchor="ctr">
                    <a:solidFill>
                      <a:srgbClr val="1F3A5F"/>
                    </a:solidFill>
                  </a:tcPr>
                </a:tc>
                <a:tc>
                  <a:txBody>
                    <a:bodyPr/>
                    <a:lstStyle/>
                    <a:p>
                      <a:pPr algn="l"/>
                      <a:r>
                        <a:rPr sz="1100" b="1">
                          <a:solidFill>
                            <a:srgbClr val="FFFFFF"/>
                          </a:solidFill>
                        </a:rPr>
                        <a:t>Appels</a:t>
                      </a:r>
                    </a:p>
                  </a:txBody>
                  <a:tcPr marL="54864" marR="54864" marT="18288" marB="18288" anchor="ctr">
                    <a:solidFill>
                      <a:srgbClr val="1F3A5F"/>
                    </a:solidFill>
                  </a:tcPr>
                </a:tc>
                <a:extLst>
                  <a:ext uri="{0D108BD9-81ED-4DB2-BD59-A6C34878D82A}">
                    <a16:rowId xmlns:a16="http://schemas.microsoft.com/office/drawing/2014/main" val="10000"/>
                  </a:ext>
                </a:extLst>
              </a:tr>
              <a:tr h="310896">
                <a:tc>
                  <a:txBody>
                    <a:bodyPr/>
                    <a:lstStyle/>
                    <a:p>
                      <a:pPr algn="l"/>
                      <a:r>
                        <a:rPr sz="1100" b="0" dirty="0">
                          <a:solidFill>
                            <a:srgbClr val="222222"/>
                          </a:solidFill>
                        </a:rPr>
                        <a:t>Flash Attention ON</a:t>
                      </a:r>
                    </a:p>
                  </a:txBody>
                  <a:tcPr marL="54864" marR="54864" marT="18288" marB="18288" anchor="ctr">
                    <a:solidFill>
                      <a:srgbClr val="FFFFFF"/>
                    </a:solidFill>
                  </a:tcPr>
                </a:tc>
                <a:tc>
                  <a:txBody>
                    <a:bodyPr/>
                    <a:lstStyle/>
                    <a:p>
                      <a:pPr algn="l"/>
                      <a:r>
                        <a:rPr sz="1100" b="1">
                          <a:solidFill>
                            <a:srgbClr val="2E6B3F"/>
                          </a:solidFill>
                        </a:rPr>
                        <a:t>25 min 14 (1 513,8 s)</a:t>
                      </a:r>
                    </a:p>
                  </a:txBody>
                  <a:tcPr marL="54864" marR="54864" marT="18288" marB="18288" anchor="ctr">
                    <a:solidFill>
                      <a:srgbClr val="FFFFFF"/>
                    </a:solidFill>
                  </a:tcPr>
                </a:tc>
                <a:tc>
                  <a:txBody>
                    <a:bodyPr/>
                    <a:lstStyle/>
                    <a:p>
                      <a:pPr algn="l"/>
                      <a:r>
                        <a:rPr sz="1100" b="0">
                          <a:solidFill>
                            <a:srgbClr val="222222"/>
                          </a:solidFill>
                        </a:rPr>
                        <a:t>4 557 Mo</a:t>
                      </a:r>
                    </a:p>
                  </a:txBody>
                  <a:tcPr marL="54864" marR="54864" marT="18288" marB="18288" anchor="ctr">
                    <a:solidFill>
                      <a:srgbClr val="FFFFFF"/>
                    </a:solidFill>
                  </a:tcPr>
                </a:tc>
                <a:tc>
                  <a:txBody>
                    <a:bodyPr/>
                    <a:lstStyle/>
                    <a:p>
                      <a:pPr algn="l"/>
                      <a:r>
                        <a:rPr sz="1100" b="0">
                          <a:solidFill>
                            <a:srgbClr val="222222"/>
                          </a:solidFill>
                        </a:rPr>
                        <a:t>10</a:t>
                      </a:r>
                    </a:p>
                  </a:txBody>
                  <a:tcPr marL="54864" marR="54864" marT="18288" marB="18288" anchor="ctr">
                    <a:solidFill>
                      <a:srgbClr val="FFFFFF"/>
                    </a:solidFill>
                  </a:tcPr>
                </a:tc>
                <a:tc>
                  <a:txBody>
                    <a:bodyPr/>
                    <a:lstStyle/>
                    <a:p>
                      <a:pPr algn="l"/>
                      <a:r>
                        <a:rPr sz="1100" b="0">
                          <a:solidFill>
                            <a:srgbClr val="222222"/>
                          </a:solidFill>
                        </a:rPr>
                        <a:t>31</a:t>
                      </a:r>
                    </a:p>
                  </a:txBody>
                  <a:tcPr marL="54864" marR="54864" marT="18288" marB="18288" anchor="ctr">
                    <a:solidFill>
                      <a:srgbClr val="FFFFFF"/>
                    </a:solidFill>
                  </a:tcPr>
                </a:tc>
                <a:extLst>
                  <a:ext uri="{0D108BD9-81ED-4DB2-BD59-A6C34878D82A}">
                    <a16:rowId xmlns:a16="http://schemas.microsoft.com/office/drawing/2014/main" val="10001"/>
                  </a:ext>
                </a:extLst>
              </a:tr>
              <a:tr h="310896">
                <a:tc>
                  <a:txBody>
                    <a:bodyPr/>
                    <a:lstStyle/>
                    <a:p>
                      <a:pPr algn="l"/>
                      <a:r>
                        <a:rPr sz="1100" b="0">
                          <a:solidFill>
                            <a:srgbClr val="222222"/>
                          </a:solidFill>
                        </a:rPr>
                        <a:t>Flash Attention OFF</a:t>
                      </a:r>
                    </a:p>
                  </a:txBody>
                  <a:tcPr marL="54864" marR="54864" marT="18288" marB="18288" anchor="ctr">
                    <a:solidFill>
                      <a:srgbClr val="F4F6F9"/>
                    </a:solidFill>
                  </a:tcPr>
                </a:tc>
                <a:tc>
                  <a:txBody>
                    <a:bodyPr/>
                    <a:lstStyle/>
                    <a:p>
                      <a:pPr algn="l"/>
                      <a:r>
                        <a:rPr sz="1100" b="1">
                          <a:solidFill>
                            <a:srgbClr val="9E2B25"/>
                          </a:solidFill>
                        </a:rPr>
                        <a:t>33 min 29 (2 009,2 s)</a:t>
                      </a:r>
                    </a:p>
                  </a:txBody>
                  <a:tcPr marL="54864" marR="54864" marT="18288" marB="18288" anchor="ctr">
                    <a:solidFill>
                      <a:srgbClr val="F4F6F9"/>
                    </a:solidFill>
                  </a:tcPr>
                </a:tc>
                <a:tc>
                  <a:txBody>
                    <a:bodyPr/>
                    <a:lstStyle/>
                    <a:p>
                      <a:pPr algn="l"/>
                      <a:r>
                        <a:rPr sz="1100" b="0">
                          <a:solidFill>
                            <a:srgbClr val="222222"/>
                          </a:solidFill>
                        </a:rPr>
                        <a:t>5 467 Mo</a:t>
                      </a:r>
                    </a:p>
                  </a:txBody>
                  <a:tcPr marL="54864" marR="54864" marT="18288" marB="18288" anchor="ctr">
                    <a:solidFill>
                      <a:srgbClr val="F4F6F9"/>
                    </a:solidFill>
                  </a:tcPr>
                </a:tc>
                <a:tc>
                  <a:txBody>
                    <a:bodyPr/>
                    <a:lstStyle/>
                    <a:p>
                      <a:pPr algn="l"/>
                      <a:r>
                        <a:rPr sz="1100" b="0">
                          <a:solidFill>
                            <a:srgbClr val="222222"/>
                          </a:solidFill>
                        </a:rPr>
                        <a:t>7</a:t>
                      </a:r>
                    </a:p>
                  </a:txBody>
                  <a:tcPr marL="54864" marR="54864" marT="18288" marB="18288" anchor="ctr">
                    <a:solidFill>
                      <a:srgbClr val="F4F6F9"/>
                    </a:solidFill>
                  </a:tcPr>
                </a:tc>
                <a:tc>
                  <a:txBody>
                    <a:bodyPr/>
                    <a:lstStyle/>
                    <a:p>
                      <a:pPr algn="l"/>
                      <a:r>
                        <a:rPr sz="1100" b="0" dirty="0">
                          <a:solidFill>
                            <a:srgbClr val="222222"/>
                          </a:solidFill>
                        </a:rPr>
                        <a:t>22</a:t>
                      </a:r>
                    </a:p>
                  </a:txBody>
                  <a:tcPr marL="54864" marR="54864" marT="18288" marB="18288" anchor="ctr">
                    <a:solidFill>
                      <a:srgbClr val="F4F6F9"/>
                    </a:solidFill>
                  </a:tcPr>
                </a:tc>
                <a:extLst>
                  <a:ext uri="{0D108BD9-81ED-4DB2-BD59-A6C34878D82A}">
                    <a16:rowId xmlns:a16="http://schemas.microsoft.com/office/drawing/2014/main" val="10002"/>
                  </a:ext>
                </a:extLst>
              </a:tr>
            </a:tbl>
          </a:graphicData>
        </a:graphic>
      </p:graphicFrame>
      <p:sp>
        <p:nvSpPr>
          <p:cNvPr id="4" name="Rectangle 3"/>
          <p:cNvSpPr/>
          <p:nvPr/>
        </p:nvSpPr>
        <p:spPr>
          <a:xfrm>
            <a:off x="457200" y="2468880"/>
            <a:ext cx="11274552" cy="640080"/>
          </a:xfrm>
          <a:prstGeom prst="rect">
            <a:avLst/>
          </a:prstGeom>
          <a:solidFill>
            <a:srgbClr val="EAF1EC"/>
          </a:solidFill>
          <a:ln w="9525">
            <a:solidFill>
              <a:srgbClr val="2E6B3F"/>
            </a:solidFill>
          </a:ln>
          <a:effectLst/>
        </p:spPr>
        <p:style>
          <a:lnRef idx="1">
            <a:schemeClr val="accent1"/>
          </a:lnRef>
          <a:fillRef idx="3">
            <a:schemeClr val="accent1"/>
          </a:fillRef>
          <a:effectRef idx="2">
            <a:schemeClr val="accent1"/>
          </a:effectRef>
          <a:fontRef idx="minor">
            <a:schemeClr val="lt1"/>
          </a:fontRef>
        </p:style>
        <p:txBody>
          <a:bodyPr wrap="square" lIns="137160" tIns="73152" rIns="137160" bIns="73152" rtlCol="0" anchor="ctr"/>
          <a:lstStyle/>
          <a:p>
            <a:pPr algn="ctr"/>
            <a:r>
              <a:rPr sz="1200" b="1">
                <a:solidFill>
                  <a:srgbClr val="2E6B3F"/>
                </a:solidFill>
              </a:rPr>
              <a:t>Verdict  </a:t>
            </a:r>
            <a:r>
              <a:rPr sz="1200">
                <a:solidFill>
                  <a:srgbClr val="222222"/>
                </a:solidFill>
              </a:rPr>
              <a:t>Adopté (ON). Plus rapide (environ -25 %) et moins de RAM pic.</a:t>
            </a:r>
          </a:p>
        </p:txBody>
      </p:sp>
      <p:sp>
        <p:nvSpPr>
          <p:cNvPr id="5" name="Rectangle 4"/>
          <p:cNvSpPr/>
          <p:nvPr/>
        </p:nvSpPr>
        <p:spPr>
          <a:xfrm>
            <a:off x="457200" y="3200400"/>
            <a:ext cx="11274552" cy="1554480"/>
          </a:xfrm>
          <a:prstGeom prst="rect">
            <a:avLst/>
          </a:prstGeom>
          <a:solidFill>
            <a:srgbClr val="EEF2F6"/>
          </a:solidFill>
          <a:ln w="9525">
            <a:solidFill>
              <a:srgbClr val="1F3A5F"/>
            </a:solidFill>
          </a:ln>
          <a:effectLst/>
        </p:spPr>
        <p:style>
          <a:lnRef idx="1">
            <a:schemeClr val="accent1"/>
          </a:lnRef>
          <a:fillRef idx="3">
            <a:schemeClr val="accent1"/>
          </a:fillRef>
          <a:effectRef idx="2">
            <a:schemeClr val="accent1"/>
          </a:effectRef>
          <a:fontRef idx="minor">
            <a:schemeClr val="lt1"/>
          </a:fontRef>
        </p:style>
        <p:txBody>
          <a:bodyPr wrap="square" lIns="137160" tIns="73152" rIns="137160" bIns="73152" rtlCol="0" anchor="ctr"/>
          <a:lstStyle/>
          <a:p>
            <a:pPr algn="ctr"/>
            <a:r>
              <a:rPr sz="1150" b="1">
                <a:solidFill>
                  <a:srgbClr val="1F3A5F"/>
                </a:solidFill>
              </a:rPr>
              <a:t>Analyse  </a:t>
            </a:r>
            <a:r>
              <a:rPr sz="1150">
                <a:solidFill>
                  <a:srgbClr val="222222"/>
                </a:solidFill>
              </a:rPr>
              <a:t>L'attention standard matérialise une matrice N×N qu'il faut écrire puis relire en mémoire (coûteux en bande passante, le vrai goulot). FlashAttention (Dao et al. 2022) la calcule par TUILES sans jamais la matérialiser (IO-aware) : moins d'accès mémoire, moins de RAM. Dans llama.cpp, l'activer fournit ce noyau fusionné ET débloque la quantification du cache KV.</a:t>
            </a:r>
          </a:p>
        </p:txBody>
      </p:sp>
      <p:sp>
        <p:nvSpPr>
          <p:cNvPr id="6" name="TextBox 5"/>
          <p:cNvSpPr txBox="1"/>
          <p:nvPr/>
        </p:nvSpPr>
        <p:spPr>
          <a:xfrm>
            <a:off x="457200" y="4846320"/>
            <a:ext cx="11274552" cy="457200"/>
          </a:xfrm>
          <a:prstGeom prst="rect">
            <a:avLst/>
          </a:prstGeom>
          <a:noFill/>
        </p:spPr>
        <p:txBody>
          <a:bodyPr wrap="square">
            <a:spAutoFit/>
          </a:bodyPr>
          <a:lstStyle/>
          <a:p>
            <a:r>
              <a:rPr sz="900" b="1">
                <a:solidFill>
                  <a:srgbClr val="5A5A5A"/>
                </a:solidFill>
              </a:rPr>
              <a:t>Source(s) : </a:t>
            </a:r>
            <a:r>
              <a:rPr sz="900" u="sng">
                <a:solidFill>
                  <a:srgbClr val="1F3A5F"/>
                </a:solidFill>
                <a:hlinkClick r:id="rId2"/>
              </a:rPr>
              <a:t>FlashAttention, Dao et al., NeurIPS 2022</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6868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wrap="square" lIns="365760" rtlCol="0" anchor="ctr"/>
          <a:lstStyle/>
          <a:p>
            <a:pPr algn="ctr"/>
            <a:r>
              <a:rPr sz="2200" b="1">
                <a:solidFill>
                  <a:srgbClr val="FFFFFF"/>
                </a:solidFill>
                <a:latin typeface="Georgia"/>
              </a:rPr>
              <a:t>3.4  Cache KV quantifié (q8_0)</a:t>
            </a:r>
          </a:p>
        </p:txBody>
      </p:sp>
      <p:sp>
        <p:nvSpPr>
          <p:cNvPr id="3" name="Rectangle 2"/>
          <p:cNvSpPr/>
          <p:nvPr/>
        </p:nvSpPr>
        <p:spPr>
          <a:xfrm>
            <a:off x="457200" y="1051560"/>
            <a:ext cx="11274552" cy="640080"/>
          </a:xfrm>
          <a:prstGeom prst="rect">
            <a:avLst/>
          </a:prstGeom>
          <a:solidFill>
            <a:srgbClr val="EAF1EC"/>
          </a:solidFill>
          <a:ln w="9525">
            <a:solidFill>
              <a:srgbClr val="2E6B3F"/>
            </a:solidFill>
          </a:ln>
          <a:effectLst/>
        </p:spPr>
        <p:style>
          <a:lnRef idx="1">
            <a:schemeClr val="accent1"/>
          </a:lnRef>
          <a:fillRef idx="3">
            <a:schemeClr val="accent1"/>
          </a:fillRef>
          <a:effectRef idx="2">
            <a:schemeClr val="accent1"/>
          </a:effectRef>
          <a:fontRef idx="minor">
            <a:schemeClr val="lt1"/>
          </a:fontRef>
        </p:style>
        <p:txBody>
          <a:bodyPr wrap="square" lIns="137160" tIns="73152" rIns="137160" bIns="73152" rtlCol="0" anchor="ctr"/>
          <a:lstStyle/>
          <a:p>
            <a:pPr algn="ctr"/>
            <a:r>
              <a:rPr sz="1200" b="1">
                <a:solidFill>
                  <a:srgbClr val="2E6B3F"/>
                </a:solidFill>
              </a:rPr>
              <a:t>Verdict  </a:t>
            </a:r>
            <a:r>
              <a:rPr sz="1200">
                <a:solidFill>
                  <a:srgbClr val="222222"/>
                </a:solidFill>
              </a:rPr>
              <a:t>Adopté. Allège la mémoire du cache sans dégradation observée de la sortie.</a:t>
            </a:r>
          </a:p>
        </p:txBody>
      </p:sp>
      <p:sp>
        <p:nvSpPr>
          <p:cNvPr id="4" name="Rectangle 3"/>
          <p:cNvSpPr/>
          <p:nvPr/>
        </p:nvSpPr>
        <p:spPr>
          <a:xfrm>
            <a:off x="457200" y="1828800"/>
            <a:ext cx="11274552" cy="1737360"/>
          </a:xfrm>
          <a:prstGeom prst="rect">
            <a:avLst/>
          </a:prstGeom>
          <a:solidFill>
            <a:srgbClr val="EEF2F6"/>
          </a:solidFill>
          <a:ln w="9525">
            <a:solidFill>
              <a:srgbClr val="1F3A5F"/>
            </a:solidFill>
          </a:ln>
          <a:effectLst/>
        </p:spPr>
        <p:style>
          <a:lnRef idx="1">
            <a:schemeClr val="accent1"/>
          </a:lnRef>
          <a:fillRef idx="3">
            <a:schemeClr val="accent1"/>
          </a:fillRef>
          <a:effectRef idx="2">
            <a:schemeClr val="accent1"/>
          </a:effectRef>
          <a:fontRef idx="minor">
            <a:schemeClr val="lt1"/>
          </a:fontRef>
        </p:style>
        <p:txBody>
          <a:bodyPr wrap="square" lIns="137160" tIns="73152" rIns="137160" bIns="73152" rtlCol="0" anchor="ctr"/>
          <a:lstStyle/>
          <a:p>
            <a:pPr algn="ctr"/>
            <a:r>
              <a:rPr sz="1200" b="1">
                <a:solidFill>
                  <a:srgbClr val="1F3A5F"/>
                </a:solidFill>
              </a:rPr>
              <a:t>Analyse  </a:t>
            </a:r>
            <a:r>
              <a:rPr sz="1200">
                <a:solidFill>
                  <a:srgbClr val="222222"/>
                </a:solidFill>
              </a:rPr>
              <a:t>Pendant la génération, le cache KV grossit avec le contexte et finit par dominer la mémoire ; or sur CPU le facteur limitant est la bande passante mémoire (relire ce cache à chaque token). Le quantifier en 8 bits (q8_0) divise environ par deux son empreinte et la bande passante nécessaire, avec une perte négligeable à 8 bits. C'est le constat général de la littérature sur la quantification du cache KV (KVQuant).</a:t>
            </a:r>
          </a:p>
        </p:txBody>
      </p:sp>
      <p:sp>
        <p:nvSpPr>
          <p:cNvPr id="5" name="TextBox 4"/>
          <p:cNvSpPr txBox="1"/>
          <p:nvPr/>
        </p:nvSpPr>
        <p:spPr>
          <a:xfrm>
            <a:off x="457200" y="3657600"/>
            <a:ext cx="11274552" cy="457200"/>
          </a:xfrm>
          <a:prstGeom prst="rect">
            <a:avLst/>
          </a:prstGeom>
          <a:noFill/>
        </p:spPr>
        <p:txBody>
          <a:bodyPr wrap="square">
            <a:spAutoFit/>
          </a:bodyPr>
          <a:lstStyle/>
          <a:p>
            <a:r>
              <a:rPr sz="900" b="1">
                <a:solidFill>
                  <a:srgbClr val="5A5A5A"/>
                </a:solidFill>
              </a:rPr>
              <a:t>Source(s) : </a:t>
            </a:r>
            <a:r>
              <a:rPr sz="900" u="sng">
                <a:solidFill>
                  <a:srgbClr val="1F3A5F"/>
                </a:solidFill>
                <a:hlinkClick r:id="rId2"/>
              </a:rPr>
              <a:t>KVQuant, Hooper et al., NeurIPS 2024</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6868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wrap="square" lIns="365760" rtlCol="0" anchor="ctr"/>
          <a:lstStyle/>
          <a:p>
            <a:pPr algn="ctr"/>
            <a:r>
              <a:rPr sz="2200" b="1">
                <a:solidFill>
                  <a:srgbClr val="FFFFFF"/>
                </a:solidFill>
                <a:latin typeface="Georgia"/>
              </a:rPr>
              <a:t>3.5  Ordre du prompt document-first (réutilisation du cache KV)</a:t>
            </a:r>
          </a:p>
        </p:txBody>
      </p:sp>
      <p:sp>
        <p:nvSpPr>
          <p:cNvPr id="3" name="TextBox 2"/>
          <p:cNvSpPr txBox="1"/>
          <p:nvPr/>
        </p:nvSpPr>
        <p:spPr>
          <a:xfrm>
            <a:off x="457200" y="1005840"/>
            <a:ext cx="11274552" cy="548640"/>
          </a:xfrm>
          <a:prstGeom prst="rect">
            <a:avLst/>
          </a:prstGeom>
          <a:noFill/>
        </p:spPr>
        <p:txBody>
          <a:bodyPr wrap="square">
            <a:spAutoFit/>
          </a:bodyPr>
          <a:lstStyle/>
          <a:p>
            <a:r>
              <a:rPr sz="1200" b="0" i="0">
                <a:solidFill>
                  <a:srgbClr val="222222"/>
                </a:solidFill>
              </a:rPr>
              <a:t>Placer le texte du chunk AVANT les instructions. Son cache KV est calculé une fois puis réutilisé par les appels suivants du même chunk (preuve : chunk 9, run ik_v5).</a:t>
            </a:r>
          </a:p>
        </p:txBody>
      </p:sp>
      <p:graphicFrame>
        <p:nvGraphicFramePr>
          <p:cNvPr id="4" name="Table 3"/>
          <p:cNvGraphicFramePr>
            <a:graphicFrameLocks noGrp="1"/>
          </p:cNvGraphicFramePr>
          <p:nvPr/>
        </p:nvGraphicFramePr>
        <p:xfrm>
          <a:off x="457200" y="1783080"/>
          <a:ext cx="11274550" cy="932688"/>
        </p:xfrm>
        <a:graphic>
          <a:graphicData uri="http://schemas.openxmlformats.org/drawingml/2006/table">
            <a:tbl>
              <a:tblPr>
                <a:tableStyleId>{2D5ABB26-0587-4C30-8999-92F81FD0307C}</a:tableStyleId>
              </a:tblPr>
              <a:tblGrid>
                <a:gridCol w="2621988">
                  <a:extLst>
                    <a:ext uri="{9D8B030D-6E8A-4147-A177-3AD203B41FA5}">
                      <a16:colId xmlns:a16="http://schemas.microsoft.com/office/drawing/2014/main" val="20000"/>
                    </a:ext>
                  </a:extLst>
                </a:gridCol>
                <a:gridCol w="2359789">
                  <a:extLst>
                    <a:ext uri="{9D8B030D-6E8A-4147-A177-3AD203B41FA5}">
                      <a16:colId xmlns:a16="http://schemas.microsoft.com/office/drawing/2014/main" val="20001"/>
                    </a:ext>
                  </a:extLst>
                </a:gridCol>
                <a:gridCol w="2097591">
                  <a:extLst>
                    <a:ext uri="{9D8B030D-6E8A-4147-A177-3AD203B41FA5}">
                      <a16:colId xmlns:a16="http://schemas.microsoft.com/office/drawing/2014/main" val="20002"/>
                    </a:ext>
                  </a:extLst>
                </a:gridCol>
                <a:gridCol w="4195182">
                  <a:extLst>
                    <a:ext uri="{9D8B030D-6E8A-4147-A177-3AD203B41FA5}">
                      <a16:colId xmlns:a16="http://schemas.microsoft.com/office/drawing/2014/main" val="20003"/>
                    </a:ext>
                  </a:extLst>
                </a:gridCol>
              </a:tblGrid>
              <a:tr h="310896">
                <a:tc>
                  <a:txBody>
                    <a:bodyPr/>
                    <a:lstStyle/>
                    <a:p>
                      <a:pPr algn="l"/>
                      <a:r>
                        <a:rPr sz="1100" b="1">
                          <a:solidFill>
                            <a:srgbClr val="FFFFFF"/>
                          </a:solidFill>
                        </a:rPr>
                        <a:t>Appel sur le chunk</a:t>
                      </a:r>
                    </a:p>
                  </a:txBody>
                  <a:tcPr marL="54864" marR="54864" marT="18288" marB="18288" anchor="ctr">
                    <a:solidFill>
                      <a:srgbClr val="1F3A5F"/>
                    </a:solidFill>
                  </a:tcPr>
                </a:tc>
                <a:tc>
                  <a:txBody>
                    <a:bodyPr/>
                    <a:lstStyle/>
                    <a:p>
                      <a:pPr algn="l"/>
                      <a:r>
                        <a:rPr sz="1100" b="1">
                          <a:solidFill>
                            <a:srgbClr val="FFFFFF"/>
                          </a:solidFill>
                        </a:rPr>
                        <a:t>Tokens à prefiller</a:t>
                      </a:r>
                    </a:p>
                  </a:txBody>
                  <a:tcPr marL="54864" marR="54864" marT="18288" marB="18288" anchor="ctr">
                    <a:solidFill>
                      <a:srgbClr val="1F3A5F"/>
                    </a:solidFill>
                  </a:tcPr>
                </a:tc>
                <a:tc>
                  <a:txBody>
                    <a:bodyPr/>
                    <a:lstStyle/>
                    <a:p>
                      <a:pPr algn="l"/>
                      <a:r>
                        <a:rPr sz="1100" b="1">
                          <a:solidFill>
                            <a:srgbClr val="FFFFFF"/>
                          </a:solidFill>
                        </a:rPr>
                        <a:t>Temps de prefill</a:t>
                      </a:r>
                    </a:p>
                  </a:txBody>
                  <a:tcPr marL="54864" marR="54864" marT="18288" marB="18288" anchor="ctr">
                    <a:solidFill>
                      <a:srgbClr val="1F3A5F"/>
                    </a:solidFill>
                  </a:tcPr>
                </a:tc>
                <a:tc>
                  <a:txBody>
                    <a:bodyPr/>
                    <a:lstStyle/>
                    <a:p>
                      <a:pPr algn="l"/>
                      <a:r>
                        <a:rPr sz="1100" b="1">
                          <a:solidFill>
                            <a:srgbClr val="FFFFFF"/>
                          </a:solidFill>
                        </a:rPr>
                        <a:t>Pourquoi</a:t>
                      </a:r>
                    </a:p>
                  </a:txBody>
                  <a:tcPr marL="54864" marR="54864" marT="18288" marB="18288" anchor="ctr">
                    <a:solidFill>
                      <a:srgbClr val="1F3A5F"/>
                    </a:solidFill>
                  </a:tcPr>
                </a:tc>
                <a:extLst>
                  <a:ext uri="{0D108BD9-81ED-4DB2-BD59-A6C34878D82A}">
                    <a16:rowId xmlns:a16="http://schemas.microsoft.com/office/drawing/2014/main" val="10000"/>
                  </a:ext>
                </a:extLst>
              </a:tr>
              <a:tr h="310896">
                <a:tc>
                  <a:txBody>
                    <a:bodyPr/>
                    <a:lstStyle/>
                    <a:p>
                      <a:pPr algn="l"/>
                      <a:r>
                        <a:rPr sz="1100" b="0">
                          <a:solidFill>
                            <a:srgbClr val="222222"/>
                          </a:solidFill>
                        </a:rPr>
                        <a:t>1er, Résumé</a:t>
                      </a:r>
                    </a:p>
                  </a:txBody>
                  <a:tcPr marL="54864" marR="54864" marT="18288" marB="18288" anchor="ctr">
                    <a:solidFill>
                      <a:srgbClr val="FFFFFF"/>
                    </a:solidFill>
                  </a:tcPr>
                </a:tc>
                <a:tc>
                  <a:txBody>
                    <a:bodyPr/>
                    <a:lstStyle/>
                    <a:p>
                      <a:pPr algn="l"/>
                      <a:r>
                        <a:rPr sz="1100" b="0">
                          <a:solidFill>
                            <a:srgbClr val="222222"/>
                          </a:solidFill>
                        </a:rPr>
                        <a:t>1 394 tokens</a:t>
                      </a:r>
                    </a:p>
                  </a:txBody>
                  <a:tcPr marL="54864" marR="54864" marT="18288" marB="18288" anchor="ctr">
                    <a:solidFill>
                      <a:srgbClr val="FFFFFF"/>
                    </a:solidFill>
                  </a:tcPr>
                </a:tc>
                <a:tc>
                  <a:txBody>
                    <a:bodyPr/>
                    <a:lstStyle/>
                    <a:p>
                      <a:pPr algn="l"/>
                      <a:r>
                        <a:rPr sz="1100" b="1">
                          <a:solidFill>
                            <a:srgbClr val="9E2B25"/>
                          </a:solidFill>
                        </a:rPr>
                        <a:t>~45,5 s</a:t>
                      </a:r>
                    </a:p>
                  </a:txBody>
                  <a:tcPr marL="54864" marR="54864" marT="18288" marB="18288" anchor="ctr">
                    <a:solidFill>
                      <a:srgbClr val="FFFFFF"/>
                    </a:solidFill>
                  </a:tcPr>
                </a:tc>
                <a:tc>
                  <a:txBody>
                    <a:bodyPr/>
                    <a:lstStyle/>
                    <a:p>
                      <a:pPr algn="l"/>
                      <a:r>
                        <a:rPr sz="1100" b="0">
                          <a:solidFill>
                            <a:srgbClr val="222222"/>
                          </a:solidFill>
                        </a:rPr>
                        <a:t>charge tout le texte du chunk</a:t>
                      </a:r>
                    </a:p>
                  </a:txBody>
                  <a:tcPr marL="54864" marR="54864" marT="18288" marB="18288" anchor="ctr">
                    <a:solidFill>
                      <a:srgbClr val="FFFFFF"/>
                    </a:solidFill>
                  </a:tcPr>
                </a:tc>
                <a:extLst>
                  <a:ext uri="{0D108BD9-81ED-4DB2-BD59-A6C34878D82A}">
                    <a16:rowId xmlns:a16="http://schemas.microsoft.com/office/drawing/2014/main" val="10001"/>
                  </a:ext>
                </a:extLst>
              </a:tr>
              <a:tr h="310896">
                <a:tc>
                  <a:txBody>
                    <a:bodyPr/>
                    <a:lstStyle/>
                    <a:p>
                      <a:pPr algn="l"/>
                      <a:r>
                        <a:rPr sz="1100" b="0">
                          <a:solidFill>
                            <a:srgbClr val="222222"/>
                          </a:solidFill>
                        </a:rPr>
                        <a:t>2e, Extraction</a:t>
                      </a:r>
                    </a:p>
                  </a:txBody>
                  <a:tcPr marL="54864" marR="54864" marT="18288" marB="18288" anchor="ctr">
                    <a:solidFill>
                      <a:srgbClr val="F4F6F9"/>
                    </a:solidFill>
                  </a:tcPr>
                </a:tc>
                <a:tc>
                  <a:txBody>
                    <a:bodyPr/>
                    <a:lstStyle/>
                    <a:p>
                      <a:pPr algn="l"/>
                      <a:r>
                        <a:rPr sz="1100" b="0">
                          <a:solidFill>
                            <a:srgbClr val="222222"/>
                          </a:solidFill>
                        </a:rPr>
                        <a:t>220 tokens</a:t>
                      </a:r>
                    </a:p>
                  </a:txBody>
                  <a:tcPr marL="54864" marR="54864" marT="18288" marB="18288" anchor="ctr">
                    <a:solidFill>
                      <a:srgbClr val="F4F6F9"/>
                    </a:solidFill>
                  </a:tcPr>
                </a:tc>
                <a:tc>
                  <a:txBody>
                    <a:bodyPr/>
                    <a:lstStyle/>
                    <a:p>
                      <a:pPr algn="l"/>
                      <a:r>
                        <a:rPr sz="1100" b="1">
                          <a:solidFill>
                            <a:srgbClr val="2E6B3F"/>
                          </a:solidFill>
                        </a:rPr>
                        <a:t>~9,3 s</a:t>
                      </a:r>
                    </a:p>
                  </a:txBody>
                  <a:tcPr marL="54864" marR="54864" marT="18288" marB="18288" anchor="ctr">
                    <a:solidFill>
                      <a:srgbClr val="F4F6F9"/>
                    </a:solidFill>
                  </a:tcPr>
                </a:tc>
                <a:tc>
                  <a:txBody>
                    <a:bodyPr/>
                    <a:lstStyle/>
                    <a:p>
                      <a:pPr algn="l"/>
                      <a:r>
                        <a:rPr sz="1100" b="0">
                          <a:solidFill>
                            <a:srgbClr val="222222"/>
                          </a:solidFill>
                        </a:rPr>
                        <a:t>texte déjà en cache, traite juste les instructions</a:t>
                      </a:r>
                    </a:p>
                  </a:txBody>
                  <a:tcPr marL="54864" marR="54864" marT="18288" marB="18288" anchor="ctr">
                    <a:solidFill>
                      <a:srgbClr val="F4F6F9"/>
                    </a:solidFill>
                  </a:tcPr>
                </a:tc>
                <a:extLst>
                  <a:ext uri="{0D108BD9-81ED-4DB2-BD59-A6C34878D82A}">
                    <a16:rowId xmlns:a16="http://schemas.microsoft.com/office/drawing/2014/main" val="10002"/>
                  </a:ext>
                </a:extLst>
              </a:tr>
            </a:tbl>
          </a:graphicData>
        </a:graphic>
      </p:graphicFrame>
      <p:sp>
        <p:nvSpPr>
          <p:cNvPr id="5" name="Rectangle 4"/>
          <p:cNvSpPr/>
          <p:nvPr/>
        </p:nvSpPr>
        <p:spPr>
          <a:xfrm>
            <a:off x="457200" y="3291840"/>
            <a:ext cx="11274552" cy="1463040"/>
          </a:xfrm>
          <a:prstGeom prst="rect">
            <a:avLst/>
          </a:prstGeom>
          <a:solidFill>
            <a:srgbClr val="EEF2F6"/>
          </a:solidFill>
          <a:ln w="9525">
            <a:solidFill>
              <a:srgbClr val="1F3A5F"/>
            </a:solidFill>
          </a:ln>
          <a:effectLst/>
        </p:spPr>
        <p:style>
          <a:lnRef idx="1">
            <a:schemeClr val="accent1"/>
          </a:lnRef>
          <a:fillRef idx="3">
            <a:schemeClr val="accent1"/>
          </a:fillRef>
          <a:effectRef idx="2">
            <a:schemeClr val="accent1"/>
          </a:effectRef>
          <a:fontRef idx="minor">
            <a:schemeClr val="lt1"/>
          </a:fontRef>
        </p:style>
        <p:txBody>
          <a:bodyPr wrap="square" lIns="137160" tIns="73152" rIns="137160" bIns="73152" rtlCol="0" anchor="ctr"/>
          <a:lstStyle/>
          <a:p>
            <a:pPr algn="ctr"/>
            <a:r>
              <a:rPr sz="1150" b="1">
                <a:solidFill>
                  <a:srgbClr val="1F3A5F"/>
                </a:solidFill>
              </a:rPr>
              <a:t>Analyse  </a:t>
            </a:r>
            <a:r>
              <a:rPr sz="1150">
                <a:solidFill>
                  <a:srgbClr val="222222"/>
                </a:solidFill>
              </a:rPr>
              <a:t>L'attention est causale : le cache KV d'un token ne dépend que de ce qui le précède. Le document en tête devient un PRÉFIXE stable, calculé une fois puis réutilisé ; seul le suffixe d'instructions change. C'est la réutilisation par préfixe formalisée par Prompt Cache (Gim et al. 2024). Environ 6 fois moins de tokens au 2e appel ; qualité identique.</a:t>
            </a:r>
          </a:p>
        </p:txBody>
      </p:sp>
      <p:sp>
        <p:nvSpPr>
          <p:cNvPr id="6" name="TextBox 5"/>
          <p:cNvSpPr txBox="1"/>
          <p:nvPr/>
        </p:nvSpPr>
        <p:spPr>
          <a:xfrm>
            <a:off x="457200" y="4846320"/>
            <a:ext cx="11274552" cy="457200"/>
          </a:xfrm>
          <a:prstGeom prst="rect">
            <a:avLst/>
          </a:prstGeom>
          <a:noFill/>
        </p:spPr>
        <p:txBody>
          <a:bodyPr wrap="square">
            <a:spAutoFit/>
          </a:bodyPr>
          <a:lstStyle/>
          <a:p>
            <a:r>
              <a:rPr sz="900" b="1">
                <a:solidFill>
                  <a:srgbClr val="5A5A5A"/>
                </a:solidFill>
              </a:rPr>
              <a:t>Source(s) : </a:t>
            </a:r>
            <a:r>
              <a:rPr sz="900" u="sng">
                <a:solidFill>
                  <a:srgbClr val="1F3A5F"/>
                </a:solidFill>
                <a:hlinkClick r:id="rId2"/>
              </a:rPr>
              <a:t>Prompt Cache, Gim et al., MLSys 2024</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6868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wrap="square" lIns="365760" rtlCol="0" anchor="ctr"/>
          <a:lstStyle/>
          <a:p>
            <a:pPr algn="ctr"/>
            <a:r>
              <a:rPr sz="2200" b="1">
                <a:solidFill>
                  <a:srgbClr val="FFFFFF"/>
                </a:solidFill>
                <a:latin typeface="Georgia"/>
              </a:rPr>
              <a:t>3.6  Backend ik_llama.cpp vs llama.cpp mainline</a:t>
            </a:r>
          </a:p>
        </p:txBody>
      </p:sp>
      <p:graphicFrame>
        <p:nvGraphicFramePr>
          <p:cNvPr id="3" name="Table 2"/>
          <p:cNvGraphicFramePr>
            <a:graphicFrameLocks noGrp="1"/>
          </p:cNvGraphicFramePr>
          <p:nvPr/>
        </p:nvGraphicFramePr>
        <p:xfrm>
          <a:off x="457200" y="1051560"/>
          <a:ext cx="11274550" cy="932688"/>
        </p:xfrm>
        <a:graphic>
          <a:graphicData uri="http://schemas.openxmlformats.org/drawingml/2006/table">
            <a:tbl>
              <a:tblPr>
                <a:tableStyleId>{2D5ABB26-0587-4C30-8999-92F81FD0307C}</a:tableStyleId>
              </a:tblPr>
              <a:tblGrid>
                <a:gridCol w="2415975">
                  <a:extLst>
                    <a:ext uri="{9D8B030D-6E8A-4147-A177-3AD203B41FA5}">
                      <a16:colId xmlns:a16="http://schemas.microsoft.com/office/drawing/2014/main" val="20000"/>
                    </a:ext>
                  </a:extLst>
                </a:gridCol>
                <a:gridCol w="3221300">
                  <a:extLst>
                    <a:ext uri="{9D8B030D-6E8A-4147-A177-3AD203B41FA5}">
                      <a16:colId xmlns:a16="http://schemas.microsoft.com/office/drawing/2014/main" val="20001"/>
                    </a:ext>
                  </a:extLst>
                </a:gridCol>
                <a:gridCol w="3221300">
                  <a:extLst>
                    <a:ext uri="{9D8B030D-6E8A-4147-A177-3AD203B41FA5}">
                      <a16:colId xmlns:a16="http://schemas.microsoft.com/office/drawing/2014/main" val="20002"/>
                    </a:ext>
                  </a:extLst>
                </a:gridCol>
                <a:gridCol w="2415975">
                  <a:extLst>
                    <a:ext uri="{9D8B030D-6E8A-4147-A177-3AD203B41FA5}">
                      <a16:colId xmlns:a16="http://schemas.microsoft.com/office/drawing/2014/main" val="20003"/>
                    </a:ext>
                  </a:extLst>
                </a:gridCol>
              </a:tblGrid>
              <a:tr h="310896">
                <a:tc>
                  <a:txBody>
                    <a:bodyPr/>
                    <a:lstStyle/>
                    <a:p>
                      <a:pPr algn="l"/>
                      <a:r>
                        <a:rPr sz="1100" b="1">
                          <a:solidFill>
                            <a:srgbClr val="FFFFFF"/>
                          </a:solidFill>
                        </a:rPr>
                        <a:t>Backend</a:t>
                      </a:r>
                    </a:p>
                  </a:txBody>
                  <a:tcPr marL="54864" marR="54864" marT="18288" marB="18288" anchor="ctr">
                    <a:solidFill>
                      <a:srgbClr val="1F3A5F"/>
                    </a:solidFill>
                  </a:tcPr>
                </a:tc>
                <a:tc>
                  <a:txBody>
                    <a:bodyPr/>
                    <a:lstStyle/>
                    <a:p>
                      <a:pPr algn="l"/>
                      <a:r>
                        <a:rPr sz="1100" b="1">
                          <a:solidFill>
                            <a:srgbClr val="FFFFFF"/>
                          </a:solidFill>
                        </a:rPr>
                        <a:t>Durée</a:t>
                      </a:r>
                    </a:p>
                  </a:txBody>
                  <a:tcPr marL="54864" marR="54864" marT="18288" marB="18288" anchor="ctr">
                    <a:solidFill>
                      <a:srgbClr val="1F3A5F"/>
                    </a:solidFill>
                  </a:tcPr>
                </a:tc>
                <a:tc>
                  <a:txBody>
                    <a:bodyPr/>
                    <a:lstStyle/>
                    <a:p>
                      <a:pPr algn="l"/>
                      <a:r>
                        <a:rPr sz="1100" b="1">
                          <a:solidFill>
                            <a:srgbClr val="FFFFFF"/>
                          </a:solidFill>
                        </a:rPr>
                        <a:t>RAM serveur (moy / pic)</a:t>
                      </a:r>
                    </a:p>
                  </a:txBody>
                  <a:tcPr marL="54864" marR="54864" marT="18288" marB="18288" anchor="ctr">
                    <a:solidFill>
                      <a:srgbClr val="1F3A5F"/>
                    </a:solidFill>
                  </a:tcPr>
                </a:tc>
                <a:tc>
                  <a:txBody>
                    <a:bodyPr/>
                    <a:lstStyle/>
                    <a:p>
                      <a:pPr algn="l"/>
                      <a:r>
                        <a:rPr sz="1100" b="1">
                          <a:solidFill>
                            <a:srgbClr val="FFFFFF"/>
                          </a:solidFill>
                        </a:rPr>
                        <a:t>Décisions/Actions</a:t>
                      </a:r>
                    </a:p>
                  </a:txBody>
                  <a:tcPr marL="54864" marR="54864" marT="18288" marB="18288" anchor="ctr">
                    <a:solidFill>
                      <a:srgbClr val="1F3A5F"/>
                    </a:solidFill>
                  </a:tcPr>
                </a:tc>
                <a:extLst>
                  <a:ext uri="{0D108BD9-81ED-4DB2-BD59-A6C34878D82A}">
                    <a16:rowId xmlns:a16="http://schemas.microsoft.com/office/drawing/2014/main" val="10000"/>
                  </a:ext>
                </a:extLst>
              </a:tr>
              <a:tr h="310896">
                <a:tc>
                  <a:txBody>
                    <a:bodyPr/>
                    <a:lstStyle/>
                    <a:p>
                      <a:pPr algn="l"/>
                      <a:r>
                        <a:rPr sz="1100" b="0">
                          <a:solidFill>
                            <a:srgbClr val="222222"/>
                          </a:solidFill>
                        </a:rPr>
                        <a:t>mainline et FA</a:t>
                      </a:r>
                    </a:p>
                  </a:txBody>
                  <a:tcPr marL="54864" marR="54864" marT="18288" marB="18288" anchor="ctr">
                    <a:solidFill>
                      <a:srgbClr val="FFFFFF"/>
                    </a:solidFill>
                  </a:tcPr>
                </a:tc>
                <a:tc>
                  <a:txBody>
                    <a:bodyPr/>
                    <a:lstStyle/>
                    <a:p>
                      <a:pPr algn="l"/>
                      <a:r>
                        <a:rPr sz="1100" b="0">
                          <a:solidFill>
                            <a:srgbClr val="222222"/>
                          </a:solidFill>
                        </a:rPr>
                        <a:t>25 min 14 (1 513,8 s)</a:t>
                      </a:r>
                    </a:p>
                  </a:txBody>
                  <a:tcPr marL="54864" marR="54864" marT="18288" marB="18288" anchor="ctr">
                    <a:solidFill>
                      <a:srgbClr val="FFFFFF"/>
                    </a:solidFill>
                  </a:tcPr>
                </a:tc>
                <a:tc>
                  <a:txBody>
                    <a:bodyPr/>
                    <a:lstStyle/>
                    <a:p>
                      <a:pPr algn="l"/>
                      <a:r>
                        <a:rPr sz="1100" b="0">
                          <a:solidFill>
                            <a:srgbClr val="222222"/>
                          </a:solidFill>
                        </a:rPr>
                        <a:t>4 250 / 4 557 Mo</a:t>
                      </a:r>
                    </a:p>
                  </a:txBody>
                  <a:tcPr marL="54864" marR="54864" marT="18288" marB="18288" anchor="ctr">
                    <a:solidFill>
                      <a:srgbClr val="FFFFFF"/>
                    </a:solidFill>
                  </a:tcPr>
                </a:tc>
                <a:tc>
                  <a:txBody>
                    <a:bodyPr/>
                    <a:lstStyle/>
                    <a:p>
                      <a:pPr algn="l"/>
                      <a:r>
                        <a:rPr sz="1100" b="0">
                          <a:solidFill>
                            <a:srgbClr val="222222"/>
                          </a:solidFill>
                        </a:rPr>
                        <a:t>0 / 6</a:t>
                      </a:r>
                    </a:p>
                  </a:txBody>
                  <a:tcPr marL="54864" marR="54864" marT="18288" marB="18288" anchor="ctr">
                    <a:solidFill>
                      <a:srgbClr val="FFFFFF"/>
                    </a:solidFill>
                  </a:tcPr>
                </a:tc>
                <a:extLst>
                  <a:ext uri="{0D108BD9-81ED-4DB2-BD59-A6C34878D82A}">
                    <a16:rowId xmlns:a16="http://schemas.microsoft.com/office/drawing/2014/main" val="10001"/>
                  </a:ext>
                </a:extLst>
              </a:tr>
              <a:tr h="310896">
                <a:tc>
                  <a:txBody>
                    <a:bodyPr/>
                    <a:lstStyle/>
                    <a:p>
                      <a:pPr algn="l"/>
                      <a:r>
                        <a:rPr sz="1100" b="0">
                          <a:solidFill>
                            <a:srgbClr val="222222"/>
                          </a:solidFill>
                        </a:rPr>
                        <a:t>ik_llama v5</a:t>
                      </a:r>
                    </a:p>
                  </a:txBody>
                  <a:tcPr marL="54864" marR="54864" marT="18288" marB="18288" anchor="ctr">
                    <a:solidFill>
                      <a:srgbClr val="F4F6F9"/>
                    </a:solidFill>
                  </a:tcPr>
                </a:tc>
                <a:tc>
                  <a:txBody>
                    <a:bodyPr/>
                    <a:lstStyle/>
                    <a:p>
                      <a:pPr algn="l"/>
                      <a:r>
                        <a:rPr sz="1100" b="1">
                          <a:solidFill>
                            <a:srgbClr val="2E6B3F"/>
                          </a:solidFill>
                        </a:rPr>
                        <a:t>22 min 41 (1 362,5 s)</a:t>
                      </a:r>
                    </a:p>
                  </a:txBody>
                  <a:tcPr marL="54864" marR="54864" marT="18288" marB="18288" anchor="ctr">
                    <a:solidFill>
                      <a:srgbClr val="F4F6F9"/>
                    </a:solidFill>
                  </a:tcPr>
                </a:tc>
                <a:tc>
                  <a:txBody>
                    <a:bodyPr/>
                    <a:lstStyle/>
                    <a:p>
                      <a:pPr algn="l"/>
                      <a:r>
                        <a:rPr sz="1100" b="1">
                          <a:solidFill>
                            <a:srgbClr val="2E6B3F"/>
                          </a:solidFill>
                        </a:rPr>
                        <a:t>2 597 / 3 128 Mo</a:t>
                      </a:r>
                    </a:p>
                  </a:txBody>
                  <a:tcPr marL="54864" marR="54864" marT="18288" marB="18288" anchor="ctr">
                    <a:solidFill>
                      <a:srgbClr val="F4F6F9"/>
                    </a:solidFill>
                  </a:tcPr>
                </a:tc>
                <a:tc>
                  <a:txBody>
                    <a:bodyPr/>
                    <a:lstStyle/>
                    <a:p>
                      <a:pPr algn="l"/>
                      <a:r>
                        <a:rPr sz="1100" b="0">
                          <a:solidFill>
                            <a:srgbClr val="222222"/>
                          </a:solidFill>
                        </a:rPr>
                        <a:t>3 / 9</a:t>
                      </a:r>
                    </a:p>
                  </a:txBody>
                  <a:tcPr marL="54864" marR="54864" marT="18288" marB="18288" anchor="ctr">
                    <a:solidFill>
                      <a:srgbClr val="F4F6F9"/>
                    </a:solidFill>
                  </a:tcPr>
                </a:tc>
                <a:extLst>
                  <a:ext uri="{0D108BD9-81ED-4DB2-BD59-A6C34878D82A}">
                    <a16:rowId xmlns:a16="http://schemas.microsoft.com/office/drawing/2014/main" val="10002"/>
                  </a:ext>
                </a:extLst>
              </a:tr>
            </a:tbl>
          </a:graphicData>
        </a:graphic>
      </p:graphicFrame>
      <p:sp>
        <p:nvSpPr>
          <p:cNvPr id="4" name="Rectangle 3"/>
          <p:cNvSpPr/>
          <p:nvPr/>
        </p:nvSpPr>
        <p:spPr>
          <a:xfrm>
            <a:off x="457200" y="2468880"/>
            <a:ext cx="11274552" cy="731520"/>
          </a:xfrm>
          <a:prstGeom prst="rect">
            <a:avLst/>
          </a:prstGeom>
          <a:solidFill>
            <a:srgbClr val="EAF1EC"/>
          </a:solidFill>
          <a:ln w="9525">
            <a:solidFill>
              <a:srgbClr val="2E6B3F"/>
            </a:solidFill>
          </a:ln>
          <a:effectLst/>
        </p:spPr>
        <p:style>
          <a:lnRef idx="1">
            <a:schemeClr val="accent1"/>
          </a:lnRef>
          <a:fillRef idx="3">
            <a:schemeClr val="accent1"/>
          </a:fillRef>
          <a:effectRef idx="2">
            <a:schemeClr val="accent1"/>
          </a:effectRef>
          <a:fontRef idx="minor">
            <a:schemeClr val="lt1"/>
          </a:fontRef>
        </p:style>
        <p:txBody>
          <a:bodyPr wrap="square" lIns="137160" tIns="73152" rIns="137160" bIns="73152" rtlCol="0" anchor="ctr"/>
          <a:lstStyle/>
          <a:p>
            <a:pPr algn="ctr"/>
            <a:r>
              <a:rPr sz="1200" b="1">
                <a:solidFill>
                  <a:srgbClr val="2E6B3F"/>
                </a:solidFill>
              </a:rPr>
              <a:t>Verdict  </a:t>
            </a:r>
            <a:r>
              <a:rPr sz="1200">
                <a:solidFill>
                  <a:srgbClr val="222222"/>
                </a:solidFill>
              </a:rPr>
              <a:t>Prometteur. Plus rapide (environ -10 %) et surtout -1,4 Go de RAM pic. Mainline gardé en production pour la compatibilité.</a:t>
            </a:r>
          </a:p>
        </p:txBody>
      </p:sp>
      <p:sp>
        <p:nvSpPr>
          <p:cNvPr id="5" name="Rectangle 4"/>
          <p:cNvSpPr/>
          <p:nvPr/>
        </p:nvSpPr>
        <p:spPr>
          <a:xfrm>
            <a:off x="457200" y="3291840"/>
            <a:ext cx="11274552" cy="1463040"/>
          </a:xfrm>
          <a:prstGeom prst="rect">
            <a:avLst/>
          </a:prstGeom>
          <a:solidFill>
            <a:srgbClr val="EEF2F6"/>
          </a:solidFill>
          <a:ln w="9525">
            <a:solidFill>
              <a:srgbClr val="1F3A5F"/>
            </a:solidFill>
          </a:ln>
          <a:effectLst/>
        </p:spPr>
        <p:style>
          <a:lnRef idx="1">
            <a:schemeClr val="accent1"/>
          </a:lnRef>
          <a:fillRef idx="3">
            <a:schemeClr val="accent1"/>
          </a:fillRef>
          <a:effectRef idx="2">
            <a:schemeClr val="accent1"/>
          </a:effectRef>
          <a:fontRef idx="minor">
            <a:schemeClr val="lt1"/>
          </a:fontRef>
        </p:style>
        <p:txBody>
          <a:bodyPr wrap="square" lIns="137160" tIns="73152" rIns="137160" bIns="73152" rtlCol="0" anchor="ctr"/>
          <a:lstStyle/>
          <a:p>
            <a:pPr algn="ctr"/>
            <a:r>
              <a:rPr sz="1150" b="1">
                <a:solidFill>
                  <a:srgbClr val="1F3A5F"/>
                </a:solidFill>
              </a:rPr>
              <a:t>Analyse  </a:t>
            </a:r>
            <a:r>
              <a:rPr sz="1150">
                <a:solidFill>
                  <a:srgbClr val="222222"/>
                </a:solidFill>
              </a:rPr>
              <a:t>Fork de llama.cpp (par I. Kawrakow). Apporte des quantifications SOTA (familles IQ et K-quants améliorées, meilleure perplexité à bits égaux), des noyaux CPU SIMD plus rapides et un row-interleaved packing des poids (meilleure efficacité du cache processeur). Gains surtout visibles en CPU. Pas de publication académique : on cite le dépôt.</a:t>
            </a:r>
          </a:p>
        </p:txBody>
      </p:sp>
      <p:sp>
        <p:nvSpPr>
          <p:cNvPr id="6" name="TextBox 5"/>
          <p:cNvSpPr txBox="1"/>
          <p:nvPr/>
        </p:nvSpPr>
        <p:spPr>
          <a:xfrm>
            <a:off x="457200" y="4846320"/>
            <a:ext cx="11274552" cy="457200"/>
          </a:xfrm>
          <a:prstGeom prst="rect">
            <a:avLst/>
          </a:prstGeom>
          <a:noFill/>
        </p:spPr>
        <p:txBody>
          <a:bodyPr wrap="square">
            <a:spAutoFit/>
          </a:bodyPr>
          <a:lstStyle/>
          <a:p>
            <a:r>
              <a:rPr sz="900" b="1">
                <a:solidFill>
                  <a:srgbClr val="5A5A5A"/>
                </a:solidFill>
              </a:rPr>
              <a:t>Source(s) : </a:t>
            </a:r>
            <a:r>
              <a:rPr sz="900" u="sng">
                <a:solidFill>
                  <a:srgbClr val="1F3A5F"/>
                </a:solidFill>
                <a:hlinkClick r:id="rId2"/>
              </a:rPr>
              <a:t>ik_llama.cpp, dépôt GitHub (ikawrakow)</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6868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wrap="square" lIns="365760" rtlCol="0" anchor="ctr"/>
          <a:lstStyle/>
          <a:p>
            <a:pPr algn="ctr"/>
            <a:r>
              <a:rPr sz="2200" b="1">
                <a:solidFill>
                  <a:srgbClr val="FFFFFF"/>
                </a:solidFill>
                <a:latin typeface="Georgia"/>
              </a:rPr>
              <a:t>3.7  Speculative decoding (test dédié)</a:t>
            </a:r>
          </a:p>
        </p:txBody>
      </p:sp>
      <p:graphicFrame>
        <p:nvGraphicFramePr>
          <p:cNvPr id="3" name="Table 2"/>
          <p:cNvGraphicFramePr>
            <a:graphicFrameLocks noGrp="1"/>
          </p:cNvGraphicFramePr>
          <p:nvPr/>
        </p:nvGraphicFramePr>
        <p:xfrm>
          <a:off x="457200" y="1051560"/>
          <a:ext cx="9143998" cy="1243584"/>
        </p:xfrm>
        <a:graphic>
          <a:graphicData uri="http://schemas.openxmlformats.org/drawingml/2006/table">
            <a:tbl>
              <a:tblPr>
                <a:tableStyleId>{2D5ABB26-0587-4C30-8999-92F81FD0307C}</a:tableStyleId>
              </a:tblPr>
              <a:tblGrid>
                <a:gridCol w="3609473">
                  <a:extLst>
                    <a:ext uri="{9D8B030D-6E8A-4147-A177-3AD203B41FA5}">
                      <a16:colId xmlns:a16="http://schemas.microsoft.com/office/drawing/2014/main" val="20000"/>
                    </a:ext>
                  </a:extLst>
                </a:gridCol>
                <a:gridCol w="1925052">
                  <a:extLst>
                    <a:ext uri="{9D8B030D-6E8A-4147-A177-3AD203B41FA5}">
                      <a16:colId xmlns:a16="http://schemas.microsoft.com/office/drawing/2014/main" val="20001"/>
                    </a:ext>
                  </a:extLst>
                </a:gridCol>
                <a:gridCol w="1684421">
                  <a:extLst>
                    <a:ext uri="{9D8B030D-6E8A-4147-A177-3AD203B41FA5}">
                      <a16:colId xmlns:a16="http://schemas.microsoft.com/office/drawing/2014/main" val="20002"/>
                    </a:ext>
                  </a:extLst>
                </a:gridCol>
                <a:gridCol w="1925052">
                  <a:extLst>
                    <a:ext uri="{9D8B030D-6E8A-4147-A177-3AD203B41FA5}">
                      <a16:colId xmlns:a16="http://schemas.microsoft.com/office/drawing/2014/main" val="20003"/>
                    </a:ext>
                  </a:extLst>
                </a:gridCol>
              </a:tblGrid>
              <a:tr h="310896">
                <a:tc>
                  <a:txBody>
                    <a:bodyPr/>
                    <a:lstStyle/>
                    <a:p>
                      <a:pPr algn="l"/>
                      <a:r>
                        <a:rPr sz="1100" b="1">
                          <a:solidFill>
                            <a:srgbClr val="FFFFFF"/>
                          </a:solidFill>
                        </a:rPr>
                        <a:t>Configuration</a:t>
                      </a:r>
                    </a:p>
                  </a:txBody>
                  <a:tcPr marL="54864" marR="54864" marT="18288" marB="18288" anchor="ctr">
                    <a:solidFill>
                      <a:srgbClr val="1F3A5F"/>
                    </a:solidFill>
                  </a:tcPr>
                </a:tc>
                <a:tc>
                  <a:txBody>
                    <a:bodyPr/>
                    <a:lstStyle/>
                    <a:p>
                      <a:pPr algn="l"/>
                      <a:r>
                        <a:rPr sz="1100" b="1">
                          <a:solidFill>
                            <a:srgbClr val="FFFFFF"/>
                          </a:solidFill>
                        </a:rPr>
                        <a:t>Décodage</a:t>
                      </a:r>
                    </a:p>
                  </a:txBody>
                  <a:tcPr marL="54864" marR="54864" marT="18288" marB="18288" anchor="ctr">
                    <a:solidFill>
                      <a:srgbClr val="1F3A5F"/>
                    </a:solidFill>
                  </a:tcPr>
                </a:tc>
                <a:tc>
                  <a:txBody>
                    <a:bodyPr/>
                    <a:lstStyle/>
                    <a:p>
                      <a:pPr algn="l"/>
                      <a:r>
                        <a:rPr sz="1100" b="1">
                          <a:solidFill>
                            <a:srgbClr val="FFFFFF"/>
                          </a:solidFill>
                        </a:rPr>
                        <a:t>Temps mur</a:t>
                      </a:r>
                    </a:p>
                  </a:txBody>
                  <a:tcPr marL="54864" marR="54864" marT="18288" marB="18288" anchor="ctr">
                    <a:solidFill>
                      <a:srgbClr val="1F3A5F"/>
                    </a:solidFill>
                  </a:tcPr>
                </a:tc>
                <a:tc>
                  <a:txBody>
                    <a:bodyPr/>
                    <a:lstStyle/>
                    <a:p>
                      <a:pPr algn="l"/>
                      <a:r>
                        <a:rPr sz="1100" b="1">
                          <a:solidFill>
                            <a:srgbClr val="FFFFFF"/>
                          </a:solidFill>
                        </a:rPr>
                        <a:t>Acceptance</a:t>
                      </a:r>
                    </a:p>
                  </a:txBody>
                  <a:tcPr marL="54864" marR="54864" marT="18288" marB="18288" anchor="ctr">
                    <a:solidFill>
                      <a:srgbClr val="1F3A5F"/>
                    </a:solidFill>
                  </a:tcPr>
                </a:tc>
                <a:extLst>
                  <a:ext uri="{0D108BD9-81ED-4DB2-BD59-A6C34878D82A}">
                    <a16:rowId xmlns:a16="http://schemas.microsoft.com/office/drawing/2014/main" val="10000"/>
                  </a:ext>
                </a:extLst>
              </a:tr>
              <a:tr h="310896">
                <a:tc>
                  <a:txBody>
                    <a:bodyPr/>
                    <a:lstStyle/>
                    <a:p>
                      <a:pPr algn="l"/>
                      <a:r>
                        <a:rPr sz="1100" b="0">
                          <a:solidFill>
                            <a:srgbClr val="222222"/>
                          </a:solidFill>
                        </a:rPr>
                        <a:t>A, Ministral 3B seul</a:t>
                      </a:r>
                    </a:p>
                  </a:txBody>
                  <a:tcPr marL="54864" marR="54864" marT="18288" marB="18288" anchor="ctr">
                    <a:solidFill>
                      <a:srgbClr val="FFFFFF"/>
                    </a:solidFill>
                  </a:tcPr>
                </a:tc>
                <a:tc>
                  <a:txBody>
                    <a:bodyPr/>
                    <a:lstStyle/>
                    <a:p>
                      <a:pPr algn="l"/>
                      <a:r>
                        <a:rPr sz="1100" b="1">
                          <a:solidFill>
                            <a:srgbClr val="2E6B3F"/>
                          </a:solidFill>
                        </a:rPr>
                        <a:t>4,82 tok/s</a:t>
                      </a:r>
                    </a:p>
                  </a:txBody>
                  <a:tcPr marL="54864" marR="54864" marT="18288" marB="18288" anchor="ctr">
                    <a:solidFill>
                      <a:srgbClr val="FFFFFF"/>
                    </a:solidFill>
                  </a:tcPr>
                </a:tc>
                <a:tc>
                  <a:txBody>
                    <a:bodyPr/>
                    <a:lstStyle/>
                    <a:p>
                      <a:pPr algn="l"/>
                      <a:r>
                        <a:rPr sz="1100" b="0">
                          <a:solidFill>
                            <a:srgbClr val="222222"/>
                          </a:solidFill>
                        </a:rPr>
                        <a:t>268 s</a:t>
                      </a:r>
                    </a:p>
                  </a:txBody>
                  <a:tcPr marL="54864" marR="54864" marT="18288" marB="18288" anchor="ctr">
                    <a:solidFill>
                      <a:srgbClr val="FFFFFF"/>
                    </a:solidFill>
                  </a:tcPr>
                </a:tc>
                <a:tc>
                  <a:txBody>
                    <a:bodyPr/>
                    <a:lstStyle/>
                    <a:p>
                      <a:pPr algn="l"/>
                      <a:r>
                        <a:rPr sz="1100" b="0">
                          <a:solidFill>
                            <a:srgbClr val="222222"/>
                          </a:solidFill>
                        </a:rPr>
                        <a:t>n.c.</a:t>
                      </a:r>
                    </a:p>
                  </a:txBody>
                  <a:tcPr marL="54864" marR="54864" marT="18288" marB="18288" anchor="ctr">
                    <a:solidFill>
                      <a:srgbClr val="FFFFFF"/>
                    </a:solidFill>
                  </a:tcPr>
                </a:tc>
                <a:extLst>
                  <a:ext uri="{0D108BD9-81ED-4DB2-BD59-A6C34878D82A}">
                    <a16:rowId xmlns:a16="http://schemas.microsoft.com/office/drawing/2014/main" val="10001"/>
                  </a:ext>
                </a:extLst>
              </a:tr>
              <a:tr h="310896">
                <a:tc>
                  <a:txBody>
                    <a:bodyPr/>
                    <a:lstStyle/>
                    <a:p>
                      <a:pPr algn="l"/>
                      <a:r>
                        <a:rPr sz="1100" b="0">
                          <a:solidFill>
                            <a:srgbClr val="222222"/>
                          </a:solidFill>
                        </a:rPr>
                        <a:t>B, Qwen 7B seul</a:t>
                      </a:r>
                    </a:p>
                  </a:txBody>
                  <a:tcPr marL="54864" marR="54864" marT="18288" marB="18288" anchor="ctr">
                    <a:solidFill>
                      <a:srgbClr val="F4F6F9"/>
                    </a:solidFill>
                  </a:tcPr>
                </a:tc>
                <a:tc>
                  <a:txBody>
                    <a:bodyPr/>
                    <a:lstStyle/>
                    <a:p>
                      <a:pPr algn="l"/>
                      <a:r>
                        <a:rPr sz="1100" b="0">
                          <a:solidFill>
                            <a:srgbClr val="222222"/>
                          </a:solidFill>
                        </a:rPr>
                        <a:t>3,75 tok/s</a:t>
                      </a:r>
                    </a:p>
                  </a:txBody>
                  <a:tcPr marL="54864" marR="54864" marT="18288" marB="18288" anchor="ctr">
                    <a:solidFill>
                      <a:srgbClr val="F4F6F9"/>
                    </a:solidFill>
                  </a:tcPr>
                </a:tc>
                <a:tc>
                  <a:txBody>
                    <a:bodyPr/>
                    <a:lstStyle/>
                    <a:p>
                      <a:pPr algn="l"/>
                      <a:r>
                        <a:rPr sz="1100" b="0">
                          <a:solidFill>
                            <a:srgbClr val="222222"/>
                          </a:solidFill>
                        </a:rPr>
                        <a:t>426 s</a:t>
                      </a:r>
                    </a:p>
                  </a:txBody>
                  <a:tcPr marL="54864" marR="54864" marT="18288" marB="18288" anchor="ctr">
                    <a:solidFill>
                      <a:srgbClr val="F4F6F9"/>
                    </a:solidFill>
                  </a:tcPr>
                </a:tc>
                <a:tc>
                  <a:txBody>
                    <a:bodyPr/>
                    <a:lstStyle/>
                    <a:p>
                      <a:pPr algn="l"/>
                      <a:r>
                        <a:rPr sz="1100" b="0">
                          <a:solidFill>
                            <a:srgbClr val="222222"/>
                          </a:solidFill>
                        </a:rPr>
                        <a:t>n.c.</a:t>
                      </a:r>
                    </a:p>
                  </a:txBody>
                  <a:tcPr marL="54864" marR="54864" marT="18288" marB="18288" anchor="ctr">
                    <a:solidFill>
                      <a:srgbClr val="F4F6F9"/>
                    </a:solidFill>
                  </a:tcPr>
                </a:tc>
                <a:extLst>
                  <a:ext uri="{0D108BD9-81ED-4DB2-BD59-A6C34878D82A}">
                    <a16:rowId xmlns:a16="http://schemas.microsoft.com/office/drawing/2014/main" val="10002"/>
                  </a:ext>
                </a:extLst>
              </a:tr>
              <a:tr h="310896">
                <a:tc>
                  <a:txBody>
                    <a:bodyPr/>
                    <a:lstStyle/>
                    <a:p>
                      <a:pPr algn="l"/>
                      <a:r>
                        <a:rPr sz="1100" b="0">
                          <a:solidFill>
                            <a:srgbClr val="222222"/>
                          </a:solidFill>
                        </a:rPr>
                        <a:t>C, Qwen 7B + draft 0,5B</a:t>
                      </a:r>
                    </a:p>
                  </a:txBody>
                  <a:tcPr marL="54864" marR="54864" marT="18288" marB="18288" anchor="ctr">
                    <a:solidFill>
                      <a:srgbClr val="FFFFFF"/>
                    </a:solidFill>
                  </a:tcPr>
                </a:tc>
                <a:tc>
                  <a:txBody>
                    <a:bodyPr/>
                    <a:lstStyle/>
                    <a:p>
                      <a:pPr algn="l"/>
                      <a:r>
                        <a:rPr sz="1100" b="1">
                          <a:solidFill>
                            <a:srgbClr val="9E2B25"/>
                          </a:solidFill>
                        </a:rPr>
                        <a:t>2,00 tok/s</a:t>
                      </a:r>
                    </a:p>
                  </a:txBody>
                  <a:tcPr marL="54864" marR="54864" marT="18288" marB="18288" anchor="ctr">
                    <a:solidFill>
                      <a:srgbClr val="FFFFFF"/>
                    </a:solidFill>
                  </a:tcPr>
                </a:tc>
                <a:tc>
                  <a:txBody>
                    <a:bodyPr/>
                    <a:lstStyle/>
                    <a:p>
                      <a:pPr algn="l"/>
                      <a:r>
                        <a:rPr sz="1100" b="1">
                          <a:solidFill>
                            <a:srgbClr val="9E2B25"/>
                          </a:solidFill>
                        </a:rPr>
                        <a:t>472 s</a:t>
                      </a:r>
                    </a:p>
                  </a:txBody>
                  <a:tcPr marL="54864" marR="54864" marT="18288" marB="18288" anchor="ctr">
                    <a:solidFill>
                      <a:srgbClr val="FFFFFF"/>
                    </a:solidFill>
                  </a:tcPr>
                </a:tc>
                <a:tc>
                  <a:txBody>
                    <a:bodyPr/>
                    <a:lstStyle/>
                    <a:p>
                      <a:pPr algn="l"/>
                      <a:r>
                        <a:rPr sz="1100" b="0">
                          <a:solidFill>
                            <a:srgbClr val="222222"/>
                          </a:solidFill>
                        </a:rPr>
                        <a:t>0,64 (61/95)</a:t>
                      </a:r>
                    </a:p>
                  </a:txBody>
                  <a:tcPr marL="54864" marR="54864" marT="18288" marB="18288" anchor="ctr">
                    <a:solidFill>
                      <a:srgbClr val="FFFFFF"/>
                    </a:solidFill>
                  </a:tcPr>
                </a:tc>
                <a:extLst>
                  <a:ext uri="{0D108BD9-81ED-4DB2-BD59-A6C34878D82A}">
                    <a16:rowId xmlns:a16="http://schemas.microsoft.com/office/drawing/2014/main" val="10003"/>
                  </a:ext>
                </a:extLst>
              </a:tr>
            </a:tbl>
          </a:graphicData>
        </a:graphic>
      </p:graphicFrame>
      <p:sp>
        <p:nvSpPr>
          <p:cNvPr id="4" name="Rectangle 3"/>
          <p:cNvSpPr/>
          <p:nvPr/>
        </p:nvSpPr>
        <p:spPr>
          <a:xfrm>
            <a:off x="457200" y="2743200"/>
            <a:ext cx="11274552" cy="640080"/>
          </a:xfrm>
          <a:prstGeom prst="rect">
            <a:avLst/>
          </a:prstGeom>
          <a:solidFill>
            <a:srgbClr val="F7ECEB"/>
          </a:solidFill>
          <a:ln w="9525">
            <a:solidFill>
              <a:srgbClr val="9E2B25"/>
            </a:solidFill>
          </a:ln>
          <a:effectLst/>
        </p:spPr>
        <p:style>
          <a:lnRef idx="1">
            <a:schemeClr val="accent1"/>
          </a:lnRef>
          <a:fillRef idx="3">
            <a:schemeClr val="accent1"/>
          </a:fillRef>
          <a:effectRef idx="2">
            <a:schemeClr val="accent1"/>
          </a:effectRef>
          <a:fontRef idx="minor">
            <a:schemeClr val="lt1"/>
          </a:fontRef>
        </p:style>
        <p:txBody>
          <a:bodyPr wrap="square" lIns="137160" tIns="73152" rIns="137160" bIns="73152" rtlCol="0" anchor="ctr"/>
          <a:lstStyle/>
          <a:p>
            <a:pPr algn="ctr"/>
            <a:r>
              <a:rPr sz="1200" b="1">
                <a:solidFill>
                  <a:srgbClr val="9E2B25"/>
                </a:solidFill>
              </a:rPr>
              <a:t>Verdict  </a:t>
            </a:r>
            <a:r>
              <a:rPr sz="1200">
                <a:solidFill>
                  <a:srgbClr val="222222"/>
                </a:solidFill>
              </a:rPr>
              <a:t>Rejeté dans notre configuration (Qwen 7B + draft 0,5B sur CPU). Config C la PLUS LENTE (2,00 vs 3,75 tok/s).</a:t>
            </a:r>
          </a:p>
        </p:txBody>
      </p:sp>
      <p:sp>
        <p:nvSpPr>
          <p:cNvPr id="5" name="Rectangle 4"/>
          <p:cNvSpPr/>
          <p:nvPr/>
        </p:nvSpPr>
        <p:spPr>
          <a:xfrm>
            <a:off x="457200" y="3520440"/>
            <a:ext cx="11274552" cy="1828800"/>
          </a:xfrm>
          <a:prstGeom prst="rect">
            <a:avLst/>
          </a:prstGeom>
          <a:solidFill>
            <a:srgbClr val="EEF2F6"/>
          </a:solidFill>
          <a:ln w="9525">
            <a:solidFill>
              <a:srgbClr val="1F3A5F"/>
            </a:solidFill>
          </a:ln>
          <a:effectLst/>
        </p:spPr>
        <p:style>
          <a:lnRef idx="1">
            <a:schemeClr val="accent1"/>
          </a:lnRef>
          <a:fillRef idx="3">
            <a:schemeClr val="accent1"/>
          </a:fillRef>
          <a:effectRef idx="2">
            <a:schemeClr val="accent1"/>
          </a:effectRef>
          <a:fontRef idx="minor">
            <a:schemeClr val="lt1"/>
          </a:fontRef>
        </p:style>
        <p:txBody>
          <a:bodyPr wrap="square" lIns="137160" tIns="73152" rIns="137160" bIns="73152" rtlCol="0" anchor="ctr"/>
          <a:lstStyle/>
          <a:p>
            <a:pPr algn="ctr"/>
            <a:r>
              <a:rPr sz="1100" b="1">
                <a:solidFill>
                  <a:srgbClr val="1F3A5F"/>
                </a:solidFill>
              </a:rPr>
              <a:t>Analyse  </a:t>
            </a:r>
            <a:r>
              <a:rPr sz="1100">
                <a:solidFill>
                  <a:srgbClr val="222222"/>
                </a:solidFill>
              </a:rPr>
              <a:t>Le speculative decoding (Leviathan et al. 2023) accélère un décodage MEMORY-BOUND : sur GPU à lot=1 il reste du calcul libre pour vérifier les K tokens du draft presque gratuitement (2 à 3 fois). Sur CPU ça ne paie pas : (1) la vérification par lots est limitée par le calcul (peu d'unités parallèles) ; (2) le draft occupe les mêmes cœurs ; (3) acceptance 0,64 insuffisante. Retours externes mitigés ; notre mesure : ralentissement.</a:t>
            </a:r>
          </a:p>
        </p:txBody>
      </p:sp>
      <p:sp>
        <p:nvSpPr>
          <p:cNvPr id="6" name="TextBox 5"/>
          <p:cNvSpPr txBox="1"/>
          <p:nvPr/>
        </p:nvSpPr>
        <p:spPr>
          <a:xfrm>
            <a:off x="457200" y="5440680"/>
            <a:ext cx="11274552" cy="457200"/>
          </a:xfrm>
          <a:prstGeom prst="rect">
            <a:avLst/>
          </a:prstGeom>
          <a:noFill/>
        </p:spPr>
        <p:txBody>
          <a:bodyPr wrap="square">
            <a:spAutoFit/>
          </a:bodyPr>
          <a:lstStyle/>
          <a:p>
            <a:r>
              <a:rPr sz="900" b="1">
                <a:solidFill>
                  <a:srgbClr val="5A5A5A"/>
                </a:solidFill>
              </a:rPr>
              <a:t>Source(s) : </a:t>
            </a:r>
            <a:r>
              <a:rPr sz="900" u="sng">
                <a:solidFill>
                  <a:srgbClr val="1F3A5F"/>
                </a:solidFill>
                <a:hlinkClick r:id="rId2"/>
              </a:rPr>
              <a:t>Speculative Decoding, Leviathan et al., ICML 2023</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64592" y="0"/>
            <a:ext cx="12191695" cy="86868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wrap="square" lIns="365760" rtlCol="0" anchor="ctr"/>
          <a:lstStyle/>
          <a:p>
            <a:pPr algn="ctr"/>
            <a:r>
              <a:rPr sz="2200" b="1">
                <a:solidFill>
                  <a:srgbClr val="FFFFFF"/>
                </a:solidFill>
                <a:latin typeface="Georgia"/>
              </a:rPr>
              <a:t>3.8  Prompt Lookup Decoding (PLD)</a:t>
            </a:r>
          </a:p>
        </p:txBody>
      </p:sp>
      <p:graphicFrame>
        <p:nvGraphicFramePr>
          <p:cNvPr id="3" name="Table 2"/>
          <p:cNvGraphicFramePr>
            <a:graphicFrameLocks noGrp="1"/>
          </p:cNvGraphicFramePr>
          <p:nvPr/>
        </p:nvGraphicFramePr>
        <p:xfrm>
          <a:off x="457200" y="1051560"/>
          <a:ext cx="9143998" cy="932688"/>
        </p:xfrm>
        <a:graphic>
          <a:graphicData uri="http://schemas.openxmlformats.org/drawingml/2006/table">
            <a:tbl>
              <a:tblPr>
                <a:tableStyleId>{2D5ABB26-0587-4C30-8999-92F81FD0307C}</a:tableStyleId>
              </a:tblPr>
              <a:tblGrid>
                <a:gridCol w="2344615">
                  <a:extLst>
                    <a:ext uri="{9D8B030D-6E8A-4147-A177-3AD203B41FA5}">
                      <a16:colId xmlns:a16="http://schemas.microsoft.com/office/drawing/2014/main" val="20000"/>
                    </a:ext>
                  </a:extLst>
                </a:gridCol>
                <a:gridCol w="1875692">
                  <a:extLst>
                    <a:ext uri="{9D8B030D-6E8A-4147-A177-3AD203B41FA5}">
                      <a16:colId xmlns:a16="http://schemas.microsoft.com/office/drawing/2014/main" val="20001"/>
                    </a:ext>
                  </a:extLst>
                </a:gridCol>
                <a:gridCol w="1875692">
                  <a:extLst>
                    <a:ext uri="{9D8B030D-6E8A-4147-A177-3AD203B41FA5}">
                      <a16:colId xmlns:a16="http://schemas.microsoft.com/office/drawing/2014/main" val="20002"/>
                    </a:ext>
                  </a:extLst>
                </a:gridCol>
                <a:gridCol w="3047999">
                  <a:extLst>
                    <a:ext uri="{9D8B030D-6E8A-4147-A177-3AD203B41FA5}">
                      <a16:colId xmlns:a16="http://schemas.microsoft.com/office/drawing/2014/main" val="20003"/>
                    </a:ext>
                  </a:extLst>
                </a:gridCol>
              </a:tblGrid>
              <a:tr h="310896">
                <a:tc>
                  <a:txBody>
                    <a:bodyPr/>
                    <a:lstStyle/>
                    <a:p>
                      <a:pPr algn="l"/>
                      <a:r>
                        <a:rPr sz="1100" b="1">
                          <a:solidFill>
                            <a:srgbClr val="FFFFFF"/>
                          </a:solidFill>
                        </a:rPr>
                        <a:t>Étape</a:t>
                      </a:r>
                    </a:p>
                  </a:txBody>
                  <a:tcPr marL="54864" marR="54864" marT="18288" marB="18288" anchor="ctr">
                    <a:solidFill>
                      <a:srgbClr val="1F3A5F"/>
                    </a:solidFill>
                  </a:tcPr>
                </a:tc>
                <a:tc>
                  <a:txBody>
                    <a:bodyPr/>
                    <a:lstStyle/>
                    <a:p>
                      <a:pPr algn="l"/>
                      <a:r>
                        <a:rPr sz="1100" b="1">
                          <a:solidFill>
                            <a:srgbClr val="FFFFFF"/>
                          </a:solidFill>
                        </a:rPr>
                        <a:t>PLD ON</a:t>
                      </a:r>
                    </a:p>
                  </a:txBody>
                  <a:tcPr marL="54864" marR="54864" marT="18288" marB="18288" anchor="ctr">
                    <a:solidFill>
                      <a:srgbClr val="1F3A5F"/>
                    </a:solidFill>
                  </a:tcPr>
                </a:tc>
                <a:tc>
                  <a:txBody>
                    <a:bodyPr/>
                    <a:lstStyle/>
                    <a:p>
                      <a:pPr algn="l"/>
                      <a:r>
                        <a:rPr sz="1100" b="1">
                          <a:solidFill>
                            <a:srgbClr val="FFFFFF"/>
                          </a:solidFill>
                        </a:rPr>
                        <a:t>PLD OFF</a:t>
                      </a:r>
                    </a:p>
                  </a:txBody>
                  <a:tcPr marL="54864" marR="54864" marT="18288" marB="18288" anchor="ctr">
                    <a:solidFill>
                      <a:srgbClr val="1F3A5F"/>
                    </a:solidFill>
                  </a:tcPr>
                </a:tc>
                <a:tc>
                  <a:txBody>
                    <a:bodyPr/>
                    <a:lstStyle/>
                    <a:p>
                      <a:pPr algn="l"/>
                      <a:r>
                        <a:rPr sz="1100" b="1">
                          <a:solidFill>
                            <a:srgbClr val="FFFFFF"/>
                          </a:solidFill>
                        </a:rPr>
                        <a:t>Écart</a:t>
                      </a:r>
                    </a:p>
                  </a:txBody>
                  <a:tcPr marL="54864" marR="54864" marT="18288" marB="18288" anchor="ctr">
                    <a:solidFill>
                      <a:srgbClr val="1F3A5F"/>
                    </a:solidFill>
                  </a:tcPr>
                </a:tc>
                <a:extLst>
                  <a:ext uri="{0D108BD9-81ED-4DB2-BD59-A6C34878D82A}">
                    <a16:rowId xmlns:a16="http://schemas.microsoft.com/office/drawing/2014/main" val="10000"/>
                  </a:ext>
                </a:extLst>
              </a:tr>
              <a:tr h="310896">
                <a:tc>
                  <a:txBody>
                    <a:bodyPr/>
                    <a:lstStyle/>
                    <a:p>
                      <a:pPr algn="l"/>
                      <a:r>
                        <a:rPr sz="1100" b="0">
                          <a:solidFill>
                            <a:srgbClr val="222222"/>
                          </a:solidFill>
                        </a:rPr>
                        <a:t>Extraction et plan</a:t>
                      </a:r>
                    </a:p>
                  </a:txBody>
                  <a:tcPr marL="54864" marR="54864" marT="18288" marB="18288" anchor="ctr">
                    <a:solidFill>
                      <a:srgbClr val="FFFFFF"/>
                    </a:solidFill>
                  </a:tcPr>
                </a:tc>
                <a:tc>
                  <a:txBody>
                    <a:bodyPr/>
                    <a:lstStyle/>
                    <a:p>
                      <a:pPr algn="l"/>
                      <a:r>
                        <a:rPr sz="1100" b="0">
                          <a:solidFill>
                            <a:srgbClr val="222222"/>
                          </a:solidFill>
                        </a:rPr>
                        <a:t>210,20 s</a:t>
                      </a:r>
                    </a:p>
                  </a:txBody>
                  <a:tcPr marL="54864" marR="54864" marT="18288" marB="18288" anchor="ctr">
                    <a:solidFill>
                      <a:srgbClr val="FFFFFF"/>
                    </a:solidFill>
                  </a:tcPr>
                </a:tc>
                <a:tc>
                  <a:txBody>
                    <a:bodyPr/>
                    <a:lstStyle/>
                    <a:p>
                      <a:pPr algn="l"/>
                      <a:r>
                        <a:rPr sz="1100" b="0">
                          <a:solidFill>
                            <a:srgbClr val="222222"/>
                          </a:solidFill>
                        </a:rPr>
                        <a:t>209,79 s</a:t>
                      </a:r>
                    </a:p>
                  </a:txBody>
                  <a:tcPr marL="54864" marR="54864" marT="18288" marB="18288" anchor="ctr">
                    <a:solidFill>
                      <a:srgbClr val="FFFFFF"/>
                    </a:solidFill>
                  </a:tcPr>
                </a:tc>
                <a:tc>
                  <a:txBody>
                    <a:bodyPr/>
                    <a:lstStyle/>
                    <a:p>
                      <a:pPr algn="l"/>
                      <a:r>
                        <a:rPr sz="1100" b="1">
                          <a:solidFill>
                            <a:srgbClr val="9E2B25"/>
                          </a:solidFill>
                        </a:rPr>
                        <a:t>+0,4 s (ON plus lent)</a:t>
                      </a:r>
                    </a:p>
                  </a:txBody>
                  <a:tcPr marL="54864" marR="54864" marT="18288" marB="18288" anchor="ctr">
                    <a:solidFill>
                      <a:srgbClr val="FFFFFF"/>
                    </a:solidFill>
                  </a:tcPr>
                </a:tc>
                <a:extLst>
                  <a:ext uri="{0D108BD9-81ED-4DB2-BD59-A6C34878D82A}">
                    <a16:rowId xmlns:a16="http://schemas.microsoft.com/office/drawing/2014/main" val="10001"/>
                  </a:ext>
                </a:extLst>
              </a:tr>
              <a:tr h="310896">
                <a:tc>
                  <a:txBody>
                    <a:bodyPr/>
                    <a:lstStyle/>
                    <a:p>
                      <a:pPr algn="l"/>
                      <a:r>
                        <a:rPr sz="1100" b="0">
                          <a:solidFill>
                            <a:srgbClr val="222222"/>
                          </a:solidFill>
                        </a:rPr>
                        <a:t>Résumé</a:t>
                      </a:r>
                    </a:p>
                  </a:txBody>
                  <a:tcPr marL="54864" marR="54864" marT="18288" marB="18288" anchor="ctr">
                    <a:solidFill>
                      <a:srgbClr val="F4F6F9"/>
                    </a:solidFill>
                  </a:tcPr>
                </a:tc>
                <a:tc>
                  <a:txBody>
                    <a:bodyPr/>
                    <a:lstStyle/>
                    <a:p>
                      <a:pPr algn="l"/>
                      <a:r>
                        <a:rPr sz="1100" b="0">
                          <a:solidFill>
                            <a:srgbClr val="222222"/>
                          </a:solidFill>
                        </a:rPr>
                        <a:t>224,70 s</a:t>
                      </a:r>
                    </a:p>
                  </a:txBody>
                  <a:tcPr marL="54864" marR="54864" marT="18288" marB="18288" anchor="ctr">
                    <a:solidFill>
                      <a:srgbClr val="F4F6F9"/>
                    </a:solidFill>
                  </a:tcPr>
                </a:tc>
                <a:tc>
                  <a:txBody>
                    <a:bodyPr/>
                    <a:lstStyle/>
                    <a:p>
                      <a:pPr algn="l"/>
                      <a:r>
                        <a:rPr sz="1100" b="0">
                          <a:solidFill>
                            <a:srgbClr val="222222"/>
                          </a:solidFill>
                        </a:rPr>
                        <a:t>214,02 s</a:t>
                      </a:r>
                    </a:p>
                  </a:txBody>
                  <a:tcPr marL="54864" marR="54864" marT="18288" marB="18288" anchor="ctr">
                    <a:solidFill>
                      <a:srgbClr val="F4F6F9"/>
                    </a:solidFill>
                  </a:tcPr>
                </a:tc>
                <a:tc>
                  <a:txBody>
                    <a:bodyPr/>
                    <a:lstStyle/>
                    <a:p>
                      <a:pPr algn="l"/>
                      <a:r>
                        <a:rPr sz="1100" b="1">
                          <a:solidFill>
                            <a:srgbClr val="9E2B25"/>
                          </a:solidFill>
                        </a:rPr>
                        <a:t>+10,7 s (ON plus lent)</a:t>
                      </a:r>
                    </a:p>
                  </a:txBody>
                  <a:tcPr marL="54864" marR="54864" marT="18288" marB="18288" anchor="ctr">
                    <a:solidFill>
                      <a:srgbClr val="F4F6F9"/>
                    </a:solidFill>
                  </a:tcPr>
                </a:tc>
                <a:extLst>
                  <a:ext uri="{0D108BD9-81ED-4DB2-BD59-A6C34878D82A}">
                    <a16:rowId xmlns:a16="http://schemas.microsoft.com/office/drawing/2014/main" val="10002"/>
                  </a:ext>
                </a:extLst>
              </a:tr>
            </a:tbl>
          </a:graphicData>
        </a:graphic>
      </p:graphicFrame>
      <p:sp>
        <p:nvSpPr>
          <p:cNvPr id="4" name="Rectangle 3"/>
          <p:cNvSpPr/>
          <p:nvPr/>
        </p:nvSpPr>
        <p:spPr>
          <a:xfrm>
            <a:off x="457200" y="2286000"/>
            <a:ext cx="11274552" cy="640080"/>
          </a:xfrm>
          <a:prstGeom prst="rect">
            <a:avLst/>
          </a:prstGeom>
          <a:solidFill>
            <a:srgbClr val="F7ECEB"/>
          </a:solidFill>
          <a:ln w="9525">
            <a:solidFill>
              <a:srgbClr val="9E2B25"/>
            </a:solidFill>
          </a:ln>
          <a:effectLst/>
        </p:spPr>
        <p:style>
          <a:lnRef idx="1">
            <a:schemeClr val="accent1"/>
          </a:lnRef>
          <a:fillRef idx="3">
            <a:schemeClr val="accent1"/>
          </a:fillRef>
          <a:effectRef idx="2">
            <a:schemeClr val="accent1"/>
          </a:effectRef>
          <a:fontRef idx="minor">
            <a:schemeClr val="lt1"/>
          </a:fontRef>
        </p:style>
        <p:txBody>
          <a:bodyPr wrap="square" lIns="137160" tIns="73152" rIns="137160" bIns="73152" rtlCol="0" anchor="ctr"/>
          <a:lstStyle/>
          <a:p>
            <a:pPr algn="ctr"/>
            <a:r>
              <a:rPr sz="1200" b="1">
                <a:solidFill>
                  <a:srgbClr val="9E2B25"/>
                </a:solidFill>
              </a:rPr>
              <a:t>Verdict  </a:t>
            </a:r>
            <a:r>
              <a:rPr sz="1200">
                <a:solidFill>
                  <a:srgbClr val="222222"/>
                </a:solidFill>
              </a:rPr>
              <a:t>Rejeté. Aucun gain : la sortie (résumé abstractif, JSON court) ne recopie pas assez le prompt.</a:t>
            </a:r>
          </a:p>
        </p:txBody>
      </p:sp>
      <p:sp>
        <p:nvSpPr>
          <p:cNvPr id="5" name="Rectangle 4"/>
          <p:cNvSpPr/>
          <p:nvPr/>
        </p:nvSpPr>
        <p:spPr>
          <a:xfrm>
            <a:off x="457200" y="3063240"/>
            <a:ext cx="11274552" cy="1554480"/>
          </a:xfrm>
          <a:prstGeom prst="rect">
            <a:avLst/>
          </a:prstGeom>
          <a:solidFill>
            <a:srgbClr val="EEF2F6"/>
          </a:solidFill>
          <a:ln w="9525">
            <a:solidFill>
              <a:srgbClr val="1F3A5F"/>
            </a:solidFill>
          </a:ln>
          <a:effectLst/>
        </p:spPr>
        <p:style>
          <a:lnRef idx="1">
            <a:schemeClr val="accent1"/>
          </a:lnRef>
          <a:fillRef idx="3">
            <a:schemeClr val="accent1"/>
          </a:fillRef>
          <a:effectRef idx="2">
            <a:schemeClr val="accent1"/>
          </a:effectRef>
          <a:fontRef idx="minor">
            <a:schemeClr val="lt1"/>
          </a:fontRef>
        </p:style>
        <p:txBody>
          <a:bodyPr wrap="square" lIns="137160" tIns="73152" rIns="137160" bIns="73152" rtlCol="0" anchor="ctr"/>
          <a:lstStyle/>
          <a:p>
            <a:pPr algn="ctr"/>
            <a:r>
              <a:rPr sz="1150" b="1">
                <a:solidFill>
                  <a:srgbClr val="1F3A5F"/>
                </a:solidFill>
              </a:rPr>
              <a:t>Analyse  </a:t>
            </a:r>
            <a:r>
              <a:rPr sz="1150">
                <a:solidFill>
                  <a:srgbClr val="222222"/>
                </a:solidFill>
              </a:rPr>
              <a:t>Le PLD remplace le draft par une recopie de n-grammes déjà présents dans le prompt : il n'accélère que si la sortie REPREND littéralement l'entrée (résumé extractif, QA, code). Notre sortie est ABSTRACTIVE (reformulée) plus un JSON court : recouvrement de n-grammes faible, presque rien à deviner par copie, donc pas de gain.</a:t>
            </a:r>
          </a:p>
        </p:txBody>
      </p:sp>
      <p:sp>
        <p:nvSpPr>
          <p:cNvPr id="6" name="TextBox 5"/>
          <p:cNvSpPr txBox="1"/>
          <p:nvPr/>
        </p:nvSpPr>
        <p:spPr>
          <a:xfrm>
            <a:off x="457200" y="4709160"/>
            <a:ext cx="11274552" cy="457200"/>
          </a:xfrm>
          <a:prstGeom prst="rect">
            <a:avLst/>
          </a:prstGeom>
          <a:noFill/>
        </p:spPr>
        <p:txBody>
          <a:bodyPr wrap="square">
            <a:spAutoFit/>
          </a:bodyPr>
          <a:lstStyle/>
          <a:p>
            <a:r>
              <a:rPr sz="900" b="1">
                <a:solidFill>
                  <a:srgbClr val="5A5A5A"/>
                </a:solidFill>
              </a:rPr>
              <a:t>Source(s) : </a:t>
            </a:r>
            <a:r>
              <a:rPr sz="900" u="sng">
                <a:solidFill>
                  <a:srgbClr val="1F3A5F"/>
                </a:solidFill>
                <a:hlinkClick r:id="rId2"/>
              </a:rPr>
              <a:t>Prompt Lookup Decoding, dépôt GitHub (apoorvumang)</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6868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wrap="square" lIns="365760" rtlCol="0" anchor="ctr"/>
          <a:lstStyle/>
          <a:p>
            <a:pPr algn="ctr"/>
            <a:r>
              <a:rPr sz="2200" b="1">
                <a:solidFill>
                  <a:srgbClr val="FFFFFF"/>
                </a:solidFill>
                <a:latin typeface="Georgia"/>
              </a:rPr>
              <a:t>3.8  Compression LLMLingua-2 ; parallélisme ; OpenVINO</a:t>
            </a:r>
          </a:p>
        </p:txBody>
      </p:sp>
      <p:graphicFrame>
        <p:nvGraphicFramePr>
          <p:cNvPr id="3" name="Table 2"/>
          <p:cNvGraphicFramePr>
            <a:graphicFrameLocks noGrp="1"/>
          </p:cNvGraphicFramePr>
          <p:nvPr/>
        </p:nvGraphicFramePr>
        <p:xfrm>
          <a:off x="457200" y="1051560"/>
          <a:ext cx="10058397" cy="1243584"/>
        </p:xfrm>
        <a:graphic>
          <a:graphicData uri="http://schemas.openxmlformats.org/drawingml/2006/table">
            <a:tbl>
              <a:tblPr>
                <a:tableStyleId>{2D5ABB26-0587-4C30-8999-92F81FD0307C}</a:tableStyleId>
              </a:tblPr>
              <a:tblGrid>
                <a:gridCol w="2312275">
                  <a:extLst>
                    <a:ext uri="{9D8B030D-6E8A-4147-A177-3AD203B41FA5}">
                      <a16:colId xmlns:a16="http://schemas.microsoft.com/office/drawing/2014/main" val="20000"/>
                    </a:ext>
                  </a:extLst>
                </a:gridCol>
                <a:gridCol w="1849820">
                  <a:extLst>
                    <a:ext uri="{9D8B030D-6E8A-4147-A177-3AD203B41FA5}">
                      <a16:colId xmlns:a16="http://schemas.microsoft.com/office/drawing/2014/main" val="20001"/>
                    </a:ext>
                  </a:extLst>
                </a:gridCol>
                <a:gridCol w="1849820">
                  <a:extLst>
                    <a:ext uri="{9D8B030D-6E8A-4147-A177-3AD203B41FA5}">
                      <a16:colId xmlns:a16="http://schemas.microsoft.com/office/drawing/2014/main" val="20002"/>
                    </a:ext>
                  </a:extLst>
                </a:gridCol>
                <a:gridCol w="4046482">
                  <a:extLst>
                    <a:ext uri="{9D8B030D-6E8A-4147-A177-3AD203B41FA5}">
                      <a16:colId xmlns:a16="http://schemas.microsoft.com/office/drawing/2014/main" val="20003"/>
                    </a:ext>
                  </a:extLst>
                </a:gridCol>
              </a:tblGrid>
              <a:tr h="310896">
                <a:tc>
                  <a:txBody>
                    <a:bodyPr/>
                    <a:lstStyle/>
                    <a:p>
                      <a:pPr algn="l"/>
                      <a:r>
                        <a:rPr sz="1100" b="1">
                          <a:solidFill>
                            <a:srgbClr val="FFFFFF"/>
                          </a:solidFill>
                        </a:rPr>
                        <a:t>Ratio LLMLingua</a:t>
                      </a:r>
                    </a:p>
                  </a:txBody>
                  <a:tcPr marL="54864" marR="54864" marT="18288" marB="18288" anchor="ctr">
                    <a:solidFill>
                      <a:srgbClr val="1F3A5F"/>
                    </a:solidFill>
                  </a:tcPr>
                </a:tc>
                <a:tc>
                  <a:txBody>
                    <a:bodyPr/>
                    <a:lstStyle/>
                    <a:p>
                      <a:pPr algn="l"/>
                      <a:r>
                        <a:rPr sz="1100" b="1">
                          <a:solidFill>
                            <a:srgbClr val="FFFFFF"/>
                          </a:solidFill>
                        </a:rPr>
                        <a:t>Caractères</a:t>
                      </a:r>
                    </a:p>
                  </a:txBody>
                  <a:tcPr marL="54864" marR="54864" marT="18288" marB="18288" anchor="ctr">
                    <a:solidFill>
                      <a:srgbClr val="1F3A5F"/>
                    </a:solidFill>
                  </a:tcPr>
                </a:tc>
                <a:tc>
                  <a:txBody>
                    <a:bodyPr/>
                    <a:lstStyle/>
                    <a:p>
                      <a:pPr algn="l"/>
                      <a:r>
                        <a:rPr sz="1100" b="1">
                          <a:solidFill>
                            <a:srgbClr val="FFFFFF"/>
                          </a:solidFill>
                        </a:rPr>
                        <a:t>Durée totale</a:t>
                      </a:r>
                    </a:p>
                  </a:txBody>
                  <a:tcPr marL="54864" marR="54864" marT="18288" marB="18288" anchor="ctr">
                    <a:solidFill>
                      <a:srgbClr val="1F3A5F"/>
                    </a:solidFill>
                  </a:tcPr>
                </a:tc>
                <a:tc>
                  <a:txBody>
                    <a:bodyPr/>
                    <a:lstStyle/>
                    <a:p>
                      <a:pPr algn="l"/>
                      <a:r>
                        <a:rPr sz="1100" b="1">
                          <a:solidFill>
                            <a:srgbClr val="FFFFFF"/>
                          </a:solidFill>
                        </a:rPr>
                        <a:t>Effet qualité</a:t>
                      </a:r>
                    </a:p>
                  </a:txBody>
                  <a:tcPr marL="54864" marR="54864" marT="18288" marB="18288" anchor="ctr">
                    <a:solidFill>
                      <a:srgbClr val="1F3A5F"/>
                    </a:solidFill>
                  </a:tcPr>
                </a:tc>
                <a:extLst>
                  <a:ext uri="{0D108BD9-81ED-4DB2-BD59-A6C34878D82A}">
                    <a16:rowId xmlns:a16="http://schemas.microsoft.com/office/drawing/2014/main" val="10000"/>
                  </a:ext>
                </a:extLst>
              </a:tr>
              <a:tr h="310896">
                <a:tc>
                  <a:txBody>
                    <a:bodyPr/>
                    <a:lstStyle/>
                    <a:p>
                      <a:pPr algn="l"/>
                      <a:r>
                        <a:rPr sz="1100" b="0">
                          <a:solidFill>
                            <a:srgbClr val="222222"/>
                          </a:solidFill>
                        </a:rPr>
                        <a:t>1.0 (aucune)</a:t>
                      </a:r>
                    </a:p>
                  </a:txBody>
                  <a:tcPr marL="54864" marR="54864" marT="18288" marB="18288" anchor="ctr">
                    <a:solidFill>
                      <a:srgbClr val="FFFFFF"/>
                    </a:solidFill>
                  </a:tcPr>
                </a:tc>
                <a:tc>
                  <a:txBody>
                    <a:bodyPr/>
                    <a:lstStyle/>
                    <a:p>
                      <a:pPr algn="l"/>
                      <a:r>
                        <a:rPr sz="1100" b="0">
                          <a:solidFill>
                            <a:srgbClr val="222222"/>
                          </a:solidFill>
                        </a:rPr>
                        <a:t>8 000</a:t>
                      </a:r>
                    </a:p>
                  </a:txBody>
                  <a:tcPr marL="54864" marR="54864" marT="18288" marB="18288" anchor="ctr">
                    <a:solidFill>
                      <a:srgbClr val="FFFFFF"/>
                    </a:solidFill>
                  </a:tcPr>
                </a:tc>
                <a:tc>
                  <a:txBody>
                    <a:bodyPr/>
                    <a:lstStyle/>
                    <a:p>
                      <a:pPr algn="l"/>
                      <a:r>
                        <a:rPr sz="1100" b="0">
                          <a:solidFill>
                            <a:srgbClr val="222222"/>
                          </a:solidFill>
                        </a:rPr>
                        <a:t>308,7 s</a:t>
                      </a:r>
                    </a:p>
                  </a:txBody>
                  <a:tcPr marL="54864" marR="54864" marT="18288" marB="18288" anchor="ctr">
                    <a:solidFill>
                      <a:srgbClr val="FFFFFF"/>
                    </a:solidFill>
                  </a:tcPr>
                </a:tc>
                <a:tc>
                  <a:txBody>
                    <a:bodyPr/>
                    <a:lstStyle/>
                    <a:p>
                      <a:pPr algn="l"/>
                      <a:r>
                        <a:rPr sz="1100" b="1">
                          <a:solidFill>
                            <a:srgbClr val="9E2B25"/>
                          </a:solidFill>
                        </a:rPr>
                        <a:t>référence, extraction vide</a:t>
                      </a:r>
                    </a:p>
                  </a:txBody>
                  <a:tcPr marL="54864" marR="54864" marT="18288" marB="18288" anchor="ctr">
                    <a:solidFill>
                      <a:srgbClr val="FFFFFF"/>
                    </a:solidFill>
                  </a:tcPr>
                </a:tc>
                <a:extLst>
                  <a:ext uri="{0D108BD9-81ED-4DB2-BD59-A6C34878D82A}">
                    <a16:rowId xmlns:a16="http://schemas.microsoft.com/office/drawing/2014/main" val="10001"/>
                  </a:ext>
                </a:extLst>
              </a:tr>
              <a:tr h="310896">
                <a:tc>
                  <a:txBody>
                    <a:bodyPr/>
                    <a:lstStyle/>
                    <a:p>
                      <a:pPr algn="l"/>
                      <a:r>
                        <a:rPr sz="1100" b="0">
                          <a:solidFill>
                            <a:srgbClr val="222222"/>
                          </a:solidFill>
                        </a:rPr>
                        <a:t>0.5</a:t>
                      </a:r>
                    </a:p>
                  </a:txBody>
                  <a:tcPr marL="54864" marR="54864" marT="18288" marB="18288" anchor="ctr">
                    <a:solidFill>
                      <a:srgbClr val="F4F6F9"/>
                    </a:solidFill>
                  </a:tcPr>
                </a:tc>
                <a:tc>
                  <a:txBody>
                    <a:bodyPr/>
                    <a:lstStyle/>
                    <a:p>
                      <a:pPr algn="l"/>
                      <a:r>
                        <a:rPr sz="1100" b="0">
                          <a:solidFill>
                            <a:srgbClr val="222222"/>
                          </a:solidFill>
                        </a:rPr>
                        <a:t>4 152</a:t>
                      </a:r>
                    </a:p>
                  </a:txBody>
                  <a:tcPr marL="54864" marR="54864" marT="18288" marB="18288" anchor="ctr">
                    <a:solidFill>
                      <a:srgbClr val="F4F6F9"/>
                    </a:solidFill>
                  </a:tcPr>
                </a:tc>
                <a:tc>
                  <a:txBody>
                    <a:bodyPr/>
                    <a:lstStyle/>
                    <a:p>
                      <a:pPr algn="l"/>
                      <a:r>
                        <a:rPr sz="1100" b="0">
                          <a:solidFill>
                            <a:srgbClr val="222222"/>
                          </a:solidFill>
                        </a:rPr>
                        <a:t>174,7 s</a:t>
                      </a:r>
                    </a:p>
                  </a:txBody>
                  <a:tcPr marL="54864" marR="54864" marT="18288" marB="18288" anchor="ctr">
                    <a:solidFill>
                      <a:srgbClr val="F4F6F9"/>
                    </a:solidFill>
                  </a:tcPr>
                </a:tc>
                <a:tc>
                  <a:txBody>
                    <a:bodyPr/>
                    <a:lstStyle/>
                    <a:p>
                      <a:pPr algn="l"/>
                      <a:r>
                        <a:rPr sz="1100" b="0">
                          <a:solidFill>
                            <a:srgbClr val="222222"/>
                          </a:solidFill>
                        </a:rPr>
                        <a:t>identique à la référence</a:t>
                      </a:r>
                    </a:p>
                  </a:txBody>
                  <a:tcPr marL="54864" marR="54864" marT="18288" marB="18288" anchor="ctr">
                    <a:solidFill>
                      <a:srgbClr val="F4F6F9"/>
                    </a:solidFill>
                  </a:tcPr>
                </a:tc>
                <a:extLst>
                  <a:ext uri="{0D108BD9-81ED-4DB2-BD59-A6C34878D82A}">
                    <a16:rowId xmlns:a16="http://schemas.microsoft.com/office/drawing/2014/main" val="10002"/>
                  </a:ext>
                </a:extLst>
              </a:tr>
              <a:tr h="310896">
                <a:tc>
                  <a:txBody>
                    <a:bodyPr/>
                    <a:lstStyle/>
                    <a:p>
                      <a:pPr algn="l"/>
                      <a:r>
                        <a:rPr sz="1100" b="0">
                          <a:solidFill>
                            <a:srgbClr val="222222"/>
                          </a:solidFill>
                        </a:rPr>
                        <a:t>0.4</a:t>
                      </a:r>
                    </a:p>
                  </a:txBody>
                  <a:tcPr marL="54864" marR="54864" marT="18288" marB="18288" anchor="ctr">
                    <a:solidFill>
                      <a:srgbClr val="FFFFFF"/>
                    </a:solidFill>
                  </a:tcPr>
                </a:tc>
                <a:tc>
                  <a:txBody>
                    <a:bodyPr/>
                    <a:lstStyle/>
                    <a:p>
                      <a:pPr algn="l"/>
                      <a:r>
                        <a:rPr sz="1100" b="0">
                          <a:solidFill>
                            <a:srgbClr val="222222"/>
                          </a:solidFill>
                        </a:rPr>
                        <a:t>3 351</a:t>
                      </a:r>
                    </a:p>
                  </a:txBody>
                  <a:tcPr marL="54864" marR="54864" marT="18288" marB="18288" anchor="ctr">
                    <a:solidFill>
                      <a:srgbClr val="FFFFFF"/>
                    </a:solidFill>
                  </a:tcPr>
                </a:tc>
                <a:tc>
                  <a:txBody>
                    <a:bodyPr/>
                    <a:lstStyle/>
                    <a:p>
                      <a:pPr algn="l"/>
                      <a:r>
                        <a:rPr sz="1100" b="0">
                          <a:solidFill>
                            <a:srgbClr val="222222"/>
                          </a:solidFill>
                        </a:rPr>
                        <a:t>128,7 s</a:t>
                      </a:r>
                    </a:p>
                  </a:txBody>
                  <a:tcPr marL="54864" marR="54864" marT="18288" marB="18288" anchor="ctr">
                    <a:solidFill>
                      <a:srgbClr val="FFFFFF"/>
                    </a:solidFill>
                  </a:tcPr>
                </a:tc>
                <a:tc>
                  <a:txBody>
                    <a:bodyPr/>
                    <a:lstStyle/>
                    <a:p>
                      <a:pPr algn="l"/>
                      <a:r>
                        <a:rPr sz="1100" b="0">
                          <a:solidFill>
                            <a:srgbClr val="222222"/>
                          </a:solidFill>
                        </a:rPr>
                        <a:t>1 décision apparaît (extrapolation ?)</a:t>
                      </a:r>
                    </a:p>
                  </a:txBody>
                  <a:tcPr marL="54864" marR="54864" marT="18288" marB="18288" anchor="ctr">
                    <a:solidFill>
                      <a:srgbClr val="FFFFFF"/>
                    </a:solidFill>
                  </a:tcPr>
                </a:tc>
                <a:extLst>
                  <a:ext uri="{0D108BD9-81ED-4DB2-BD59-A6C34878D82A}">
                    <a16:rowId xmlns:a16="http://schemas.microsoft.com/office/drawing/2014/main" val="10003"/>
                  </a:ext>
                </a:extLst>
              </a:tr>
            </a:tbl>
          </a:graphicData>
        </a:graphic>
      </p:graphicFrame>
      <p:sp>
        <p:nvSpPr>
          <p:cNvPr id="4" name="Rectangle 3"/>
          <p:cNvSpPr/>
          <p:nvPr/>
        </p:nvSpPr>
        <p:spPr>
          <a:xfrm>
            <a:off x="457200" y="2651760"/>
            <a:ext cx="11274552" cy="822960"/>
          </a:xfrm>
          <a:prstGeom prst="rect">
            <a:avLst/>
          </a:prstGeom>
          <a:solidFill>
            <a:srgbClr val="F7ECEB"/>
          </a:solidFill>
          <a:ln w="9525">
            <a:solidFill>
              <a:srgbClr val="9E2B25"/>
            </a:solidFill>
          </a:ln>
          <a:effectLst/>
        </p:spPr>
        <p:style>
          <a:lnRef idx="1">
            <a:schemeClr val="accent1"/>
          </a:lnRef>
          <a:fillRef idx="3">
            <a:schemeClr val="accent1"/>
          </a:fillRef>
          <a:effectRef idx="2">
            <a:schemeClr val="accent1"/>
          </a:effectRef>
          <a:fontRef idx="minor">
            <a:schemeClr val="lt1"/>
          </a:fontRef>
        </p:style>
        <p:txBody>
          <a:bodyPr wrap="square" lIns="137160" tIns="73152" rIns="137160" bIns="73152" rtlCol="0" anchor="ctr"/>
          <a:lstStyle/>
          <a:p>
            <a:pPr algn="ctr"/>
            <a:r>
              <a:rPr sz="1200" b="1">
                <a:solidFill>
                  <a:srgbClr val="9E2B25"/>
                </a:solidFill>
              </a:rPr>
              <a:t>Verdict  </a:t>
            </a:r>
            <a:r>
              <a:rPr sz="1200">
                <a:solidFill>
                  <a:srgbClr val="222222"/>
                </a:solidFill>
              </a:rPr>
              <a:t>Écarté. Gain net (jusqu'à environ 2,9 fois) mais aux ratios agressifs le contenu diverge (items non vérifiés). Risque qualité non maîtrisé sans gold.</a:t>
            </a:r>
          </a:p>
        </p:txBody>
      </p:sp>
      <p:sp>
        <p:nvSpPr>
          <p:cNvPr id="5" name="TextBox 4"/>
          <p:cNvSpPr txBox="1"/>
          <p:nvPr/>
        </p:nvSpPr>
        <p:spPr>
          <a:xfrm>
            <a:off x="457200" y="3657600"/>
            <a:ext cx="11274552" cy="1188720"/>
          </a:xfrm>
          <a:prstGeom prst="rect">
            <a:avLst/>
          </a:prstGeom>
          <a:noFill/>
        </p:spPr>
        <p:txBody>
          <a:bodyPr wrap="square">
            <a:spAutoFit/>
          </a:bodyPr>
          <a:lstStyle/>
          <a:p>
            <a:pPr>
              <a:spcAft>
                <a:spcPts val="600"/>
              </a:spcAft>
            </a:pPr>
            <a:r>
              <a:rPr sz="1250" dirty="0">
                <a:solidFill>
                  <a:srgbClr val="2E4D6B"/>
                </a:solidFill>
              </a:rPr>
              <a:t>•  </a:t>
            </a:r>
            <a:r>
              <a:rPr sz="1250" b="1" dirty="0" err="1">
                <a:solidFill>
                  <a:srgbClr val="222222"/>
                </a:solidFill>
              </a:rPr>
              <a:t>Parallélisme</a:t>
            </a:r>
            <a:r>
              <a:rPr sz="1250" b="1" dirty="0">
                <a:solidFill>
                  <a:srgbClr val="222222"/>
                </a:solidFill>
              </a:rPr>
              <a:t> (--parallel) : </a:t>
            </a:r>
            <a:r>
              <a:rPr sz="1250" dirty="0">
                <a:solidFill>
                  <a:srgbClr val="222222"/>
                </a:solidFill>
              </a:rPr>
              <a:t>pas de gain </a:t>
            </a:r>
            <a:r>
              <a:rPr sz="1250" dirty="0" err="1">
                <a:solidFill>
                  <a:srgbClr val="222222"/>
                </a:solidFill>
              </a:rPr>
              <a:t>réel</a:t>
            </a:r>
            <a:r>
              <a:rPr sz="1250" dirty="0">
                <a:solidFill>
                  <a:srgbClr val="222222"/>
                </a:solidFill>
              </a:rPr>
              <a:t> sur CPU (</a:t>
            </a:r>
            <a:r>
              <a:rPr sz="1250" dirty="0" err="1">
                <a:solidFill>
                  <a:srgbClr val="222222"/>
                </a:solidFill>
              </a:rPr>
              <a:t>cœurs</a:t>
            </a:r>
            <a:r>
              <a:rPr sz="1250" dirty="0">
                <a:solidFill>
                  <a:srgbClr val="222222"/>
                </a:solidFill>
              </a:rPr>
              <a:t> </a:t>
            </a:r>
            <a:r>
              <a:rPr sz="1250" dirty="0" err="1">
                <a:solidFill>
                  <a:srgbClr val="222222"/>
                </a:solidFill>
              </a:rPr>
              <a:t>partagés</a:t>
            </a:r>
            <a:r>
              <a:rPr sz="1250" dirty="0">
                <a:solidFill>
                  <a:srgbClr val="222222"/>
                </a:solidFill>
              </a:rPr>
              <a:t>). Pipeline </a:t>
            </a:r>
            <a:r>
              <a:rPr sz="1250" dirty="0" err="1">
                <a:solidFill>
                  <a:srgbClr val="222222"/>
                </a:solidFill>
              </a:rPr>
              <a:t>séquentiel</a:t>
            </a:r>
            <a:r>
              <a:rPr sz="1250" dirty="0">
                <a:solidFill>
                  <a:srgbClr val="222222"/>
                </a:solidFill>
              </a:rPr>
              <a:t>.</a:t>
            </a:r>
          </a:p>
          <a:p>
            <a:pPr>
              <a:spcAft>
                <a:spcPts val="600"/>
              </a:spcAft>
            </a:pPr>
            <a:r>
              <a:rPr sz="1250" dirty="0">
                <a:solidFill>
                  <a:srgbClr val="2E4D6B"/>
                </a:solidFill>
              </a:rPr>
              <a:t>•  </a:t>
            </a:r>
            <a:r>
              <a:rPr sz="1250" b="1" dirty="0" err="1">
                <a:solidFill>
                  <a:srgbClr val="222222"/>
                </a:solidFill>
              </a:rPr>
              <a:t>OpenVINO</a:t>
            </a:r>
            <a:r>
              <a:rPr sz="1250" b="1" dirty="0">
                <a:solidFill>
                  <a:srgbClr val="222222"/>
                </a:solidFill>
              </a:rPr>
              <a:t> : </a:t>
            </a:r>
            <a:r>
              <a:rPr sz="1250" dirty="0">
                <a:solidFill>
                  <a:srgbClr val="222222"/>
                </a:solidFill>
              </a:rPr>
              <a:t>non </a:t>
            </a:r>
            <a:r>
              <a:rPr sz="1250" dirty="0" err="1">
                <a:solidFill>
                  <a:srgbClr val="222222"/>
                </a:solidFill>
              </a:rPr>
              <a:t>concluant</a:t>
            </a:r>
            <a:r>
              <a:rPr sz="1250" dirty="0">
                <a:solidFill>
                  <a:srgbClr val="222222"/>
                </a:solidFill>
              </a:rPr>
              <a:t> (</a:t>
            </a:r>
            <a:r>
              <a:rPr sz="1250" dirty="0" err="1">
                <a:solidFill>
                  <a:srgbClr val="222222"/>
                </a:solidFill>
              </a:rPr>
              <a:t>prérequis</a:t>
            </a:r>
            <a:r>
              <a:rPr sz="1250" dirty="0">
                <a:solidFill>
                  <a:srgbClr val="222222"/>
                </a:solidFill>
              </a:rPr>
              <a:t> </a:t>
            </a:r>
            <a:r>
              <a:rPr sz="1250" dirty="0" err="1">
                <a:solidFill>
                  <a:srgbClr val="222222"/>
                </a:solidFill>
              </a:rPr>
              <a:t>lourds</a:t>
            </a:r>
            <a:r>
              <a:rPr sz="1250" dirty="0">
                <a:solidFill>
                  <a:srgbClr val="222222"/>
                </a:solidFill>
              </a:rPr>
              <a:t>, Q4_K_M </a:t>
            </a:r>
            <a:r>
              <a:rPr sz="1250" dirty="0" err="1">
                <a:solidFill>
                  <a:srgbClr val="222222"/>
                </a:solidFill>
              </a:rPr>
              <a:t>partiellement</a:t>
            </a:r>
            <a:r>
              <a:rPr sz="1250" dirty="0">
                <a:solidFill>
                  <a:srgbClr val="222222"/>
                </a:solidFill>
              </a:rPr>
              <a:t> </a:t>
            </a:r>
            <a:r>
              <a:rPr sz="1250" dirty="0" err="1">
                <a:solidFill>
                  <a:srgbClr val="222222"/>
                </a:solidFill>
              </a:rPr>
              <a:t>supporté</a:t>
            </a:r>
            <a:r>
              <a:rPr sz="1250" dirty="0">
                <a:solidFill>
                  <a:srgbClr val="222222"/>
                </a:solidFill>
              </a:rPr>
              <a:t>).</a:t>
            </a:r>
          </a:p>
        </p:txBody>
      </p:sp>
      <p:sp>
        <p:nvSpPr>
          <p:cNvPr id="6" name="TextBox 5"/>
          <p:cNvSpPr txBox="1"/>
          <p:nvPr/>
        </p:nvSpPr>
        <p:spPr>
          <a:xfrm>
            <a:off x="457200" y="4937760"/>
            <a:ext cx="11274552" cy="457200"/>
          </a:xfrm>
          <a:prstGeom prst="rect">
            <a:avLst/>
          </a:prstGeom>
          <a:noFill/>
        </p:spPr>
        <p:txBody>
          <a:bodyPr wrap="square">
            <a:spAutoFit/>
          </a:bodyPr>
          <a:lstStyle/>
          <a:p>
            <a:r>
              <a:rPr sz="900" b="1" dirty="0">
                <a:solidFill>
                  <a:srgbClr val="5A5A5A"/>
                </a:solidFill>
              </a:rPr>
              <a:t>Source(s) : </a:t>
            </a:r>
            <a:r>
              <a:rPr sz="900" u="sng" dirty="0">
                <a:solidFill>
                  <a:srgbClr val="1F3A5F"/>
                </a:solidFill>
                <a:hlinkClick r:id="rId2"/>
              </a:rPr>
              <a:t>LLMLingua-2, Pan et al., Findings of ACL 2024</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lIns="914400" rtlCol="0" anchor="ctr"/>
          <a:lstStyle/>
          <a:p>
            <a:pPr algn="ctr"/>
            <a:r>
              <a:rPr sz="2800" b="1">
                <a:solidFill>
                  <a:srgbClr val="9DC3E6"/>
                </a:solidFill>
              </a:rPr>
              <a:t>Partie 4</a:t>
            </a:r>
          </a:p>
          <a:p>
            <a:r>
              <a:rPr sz="4000" b="1">
                <a:solidFill>
                  <a:srgbClr val="FFFFFF"/>
                </a:solidFill>
                <a:latin typeface="Georgia"/>
              </a:rPr>
              <a:t>Synthèse</a:t>
            </a:r>
          </a:p>
          <a:p>
            <a:pPr>
              <a:spcBef>
                <a:spcPts val="1000"/>
              </a:spcBef>
            </a:pPr>
            <a:r>
              <a:rPr sz="1600">
                <a:solidFill>
                  <a:srgbClr val="D6E4F0"/>
                </a:solidFill>
              </a:rPr>
              <a:t>Bilan, choix de modèle, état actuel</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6868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wrap="square" lIns="365760" rtlCol="0" anchor="ctr"/>
          <a:lstStyle/>
          <a:p>
            <a:pPr algn="ctr"/>
            <a:r>
              <a:rPr sz="2200" b="1">
                <a:solidFill>
                  <a:srgbClr val="FFFFFF"/>
                </a:solidFill>
                <a:latin typeface="Georgia"/>
              </a:rPr>
              <a:t>4.1  Bilan technique par technique</a:t>
            </a:r>
          </a:p>
        </p:txBody>
      </p:sp>
      <p:graphicFrame>
        <p:nvGraphicFramePr>
          <p:cNvPr id="3" name="Table 2"/>
          <p:cNvGraphicFramePr>
            <a:graphicFrameLocks noGrp="1"/>
          </p:cNvGraphicFramePr>
          <p:nvPr/>
        </p:nvGraphicFramePr>
        <p:xfrm>
          <a:off x="457200" y="1005840"/>
          <a:ext cx="11274550" cy="3566160"/>
        </p:xfrm>
        <a:graphic>
          <a:graphicData uri="http://schemas.openxmlformats.org/drawingml/2006/table">
            <a:tbl>
              <a:tblPr>
                <a:tableStyleId>{2D5ABB26-0587-4C30-8999-92F81FD0307C}</a:tableStyleId>
              </a:tblPr>
              <a:tblGrid>
                <a:gridCol w="5043878">
                  <a:extLst>
                    <a:ext uri="{9D8B030D-6E8A-4147-A177-3AD203B41FA5}">
                      <a16:colId xmlns:a16="http://schemas.microsoft.com/office/drawing/2014/main" val="20000"/>
                    </a:ext>
                  </a:extLst>
                </a:gridCol>
                <a:gridCol w="1186794">
                  <a:extLst>
                    <a:ext uri="{9D8B030D-6E8A-4147-A177-3AD203B41FA5}">
                      <a16:colId xmlns:a16="http://schemas.microsoft.com/office/drawing/2014/main" val="20001"/>
                    </a:ext>
                  </a:extLst>
                </a:gridCol>
                <a:gridCol w="5043878">
                  <a:extLst>
                    <a:ext uri="{9D8B030D-6E8A-4147-A177-3AD203B41FA5}">
                      <a16:colId xmlns:a16="http://schemas.microsoft.com/office/drawing/2014/main" val="20002"/>
                    </a:ext>
                  </a:extLst>
                </a:gridCol>
              </a:tblGrid>
              <a:tr h="274320">
                <a:tc>
                  <a:txBody>
                    <a:bodyPr/>
                    <a:lstStyle/>
                    <a:p>
                      <a:pPr algn="l"/>
                      <a:r>
                        <a:rPr sz="1000" b="1">
                          <a:solidFill>
                            <a:srgbClr val="FFFFFF"/>
                          </a:solidFill>
                        </a:rPr>
                        <a:t>Technique</a:t>
                      </a:r>
                    </a:p>
                  </a:txBody>
                  <a:tcPr marL="54864" marR="54864" marT="18288" marB="18288" anchor="ctr">
                    <a:solidFill>
                      <a:srgbClr val="1F3A5F"/>
                    </a:solidFill>
                  </a:tcPr>
                </a:tc>
                <a:tc>
                  <a:txBody>
                    <a:bodyPr/>
                    <a:lstStyle/>
                    <a:p>
                      <a:pPr algn="l"/>
                      <a:r>
                        <a:rPr sz="1000" b="1">
                          <a:solidFill>
                            <a:srgbClr val="FFFFFF"/>
                          </a:solidFill>
                        </a:rPr>
                        <a:t>Partie</a:t>
                      </a:r>
                    </a:p>
                  </a:txBody>
                  <a:tcPr marL="54864" marR="54864" marT="18288" marB="18288" anchor="ctr">
                    <a:solidFill>
                      <a:srgbClr val="1F3A5F"/>
                    </a:solidFill>
                  </a:tcPr>
                </a:tc>
                <a:tc>
                  <a:txBody>
                    <a:bodyPr/>
                    <a:lstStyle/>
                    <a:p>
                      <a:pPr algn="l"/>
                      <a:r>
                        <a:rPr sz="1000" b="1">
                          <a:solidFill>
                            <a:srgbClr val="FFFFFF"/>
                          </a:solidFill>
                        </a:rPr>
                        <a:t>Verdict</a:t>
                      </a:r>
                    </a:p>
                  </a:txBody>
                  <a:tcPr marL="54864" marR="54864" marT="18288" marB="18288" anchor="ctr">
                    <a:solidFill>
                      <a:srgbClr val="1F3A5F"/>
                    </a:solidFill>
                  </a:tcPr>
                </a:tc>
                <a:extLst>
                  <a:ext uri="{0D108BD9-81ED-4DB2-BD59-A6C34878D82A}">
                    <a16:rowId xmlns:a16="http://schemas.microsoft.com/office/drawing/2014/main" val="10000"/>
                  </a:ext>
                </a:extLst>
              </a:tr>
              <a:tr h="274320">
                <a:tc>
                  <a:txBody>
                    <a:bodyPr/>
                    <a:lstStyle/>
                    <a:p>
                      <a:pPr algn="l"/>
                      <a:r>
                        <a:rPr sz="1000" b="0">
                          <a:solidFill>
                            <a:srgbClr val="222222"/>
                          </a:solidFill>
                        </a:rPr>
                        <a:t>Découpage par frontières (vs HDBSCAN)</a:t>
                      </a:r>
                    </a:p>
                  </a:txBody>
                  <a:tcPr marL="54864" marR="54864" marT="18288" marB="18288" anchor="ctr">
                    <a:solidFill>
                      <a:srgbClr val="FFFFFF"/>
                    </a:solidFill>
                  </a:tcPr>
                </a:tc>
                <a:tc>
                  <a:txBody>
                    <a:bodyPr/>
                    <a:lstStyle/>
                    <a:p>
                      <a:pPr algn="l"/>
                      <a:r>
                        <a:rPr sz="1000" b="0">
                          <a:solidFill>
                            <a:srgbClr val="222222"/>
                          </a:solidFill>
                        </a:rPr>
                        <a:t>1.1</a:t>
                      </a:r>
                    </a:p>
                  </a:txBody>
                  <a:tcPr marL="54864" marR="54864" marT="18288" marB="18288" anchor="ctr">
                    <a:solidFill>
                      <a:srgbClr val="FFFFFF"/>
                    </a:solidFill>
                  </a:tcPr>
                </a:tc>
                <a:tc>
                  <a:txBody>
                    <a:bodyPr/>
                    <a:lstStyle/>
                    <a:p>
                      <a:pPr algn="l"/>
                      <a:r>
                        <a:rPr sz="1000" b="1">
                          <a:solidFill>
                            <a:srgbClr val="2E6B3F"/>
                          </a:solidFill>
                        </a:rPr>
                        <a:t>ADOPTÉ, chronologique, -32 à -41 %</a:t>
                      </a:r>
                    </a:p>
                  </a:txBody>
                  <a:tcPr marL="54864" marR="54864" marT="18288" marB="18288" anchor="ctr">
                    <a:solidFill>
                      <a:srgbClr val="FFFFFF"/>
                    </a:solidFill>
                  </a:tcPr>
                </a:tc>
                <a:extLst>
                  <a:ext uri="{0D108BD9-81ED-4DB2-BD59-A6C34878D82A}">
                    <a16:rowId xmlns:a16="http://schemas.microsoft.com/office/drawing/2014/main" val="10001"/>
                  </a:ext>
                </a:extLst>
              </a:tr>
              <a:tr h="274320">
                <a:tc>
                  <a:txBody>
                    <a:bodyPr/>
                    <a:lstStyle/>
                    <a:p>
                      <a:pPr algn="l"/>
                      <a:r>
                        <a:rPr sz="1000" b="0">
                          <a:solidFill>
                            <a:srgbClr val="222222"/>
                          </a:solidFill>
                        </a:rPr>
                        <a:t>Extraction JSON + assemblage déterministe</a:t>
                      </a:r>
                    </a:p>
                  </a:txBody>
                  <a:tcPr marL="54864" marR="54864" marT="18288" marB="18288" anchor="ctr">
                    <a:solidFill>
                      <a:srgbClr val="F4F6F9"/>
                    </a:solidFill>
                  </a:tcPr>
                </a:tc>
                <a:tc>
                  <a:txBody>
                    <a:bodyPr/>
                    <a:lstStyle/>
                    <a:p>
                      <a:pPr algn="l"/>
                      <a:r>
                        <a:rPr sz="1000" b="0">
                          <a:solidFill>
                            <a:srgbClr val="222222"/>
                          </a:solidFill>
                        </a:rPr>
                        <a:t>2.A</a:t>
                      </a:r>
                    </a:p>
                  </a:txBody>
                  <a:tcPr marL="54864" marR="54864" marT="18288" marB="18288" anchor="ctr">
                    <a:solidFill>
                      <a:srgbClr val="F4F6F9"/>
                    </a:solidFill>
                  </a:tcPr>
                </a:tc>
                <a:tc>
                  <a:txBody>
                    <a:bodyPr/>
                    <a:lstStyle/>
                    <a:p>
                      <a:pPr algn="l"/>
                      <a:r>
                        <a:rPr sz="1000" b="1">
                          <a:solidFill>
                            <a:srgbClr val="2E6B3F"/>
                          </a:solidFill>
                        </a:rPr>
                        <a:t>ADOPTÉ, fiabilité du format</a:t>
                      </a:r>
                    </a:p>
                  </a:txBody>
                  <a:tcPr marL="54864" marR="54864" marT="18288" marB="18288" anchor="ctr">
                    <a:solidFill>
                      <a:srgbClr val="F4F6F9"/>
                    </a:solidFill>
                  </a:tcPr>
                </a:tc>
                <a:extLst>
                  <a:ext uri="{0D108BD9-81ED-4DB2-BD59-A6C34878D82A}">
                    <a16:rowId xmlns:a16="http://schemas.microsoft.com/office/drawing/2014/main" val="10002"/>
                  </a:ext>
                </a:extLst>
              </a:tr>
              <a:tr h="274320">
                <a:tc>
                  <a:txBody>
                    <a:bodyPr/>
                    <a:lstStyle/>
                    <a:p>
                      <a:pPr algn="l"/>
                      <a:r>
                        <a:rPr sz="1000" b="0">
                          <a:solidFill>
                            <a:srgbClr val="222222"/>
                          </a:solidFill>
                        </a:rPr>
                        <a:t>Plan d'action perchunk</a:t>
                      </a:r>
                    </a:p>
                  </a:txBody>
                  <a:tcPr marL="54864" marR="54864" marT="18288" marB="18288" anchor="ctr">
                    <a:solidFill>
                      <a:srgbClr val="FFFFFF"/>
                    </a:solidFill>
                  </a:tcPr>
                </a:tc>
                <a:tc>
                  <a:txBody>
                    <a:bodyPr/>
                    <a:lstStyle/>
                    <a:p>
                      <a:pPr algn="l"/>
                      <a:r>
                        <a:rPr sz="1000" b="0">
                          <a:solidFill>
                            <a:srgbClr val="222222"/>
                          </a:solidFill>
                        </a:rPr>
                        <a:t>3.2</a:t>
                      </a:r>
                    </a:p>
                  </a:txBody>
                  <a:tcPr marL="54864" marR="54864" marT="18288" marB="18288" anchor="ctr">
                    <a:solidFill>
                      <a:srgbClr val="FFFFFF"/>
                    </a:solidFill>
                  </a:tcPr>
                </a:tc>
                <a:tc>
                  <a:txBody>
                    <a:bodyPr/>
                    <a:lstStyle/>
                    <a:p>
                      <a:pPr algn="l"/>
                      <a:r>
                        <a:rPr sz="1000" b="1">
                          <a:solidFill>
                            <a:srgbClr val="2E6B3F"/>
                          </a:solidFill>
                        </a:rPr>
                        <a:t>ADOPTÉ, 17 items vs 4</a:t>
                      </a:r>
                    </a:p>
                  </a:txBody>
                  <a:tcPr marL="54864" marR="54864" marT="18288" marB="18288" anchor="ctr">
                    <a:solidFill>
                      <a:srgbClr val="FFFFFF"/>
                    </a:solidFill>
                  </a:tcPr>
                </a:tc>
                <a:extLst>
                  <a:ext uri="{0D108BD9-81ED-4DB2-BD59-A6C34878D82A}">
                    <a16:rowId xmlns:a16="http://schemas.microsoft.com/office/drawing/2014/main" val="10003"/>
                  </a:ext>
                </a:extLst>
              </a:tr>
              <a:tr h="274320">
                <a:tc>
                  <a:txBody>
                    <a:bodyPr/>
                    <a:lstStyle/>
                    <a:p>
                      <a:pPr algn="l"/>
                      <a:r>
                        <a:rPr sz="1000" b="0">
                          <a:solidFill>
                            <a:srgbClr val="222222"/>
                          </a:solidFill>
                        </a:rPr>
                        <a:t>Flash Attention</a:t>
                      </a:r>
                    </a:p>
                  </a:txBody>
                  <a:tcPr marL="54864" marR="54864" marT="18288" marB="18288" anchor="ctr">
                    <a:solidFill>
                      <a:srgbClr val="F4F6F9"/>
                    </a:solidFill>
                  </a:tcPr>
                </a:tc>
                <a:tc>
                  <a:txBody>
                    <a:bodyPr/>
                    <a:lstStyle/>
                    <a:p>
                      <a:pPr algn="l"/>
                      <a:r>
                        <a:rPr sz="1000" b="0">
                          <a:solidFill>
                            <a:srgbClr val="222222"/>
                          </a:solidFill>
                        </a:rPr>
                        <a:t>3.3</a:t>
                      </a:r>
                    </a:p>
                  </a:txBody>
                  <a:tcPr marL="54864" marR="54864" marT="18288" marB="18288" anchor="ctr">
                    <a:solidFill>
                      <a:srgbClr val="F4F6F9"/>
                    </a:solidFill>
                  </a:tcPr>
                </a:tc>
                <a:tc>
                  <a:txBody>
                    <a:bodyPr/>
                    <a:lstStyle/>
                    <a:p>
                      <a:pPr algn="l"/>
                      <a:r>
                        <a:rPr sz="1000" b="1">
                          <a:solidFill>
                            <a:srgbClr val="2E6B3F"/>
                          </a:solidFill>
                        </a:rPr>
                        <a:t>ADOPTÉ, environ -25 %, moins de RAM</a:t>
                      </a:r>
                    </a:p>
                  </a:txBody>
                  <a:tcPr marL="54864" marR="54864" marT="18288" marB="18288" anchor="ctr">
                    <a:solidFill>
                      <a:srgbClr val="F4F6F9"/>
                    </a:solidFill>
                  </a:tcPr>
                </a:tc>
                <a:extLst>
                  <a:ext uri="{0D108BD9-81ED-4DB2-BD59-A6C34878D82A}">
                    <a16:rowId xmlns:a16="http://schemas.microsoft.com/office/drawing/2014/main" val="10004"/>
                  </a:ext>
                </a:extLst>
              </a:tr>
              <a:tr h="274320">
                <a:tc>
                  <a:txBody>
                    <a:bodyPr/>
                    <a:lstStyle/>
                    <a:p>
                      <a:pPr algn="l"/>
                      <a:r>
                        <a:rPr sz="1000" b="0">
                          <a:solidFill>
                            <a:srgbClr val="222222"/>
                          </a:solidFill>
                        </a:rPr>
                        <a:t>Cache KV quantifié (q8_0)</a:t>
                      </a:r>
                    </a:p>
                  </a:txBody>
                  <a:tcPr marL="54864" marR="54864" marT="18288" marB="18288" anchor="ctr">
                    <a:solidFill>
                      <a:srgbClr val="FFFFFF"/>
                    </a:solidFill>
                  </a:tcPr>
                </a:tc>
                <a:tc>
                  <a:txBody>
                    <a:bodyPr/>
                    <a:lstStyle/>
                    <a:p>
                      <a:pPr algn="l"/>
                      <a:r>
                        <a:rPr sz="1000" b="0">
                          <a:solidFill>
                            <a:srgbClr val="222222"/>
                          </a:solidFill>
                        </a:rPr>
                        <a:t>3.4</a:t>
                      </a:r>
                    </a:p>
                  </a:txBody>
                  <a:tcPr marL="54864" marR="54864" marT="18288" marB="18288" anchor="ctr">
                    <a:solidFill>
                      <a:srgbClr val="FFFFFF"/>
                    </a:solidFill>
                  </a:tcPr>
                </a:tc>
                <a:tc>
                  <a:txBody>
                    <a:bodyPr/>
                    <a:lstStyle/>
                    <a:p>
                      <a:pPr algn="l"/>
                      <a:r>
                        <a:rPr sz="1000" b="1">
                          <a:solidFill>
                            <a:srgbClr val="2E6B3F"/>
                          </a:solidFill>
                        </a:rPr>
                        <a:t>ADOPTÉ, bande passante CPU</a:t>
                      </a:r>
                    </a:p>
                  </a:txBody>
                  <a:tcPr marL="54864" marR="54864" marT="18288" marB="18288" anchor="ctr">
                    <a:solidFill>
                      <a:srgbClr val="FFFFFF"/>
                    </a:solidFill>
                  </a:tcPr>
                </a:tc>
                <a:extLst>
                  <a:ext uri="{0D108BD9-81ED-4DB2-BD59-A6C34878D82A}">
                    <a16:rowId xmlns:a16="http://schemas.microsoft.com/office/drawing/2014/main" val="10005"/>
                  </a:ext>
                </a:extLst>
              </a:tr>
              <a:tr h="274320">
                <a:tc>
                  <a:txBody>
                    <a:bodyPr/>
                    <a:lstStyle/>
                    <a:p>
                      <a:pPr algn="l"/>
                      <a:r>
                        <a:rPr sz="1000" b="0">
                          <a:solidFill>
                            <a:srgbClr val="222222"/>
                          </a:solidFill>
                        </a:rPr>
                        <a:t>Prompt document-first (cache KV)</a:t>
                      </a:r>
                    </a:p>
                  </a:txBody>
                  <a:tcPr marL="54864" marR="54864" marT="18288" marB="18288" anchor="ctr">
                    <a:solidFill>
                      <a:srgbClr val="F4F6F9"/>
                    </a:solidFill>
                  </a:tcPr>
                </a:tc>
                <a:tc>
                  <a:txBody>
                    <a:bodyPr/>
                    <a:lstStyle/>
                    <a:p>
                      <a:pPr algn="l"/>
                      <a:r>
                        <a:rPr sz="1000" b="0">
                          <a:solidFill>
                            <a:srgbClr val="222222"/>
                          </a:solidFill>
                        </a:rPr>
                        <a:t>3.5</a:t>
                      </a:r>
                    </a:p>
                  </a:txBody>
                  <a:tcPr marL="54864" marR="54864" marT="18288" marB="18288" anchor="ctr">
                    <a:solidFill>
                      <a:srgbClr val="F4F6F9"/>
                    </a:solidFill>
                  </a:tcPr>
                </a:tc>
                <a:tc>
                  <a:txBody>
                    <a:bodyPr/>
                    <a:lstStyle/>
                    <a:p>
                      <a:pPr algn="l"/>
                      <a:r>
                        <a:rPr sz="1000" b="1">
                          <a:solidFill>
                            <a:srgbClr val="2E6B3F"/>
                          </a:solidFill>
                        </a:rPr>
                        <a:t>ADOPTÉ, prefill 6 fois moindre au 2e appel</a:t>
                      </a:r>
                    </a:p>
                  </a:txBody>
                  <a:tcPr marL="54864" marR="54864" marT="18288" marB="18288" anchor="ctr">
                    <a:solidFill>
                      <a:srgbClr val="F4F6F9"/>
                    </a:solidFill>
                  </a:tcPr>
                </a:tc>
                <a:extLst>
                  <a:ext uri="{0D108BD9-81ED-4DB2-BD59-A6C34878D82A}">
                    <a16:rowId xmlns:a16="http://schemas.microsoft.com/office/drawing/2014/main" val="10006"/>
                  </a:ext>
                </a:extLst>
              </a:tr>
              <a:tr h="274320">
                <a:tc>
                  <a:txBody>
                    <a:bodyPr/>
                    <a:lstStyle/>
                    <a:p>
                      <a:pPr algn="l"/>
                      <a:r>
                        <a:rPr sz="1000" b="0">
                          <a:solidFill>
                            <a:srgbClr val="222222"/>
                          </a:solidFill>
                        </a:rPr>
                        <a:t>Backend ik_llama.cpp</a:t>
                      </a:r>
                    </a:p>
                  </a:txBody>
                  <a:tcPr marL="54864" marR="54864" marT="18288" marB="18288" anchor="ctr">
                    <a:solidFill>
                      <a:srgbClr val="FFFFFF"/>
                    </a:solidFill>
                  </a:tcPr>
                </a:tc>
                <a:tc>
                  <a:txBody>
                    <a:bodyPr/>
                    <a:lstStyle/>
                    <a:p>
                      <a:pPr algn="l"/>
                      <a:r>
                        <a:rPr sz="1000" b="0">
                          <a:solidFill>
                            <a:srgbClr val="222222"/>
                          </a:solidFill>
                        </a:rPr>
                        <a:t>3.6</a:t>
                      </a:r>
                    </a:p>
                  </a:txBody>
                  <a:tcPr marL="54864" marR="54864" marT="18288" marB="18288" anchor="ctr">
                    <a:solidFill>
                      <a:srgbClr val="FFFFFF"/>
                    </a:solidFill>
                  </a:tcPr>
                </a:tc>
                <a:tc>
                  <a:txBody>
                    <a:bodyPr/>
                    <a:lstStyle/>
                    <a:p>
                      <a:pPr algn="l"/>
                      <a:r>
                        <a:rPr sz="1000" b="0">
                          <a:solidFill>
                            <a:srgbClr val="222222"/>
                          </a:solidFill>
                        </a:rPr>
                        <a:t>PROMETTEUR, plus rapide, -1,4 Go</a:t>
                      </a:r>
                    </a:p>
                  </a:txBody>
                  <a:tcPr marL="54864" marR="54864" marT="18288" marB="18288" anchor="ctr">
                    <a:solidFill>
                      <a:srgbClr val="FFFFFF"/>
                    </a:solidFill>
                  </a:tcPr>
                </a:tc>
                <a:extLst>
                  <a:ext uri="{0D108BD9-81ED-4DB2-BD59-A6C34878D82A}">
                    <a16:rowId xmlns:a16="http://schemas.microsoft.com/office/drawing/2014/main" val="10007"/>
                  </a:ext>
                </a:extLst>
              </a:tr>
              <a:tr h="274320">
                <a:tc>
                  <a:txBody>
                    <a:bodyPr/>
                    <a:lstStyle/>
                    <a:p>
                      <a:pPr algn="l"/>
                      <a:r>
                        <a:rPr sz="1000" b="0">
                          <a:solidFill>
                            <a:srgbClr val="222222"/>
                          </a:solidFill>
                        </a:rPr>
                        <a:t>Speculative decoding</a:t>
                      </a:r>
                    </a:p>
                  </a:txBody>
                  <a:tcPr marL="54864" marR="54864" marT="18288" marB="18288" anchor="ctr">
                    <a:solidFill>
                      <a:srgbClr val="F4F6F9"/>
                    </a:solidFill>
                  </a:tcPr>
                </a:tc>
                <a:tc>
                  <a:txBody>
                    <a:bodyPr/>
                    <a:lstStyle/>
                    <a:p>
                      <a:pPr algn="l"/>
                      <a:r>
                        <a:rPr sz="1000" b="0">
                          <a:solidFill>
                            <a:srgbClr val="222222"/>
                          </a:solidFill>
                        </a:rPr>
                        <a:t>3.7</a:t>
                      </a:r>
                    </a:p>
                  </a:txBody>
                  <a:tcPr marL="54864" marR="54864" marT="18288" marB="18288" anchor="ctr">
                    <a:solidFill>
                      <a:srgbClr val="F4F6F9"/>
                    </a:solidFill>
                  </a:tcPr>
                </a:tc>
                <a:tc>
                  <a:txBody>
                    <a:bodyPr/>
                    <a:lstStyle/>
                    <a:p>
                      <a:pPr algn="l"/>
                      <a:r>
                        <a:rPr sz="1000" b="1">
                          <a:solidFill>
                            <a:srgbClr val="9E2B25"/>
                          </a:solidFill>
                        </a:rPr>
                        <a:t>REJETÉ sur CPU, ralentit</a:t>
                      </a:r>
                    </a:p>
                  </a:txBody>
                  <a:tcPr marL="54864" marR="54864" marT="18288" marB="18288" anchor="ctr">
                    <a:solidFill>
                      <a:srgbClr val="F4F6F9"/>
                    </a:solidFill>
                  </a:tcPr>
                </a:tc>
                <a:extLst>
                  <a:ext uri="{0D108BD9-81ED-4DB2-BD59-A6C34878D82A}">
                    <a16:rowId xmlns:a16="http://schemas.microsoft.com/office/drawing/2014/main" val="10008"/>
                  </a:ext>
                </a:extLst>
              </a:tr>
              <a:tr h="274320">
                <a:tc>
                  <a:txBody>
                    <a:bodyPr/>
                    <a:lstStyle/>
                    <a:p>
                      <a:pPr algn="l"/>
                      <a:r>
                        <a:rPr sz="1000" b="0">
                          <a:solidFill>
                            <a:srgbClr val="222222"/>
                          </a:solidFill>
                        </a:rPr>
                        <a:t>Prompt Lookup Decoding</a:t>
                      </a:r>
                    </a:p>
                  </a:txBody>
                  <a:tcPr marL="54864" marR="54864" marT="18288" marB="18288" anchor="ctr">
                    <a:solidFill>
                      <a:srgbClr val="FFFFFF"/>
                    </a:solidFill>
                  </a:tcPr>
                </a:tc>
                <a:tc>
                  <a:txBody>
                    <a:bodyPr/>
                    <a:lstStyle/>
                    <a:p>
                      <a:pPr algn="l"/>
                      <a:r>
                        <a:rPr sz="1000" b="0">
                          <a:solidFill>
                            <a:srgbClr val="222222"/>
                          </a:solidFill>
                        </a:rPr>
                        <a:t>3.8</a:t>
                      </a:r>
                    </a:p>
                  </a:txBody>
                  <a:tcPr marL="54864" marR="54864" marT="18288" marB="18288" anchor="ctr">
                    <a:solidFill>
                      <a:srgbClr val="FFFFFF"/>
                    </a:solidFill>
                  </a:tcPr>
                </a:tc>
                <a:tc>
                  <a:txBody>
                    <a:bodyPr/>
                    <a:lstStyle/>
                    <a:p>
                      <a:pPr algn="l"/>
                      <a:r>
                        <a:rPr sz="1000" b="1">
                          <a:solidFill>
                            <a:srgbClr val="9E2B25"/>
                          </a:solidFill>
                        </a:rPr>
                        <a:t>REJETÉ, aucun gain</a:t>
                      </a:r>
                    </a:p>
                  </a:txBody>
                  <a:tcPr marL="54864" marR="54864" marT="18288" marB="18288" anchor="ctr">
                    <a:solidFill>
                      <a:srgbClr val="FFFFFF"/>
                    </a:solidFill>
                  </a:tcPr>
                </a:tc>
                <a:extLst>
                  <a:ext uri="{0D108BD9-81ED-4DB2-BD59-A6C34878D82A}">
                    <a16:rowId xmlns:a16="http://schemas.microsoft.com/office/drawing/2014/main" val="10009"/>
                  </a:ext>
                </a:extLst>
              </a:tr>
              <a:tr h="274320">
                <a:tc>
                  <a:txBody>
                    <a:bodyPr/>
                    <a:lstStyle/>
                    <a:p>
                      <a:pPr algn="l"/>
                      <a:r>
                        <a:rPr sz="1000" b="0">
                          <a:solidFill>
                            <a:srgbClr val="222222"/>
                          </a:solidFill>
                        </a:rPr>
                        <a:t>Compression LLMLingua</a:t>
                      </a:r>
                    </a:p>
                  </a:txBody>
                  <a:tcPr marL="54864" marR="54864" marT="18288" marB="18288" anchor="ctr">
                    <a:solidFill>
                      <a:srgbClr val="F4F6F9"/>
                    </a:solidFill>
                  </a:tcPr>
                </a:tc>
                <a:tc>
                  <a:txBody>
                    <a:bodyPr/>
                    <a:lstStyle/>
                    <a:p>
                      <a:pPr algn="l"/>
                      <a:r>
                        <a:rPr sz="1000" b="0">
                          <a:solidFill>
                            <a:srgbClr val="222222"/>
                          </a:solidFill>
                        </a:rPr>
                        <a:t>3.8</a:t>
                      </a:r>
                    </a:p>
                  </a:txBody>
                  <a:tcPr marL="54864" marR="54864" marT="18288" marB="18288" anchor="ctr">
                    <a:solidFill>
                      <a:srgbClr val="F4F6F9"/>
                    </a:solidFill>
                  </a:tcPr>
                </a:tc>
                <a:tc>
                  <a:txBody>
                    <a:bodyPr/>
                    <a:lstStyle/>
                    <a:p>
                      <a:pPr algn="l"/>
                      <a:r>
                        <a:rPr sz="1000" b="0">
                          <a:solidFill>
                            <a:srgbClr val="222222"/>
                          </a:solidFill>
                        </a:rPr>
                        <a:t>ÉCARTÉ, risque qualité</a:t>
                      </a:r>
                    </a:p>
                  </a:txBody>
                  <a:tcPr marL="54864" marR="54864" marT="18288" marB="18288" anchor="ctr">
                    <a:solidFill>
                      <a:srgbClr val="F4F6F9"/>
                    </a:solidFill>
                  </a:tcPr>
                </a:tc>
                <a:extLst>
                  <a:ext uri="{0D108BD9-81ED-4DB2-BD59-A6C34878D82A}">
                    <a16:rowId xmlns:a16="http://schemas.microsoft.com/office/drawing/2014/main" val="10010"/>
                  </a:ext>
                </a:extLst>
              </a:tr>
              <a:tr h="274320">
                <a:tc>
                  <a:txBody>
                    <a:bodyPr/>
                    <a:lstStyle/>
                    <a:p>
                      <a:pPr algn="l"/>
                      <a:r>
                        <a:rPr sz="1000" b="0">
                          <a:solidFill>
                            <a:srgbClr val="222222"/>
                          </a:solidFill>
                        </a:rPr>
                        <a:t>Parallélisme / OpenVINO</a:t>
                      </a:r>
                    </a:p>
                  </a:txBody>
                  <a:tcPr marL="54864" marR="54864" marT="18288" marB="18288" anchor="ctr">
                    <a:solidFill>
                      <a:srgbClr val="FFFFFF"/>
                    </a:solidFill>
                  </a:tcPr>
                </a:tc>
                <a:tc>
                  <a:txBody>
                    <a:bodyPr/>
                    <a:lstStyle/>
                    <a:p>
                      <a:pPr algn="l"/>
                      <a:r>
                        <a:rPr sz="1000" b="0">
                          <a:solidFill>
                            <a:srgbClr val="222222"/>
                          </a:solidFill>
                        </a:rPr>
                        <a:t>3.8</a:t>
                      </a:r>
                    </a:p>
                  </a:txBody>
                  <a:tcPr marL="54864" marR="54864" marT="18288" marB="18288" anchor="ctr">
                    <a:solidFill>
                      <a:srgbClr val="FFFFFF"/>
                    </a:solidFill>
                  </a:tcPr>
                </a:tc>
                <a:tc>
                  <a:txBody>
                    <a:bodyPr/>
                    <a:lstStyle/>
                    <a:p>
                      <a:pPr algn="l"/>
                      <a:r>
                        <a:rPr sz="1000" b="1">
                          <a:solidFill>
                            <a:srgbClr val="9E2B25"/>
                          </a:solidFill>
                        </a:rPr>
                        <a:t>REJETÉ / NON CONCLU</a:t>
                      </a:r>
                    </a:p>
                  </a:txBody>
                  <a:tcPr marL="54864" marR="54864" marT="18288" marB="18288" anchor="ctr">
                    <a:solidFill>
                      <a:srgbClr val="FFFFFF"/>
                    </a:solidFill>
                  </a:tcPr>
                </a:tc>
                <a:extLst>
                  <a:ext uri="{0D108BD9-81ED-4DB2-BD59-A6C34878D82A}">
                    <a16:rowId xmlns:a16="http://schemas.microsoft.com/office/drawing/2014/main" val="10011"/>
                  </a:ext>
                </a:extLst>
              </a:tr>
              <a:tr h="274320">
                <a:tc>
                  <a:txBody>
                    <a:bodyPr/>
                    <a:lstStyle/>
                    <a:p>
                      <a:pPr algn="l"/>
                      <a:r>
                        <a:rPr sz="1000" b="0">
                          <a:solidFill>
                            <a:srgbClr val="222222"/>
                          </a:solidFill>
                        </a:rPr>
                        <a:t>Architecture agentique + routage hybride</a:t>
                      </a:r>
                    </a:p>
                  </a:txBody>
                  <a:tcPr marL="54864" marR="54864" marT="18288" marB="18288" anchor="ctr">
                    <a:solidFill>
                      <a:srgbClr val="F4F6F9"/>
                    </a:solidFill>
                  </a:tcPr>
                </a:tc>
                <a:tc>
                  <a:txBody>
                    <a:bodyPr/>
                    <a:lstStyle/>
                    <a:p>
                      <a:pPr algn="l"/>
                      <a:r>
                        <a:rPr sz="1000" b="0">
                          <a:solidFill>
                            <a:srgbClr val="222222"/>
                          </a:solidFill>
                        </a:rPr>
                        <a:t>2.B</a:t>
                      </a:r>
                    </a:p>
                  </a:txBody>
                  <a:tcPr marL="54864" marR="54864" marT="18288" marB="18288" anchor="ctr">
                    <a:solidFill>
                      <a:srgbClr val="F4F6F9"/>
                    </a:solidFill>
                  </a:tcPr>
                </a:tc>
                <a:tc>
                  <a:txBody>
                    <a:bodyPr/>
                    <a:lstStyle/>
                    <a:p>
                      <a:pPr algn="l"/>
                      <a:r>
                        <a:rPr sz="1000" b="0">
                          <a:solidFill>
                            <a:srgbClr val="222222"/>
                          </a:solidFill>
                        </a:rPr>
                        <a:t>EN COURS, V8/V9</a:t>
                      </a:r>
                    </a:p>
                  </a:txBody>
                  <a:tcPr marL="54864" marR="54864" marT="18288" marB="18288" anchor="ctr">
                    <a:solidFill>
                      <a:srgbClr val="F4F6F9"/>
                    </a:solidFill>
                  </a:tcPr>
                </a:tc>
                <a:extLst>
                  <a:ext uri="{0D108BD9-81ED-4DB2-BD59-A6C34878D82A}">
                    <a16:rowId xmlns:a16="http://schemas.microsoft.com/office/drawing/2014/main" val="10012"/>
                  </a:ext>
                </a:extLst>
              </a:tr>
            </a:tbl>
          </a:graphicData>
        </a:graphic>
      </p:graphicFrame>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6868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wrap="square" lIns="365760" rtlCol="0" anchor="ctr"/>
          <a:lstStyle/>
          <a:p>
            <a:pPr algn="ctr"/>
            <a:r>
              <a:rPr sz="2200" b="1">
                <a:solidFill>
                  <a:srgbClr val="FFFFFF"/>
                </a:solidFill>
                <a:latin typeface="Georgia"/>
              </a:rPr>
              <a:t>4.2  Choix de modèle : ce que montrent les benchmarks</a:t>
            </a:r>
          </a:p>
        </p:txBody>
      </p:sp>
      <p:sp>
        <p:nvSpPr>
          <p:cNvPr id="3" name="TextBox 2"/>
          <p:cNvSpPr txBox="1"/>
          <p:nvPr/>
        </p:nvSpPr>
        <p:spPr>
          <a:xfrm>
            <a:off x="457200" y="1188720"/>
            <a:ext cx="11274552" cy="4114800"/>
          </a:xfrm>
          <a:prstGeom prst="rect">
            <a:avLst/>
          </a:prstGeom>
          <a:noFill/>
        </p:spPr>
        <p:txBody>
          <a:bodyPr wrap="square">
            <a:spAutoFit/>
          </a:bodyPr>
          <a:lstStyle/>
          <a:p>
            <a:pPr>
              <a:spcAft>
                <a:spcPts val="600"/>
              </a:spcAft>
            </a:pPr>
            <a:r>
              <a:rPr sz="1500">
                <a:solidFill>
                  <a:srgbClr val="2E4D6B"/>
                </a:solidFill>
              </a:rPr>
              <a:t>•  </a:t>
            </a:r>
            <a:r>
              <a:rPr sz="1500" b="1">
                <a:solidFill>
                  <a:srgbClr val="222222"/>
                </a:solidFill>
              </a:rPr>
              <a:t>Qwen2.5 3B : </a:t>
            </a:r>
            <a:r>
              <a:rPr sz="1500">
                <a:solidFill>
                  <a:srgbClr val="222222"/>
                </a:solidFill>
              </a:rPr>
              <a:t>le plus rapide des 3B et ose extraire, mais sur-extrait (fabrique des items quand il n'y en a pas). À encadrer par un juge.</a:t>
            </a:r>
          </a:p>
          <a:p>
            <a:pPr>
              <a:spcAft>
                <a:spcPts val="600"/>
              </a:spcAft>
            </a:pPr>
            <a:r>
              <a:rPr sz="1500">
                <a:solidFill>
                  <a:srgbClr val="2E4D6B"/>
                </a:solidFill>
              </a:rPr>
              <a:t>•  </a:t>
            </a:r>
            <a:r>
              <a:rPr sz="1500" b="1">
                <a:solidFill>
                  <a:srgbClr val="222222"/>
                </a:solidFill>
              </a:rPr>
              <a:t>Ministral 3B : </a:t>
            </a:r>
            <a:r>
              <a:rPr sz="1500">
                <a:solidFill>
                  <a:srgbClr val="222222"/>
                </a:solidFill>
              </a:rPr>
              <a:t>modèle français de référence, fiable et sobre (retenue = atout anti-hallucination), plus faible sur le cadrage global.</a:t>
            </a:r>
          </a:p>
          <a:p>
            <a:pPr>
              <a:spcAft>
                <a:spcPts val="600"/>
              </a:spcAft>
            </a:pPr>
            <a:r>
              <a:rPr sz="1500">
                <a:solidFill>
                  <a:srgbClr val="2E4D6B"/>
                </a:solidFill>
              </a:rPr>
              <a:t>•  </a:t>
            </a:r>
            <a:r>
              <a:rPr sz="1500" b="1">
                <a:solidFill>
                  <a:srgbClr val="222222"/>
                </a:solidFill>
              </a:rPr>
              <a:t>Qwen 7B : </a:t>
            </a:r>
            <a:r>
              <a:rPr sz="1500">
                <a:solidFill>
                  <a:srgbClr val="222222"/>
                </a:solidFill>
              </a:rPr>
              <a:t>meilleur cadrage et fluidité, mais environ 2 fois plus lent ET perd du détail concret. Réservé au Context Builder.</a:t>
            </a:r>
          </a:p>
          <a:p>
            <a:pPr>
              <a:spcAft>
                <a:spcPts val="600"/>
              </a:spcAft>
            </a:pPr>
            <a:r>
              <a:rPr sz="1500">
                <a:solidFill>
                  <a:srgbClr val="2E4D6B"/>
                </a:solidFill>
              </a:rPr>
              <a:t>•  </a:t>
            </a:r>
            <a:r>
              <a:rPr sz="1500" b="1">
                <a:solidFill>
                  <a:srgbClr val="222222"/>
                </a:solidFill>
              </a:rPr>
              <a:t>Modèles &lt; 1,5B (LFM2.5, SmolLM) : </a:t>
            </a:r>
            <a:r>
              <a:rPr sz="1500">
                <a:solidFill>
                  <a:srgbClr val="222222"/>
                </a:solidFill>
              </a:rPr>
              <a:t>très rapides mais comptes rendus trop courts et pauvres.</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6868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wrap="square" lIns="365760" rtlCol="0" anchor="ctr"/>
          <a:lstStyle/>
          <a:p>
            <a:pPr algn="ctr"/>
            <a:r>
              <a:rPr sz="2200" b="1">
                <a:solidFill>
                  <a:srgbClr val="FFFFFF"/>
                </a:solidFill>
                <a:latin typeface="Georgia"/>
              </a:rPr>
              <a:t>4.3  État actuel et pistes</a:t>
            </a:r>
          </a:p>
        </p:txBody>
      </p:sp>
      <p:sp>
        <p:nvSpPr>
          <p:cNvPr id="3" name="Rectangle 2"/>
          <p:cNvSpPr/>
          <p:nvPr/>
        </p:nvSpPr>
        <p:spPr>
          <a:xfrm>
            <a:off x="457200" y="1188720"/>
            <a:ext cx="11274552" cy="1371600"/>
          </a:xfrm>
          <a:prstGeom prst="rect">
            <a:avLst/>
          </a:prstGeom>
          <a:solidFill>
            <a:srgbClr val="EAF1EC"/>
          </a:solidFill>
          <a:ln w="9525">
            <a:solidFill>
              <a:srgbClr val="2E6B3F"/>
            </a:solidFill>
          </a:ln>
          <a:effectLst/>
        </p:spPr>
        <p:style>
          <a:lnRef idx="1">
            <a:schemeClr val="accent1"/>
          </a:lnRef>
          <a:fillRef idx="3">
            <a:schemeClr val="accent1"/>
          </a:fillRef>
          <a:effectRef idx="2">
            <a:schemeClr val="accent1"/>
          </a:effectRef>
          <a:fontRef idx="minor">
            <a:schemeClr val="lt1"/>
          </a:fontRef>
        </p:style>
        <p:txBody>
          <a:bodyPr wrap="square" lIns="137160" tIns="73152" rIns="137160" bIns="73152" rtlCol="0" anchor="ctr"/>
          <a:lstStyle/>
          <a:p>
            <a:pPr algn="ctr"/>
            <a:r>
              <a:rPr sz="1300" b="1">
                <a:solidFill>
                  <a:srgbClr val="2E6B3F"/>
                </a:solidFill>
              </a:rPr>
              <a:t>Production  </a:t>
            </a:r>
            <a:r>
              <a:rPr sz="1300">
                <a:solidFill>
                  <a:srgbClr val="222222"/>
                </a:solidFill>
              </a:rPr>
              <a:t>Boundary + extraction JSON + assemblage déterministe, Ministral 3B Q4_K_M, Flash Attention ON, cache KV q8_0, plan perchunk, document-first, séquentiel. Environ 25 min sur 1 h de réunion, moins de 5 Go de RAM, 100 % local.</a:t>
            </a:r>
          </a:p>
        </p:txBody>
      </p:sp>
      <p:sp>
        <p:nvSpPr>
          <p:cNvPr id="4" name="Rectangle 3"/>
          <p:cNvSpPr/>
          <p:nvPr/>
        </p:nvSpPr>
        <p:spPr>
          <a:xfrm>
            <a:off x="457200" y="2743200"/>
            <a:ext cx="11274552" cy="1280160"/>
          </a:xfrm>
          <a:prstGeom prst="rect">
            <a:avLst/>
          </a:prstGeom>
          <a:solidFill>
            <a:srgbClr val="EEF2F6"/>
          </a:solidFill>
          <a:ln w="9525">
            <a:solidFill>
              <a:srgbClr val="1F3A5F"/>
            </a:solidFill>
          </a:ln>
          <a:effectLst/>
        </p:spPr>
        <p:style>
          <a:lnRef idx="1">
            <a:schemeClr val="accent1"/>
          </a:lnRef>
          <a:fillRef idx="3">
            <a:schemeClr val="accent1"/>
          </a:fillRef>
          <a:effectRef idx="2">
            <a:schemeClr val="accent1"/>
          </a:effectRef>
          <a:fontRef idx="minor">
            <a:schemeClr val="lt1"/>
          </a:fontRef>
        </p:style>
        <p:txBody>
          <a:bodyPr wrap="square" lIns="137160" tIns="73152" rIns="137160" bIns="73152" rtlCol="0" anchor="ctr"/>
          <a:lstStyle/>
          <a:p>
            <a:pPr algn="ctr"/>
            <a:r>
              <a:rPr sz="1300" b="1">
                <a:solidFill>
                  <a:srgbClr val="1F3A5F"/>
                </a:solidFill>
              </a:rPr>
              <a:t>En cours  </a:t>
            </a:r>
            <a:r>
              <a:rPr sz="1300">
                <a:solidFill>
                  <a:srgbClr val="222222"/>
                </a:solidFill>
              </a:rPr>
              <a:t>Refonte agentique (V8/V9) pour adapter la structure au type de réunion ; routage hybride (7B cadrage, 3B reste) ; garde-fous de robustesse (timeout, retry, fallback, cap sur le nombre de tableaux).</a:t>
            </a:r>
          </a:p>
        </p:txBody>
      </p:sp>
      <p:sp>
        <p:nvSpPr>
          <p:cNvPr id="5" name="Rectangle 4"/>
          <p:cNvSpPr/>
          <p:nvPr/>
        </p:nvSpPr>
        <p:spPr>
          <a:xfrm>
            <a:off x="457200" y="4206240"/>
            <a:ext cx="11274552" cy="1371600"/>
          </a:xfrm>
          <a:prstGeom prst="rect">
            <a:avLst/>
          </a:prstGeom>
          <a:solidFill>
            <a:srgbClr val="FBF4EA"/>
          </a:solidFill>
          <a:ln w="9525">
            <a:solidFill>
              <a:srgbClr val="8A6D00"/>
            </a:solidFill>
          </a:ln>
          <a:effectLst/>
        </p:spPr>
        <p:style>
          <a:lnRef idx="1">
            <a:schemeClr val="accent1"/>
          </a:lnRef>
          <a:fillRef idx="3">
            <a:schemeClr val="accent1"/>
          </a:fillRef>
          <a:effectRef idx="2">
            <a:schemeClr val="accent1"/>
          </a:effectRef>
          <a:fontRef idx="minor">
            <a:schemeClr val="lt1"/>
          </a:fontRef>
        </p:style>
        <p:txBody>
          <a:bodyPr wrap="square" lIns="137160" tIns="73152" rIns="137160" bIns="73152" rtlCol="0" anchor="ctr"/>
          <a:lstStyle/>
          <a:p>
            <a:pPr algn="ctr"/>
            <a:r>
              <a:rPr sz="1300" b="1">
                <a:solidFill>
                  <a:srgbClr val="8A6D00"/>
                </a:solidFill>
              </a:rPr>
              <a:t>Pistes  </a:t>
            </a:r>
            <a:r>
              <a:rPr sz="1300">
                <a:solidFill>
                  <a:srgbClr val="222222"/>
                </a:solidFill>
              </a:rPr>
              <a:t>Backend ik_llama (RAM) ; amélioration ASR et diarisation en amont (cause racine de plusieurs erreurs de noms) ; si la contrainte 100 % local était levée, variante cloud map-reduce (extraction locale + synthèse cloud) plus rapide et de meilleure qualité.</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6868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wrap="square" lIns="365760" rtlCol="0" anchor="ctr"/>
          <a:lstStyle/>
          <a:p>
            <a:pPr algn="ctr"/>
            <a:r>
              <a:rPr sz="2200" b="1">
                <a:solidFill>
                  <a:srgbClr val="FFFFFF"/>
                </a:solidFill>
                <a:latin typeface="Georgia"/>
              </a:rPr>
              <a:t>Sources académiques (vérifiées)</a:t>
            </a:r>
          </a:p>
        </p:txBody>
      </p:sp>
      <p:sp>
        <p:nvSpPr>
          <p:cNvPr id="3" name="TextBox 2"/>
          <p:cNvSpPr txBox="1"/>
          <p:nvPr/>
        </p:nvSpPr>
        <p:spPr>
          <a:xfrm>
            <a:off x="457200" y="1097280"/>
            <a:ext cx="11274552" cy="1451679"/>
          </a:xfrm>
          <a:prstGeom prst="rect">
            <a:avLst/>
          </a:prstGeom>
          <a:noFill/>
        </p:spPr>
        <p:txBody>
          <a:bodyPr wrap="square">
            <a:spAutoFit/>
          </a:bodyPr>
          <a:lstStyle/>
          <a:p>
            <a:pPr>
              <a:spcAft>
                <a:spcPts val="700"/>
              </a:spcAft>
            </a:pPr>
            <a:r>
              <a:rPr sz="1300" dirty="0">
                <a:solidFill>
                  <a:srgbClr val="2E4D6B"/>
                </a:solidFill>
              </a:rPr>
              <a:t>•  </a:t>
            </a:r>
            <a:r>
              <a:rPr sz="1300" u="sng" dirty="0" err="1">
                <a:solidFill>
                  <a:srgbClr val="1F3A5F"/>
                </a:solidFill>
                <a:hlinkClick r:id="rId2"/>
              </a:rPr>
              <a:t>FlashAttention</a:t>
            </a:r>
            <a:r>
              <a:rPr sz="1300" u="sng" dirty="0">
                <a:solidFill>
                  <a:srgbClr val="1F3A5F"/>
                </a:solidFill>
                <a:hlinkClick r:id="rId2"/>
              </a:rPr>
              <a:t>, Dao et al., </a:t>
            </a:r>
            <a:r>
              <a:rPr sz="1300" u="sng" dirty="0" err="1">
                <a:solidFill>
                  <a:srgbClr val="1F3A5F"/>
                </a:solidFill>
                <a:hlinkClick r:id="rId2"/>
              </a:rPr>
              <a:t>NeurIPS</a:t>
            </a:r>
            <a:r>
              <a:rPr sz="1300" u="sng" dirty="0">
                <a:solidFill>
                  <a:srgbClr val="1F3A5F"/>
                </a:solidFill>
                <a:hlinkClick r:id="rId2"/>
              </a:rPr>
              <a:t> 2022</a:t>
            </a:r>
          </a:p>
          <a:p>
            <a:pPr>
              <a:spcAft>
                <a:spcPts val="700"/>
              </a:spcAft>
            </a:pPr>
            <a:r>
              <a:rPr sz="1300" dirty="0">
                <a:solidFill>
                  <a:srgbClr val="2E4D6B"/>
                </a:solidFill>
              </a:rPr>
              <a:t>•  </a:t>
            </a:r>
            <a:r>
              <a:rPr sz="1300" u="sng" dirty="0" err="1">
                <a:solidFill>
                  <a:srgbClr val="1F3A5F"/>
                </a:solidFill>
                <a:hlinkClick r:id="rId3"/>
              </a:rPr>
              <a:t>KVQuant</a:t>
            </a:r>
            <a:r>
              <a:rPr sz="1300" u="sng" dirty="0">
                <a:solidFill>
                  <a:srgbClr val="1F3A5F"/>
                </a:solidFill>
                <a:hlinkClick r:id="rId3"/>
              </a:rPr>
              <a:t>, Hooper et al., </a:t>
            </a:r>
            <a:r>
              <a:rPr sz="1300" u="sng" dirty="0" err="1">
                <a:solidFill>
                  <a:srgbClr val="1F3A5F"/>
                </a:solidFill>
                <a:hlinkClick r:id="rId3"/>
              </a:rPr>
              <a:t>NeurIPS</a:t>
            </a:r>
            <a:r>
              <a:rPr sz="1300" u="sng" dirty="0">
                <a:solidFill>
                  <a:srgbClr val="1F3A5F"/>
                </a:solidFill>
                <a:hlinkClick r:id="rId3"/>
              </a:rPr>
              <a:t> 2024</a:t>
            </a:r>
          </a:p>
          <a:p>
            <a:pPr>
              <a:spcAft>
                <a:spcPts val="700"/>
              </a:spcAft>
            </a:pPr>
            <a:r>
              <a:rPr sz="1300" dirty="0">
                <a:solidFill>
                  <a:srgbClr val="2E4D6B"/>
                </a:solidFill>
              </a:rPr>
              <a:t>•  </a:t>
            </a:r>
            <a:r>
              <a:rPr sz="1300" u="sng" dirty="0">
                <a:solidFill>
                  <a:srgbClr val="1F3A5F"/>
                </a:solidFill>
                <a:hlinkClick r:id="rId4"/>
              </a:rPr>
              <a:t>Speculative Decoding, Leviathan et al., ICML 2023</a:t>
            </a:r>
          </a:p>
          <a:p>
            <a:pPr>
              <a:spcAft>
                <a:spcPts val="700"/>
              </a:spcAft>
            </a:pPr>
            <a:r>
              <a:rPr sz="1300" dirty="0">
                <a:solidFill>
                  <a:srgbClr val="2E4D6B"/>
                </a:solidFill>
              </a:rPr>
              <a:t>•  </a:t>
            </a:r>
            <a:r>
              <a:rPr sz="1300" u="sng" dirty="0">
                <a:solidFill>
                  <a:srgbClr val="1F3A5F"/>
                </a:solidFill>
                <a:hlinkClick r:id="rId5"/>
              </a:rPr>
              <a:t>Prompt Lookup Decoding, GitHub </a:t>
            </a:r>
            <a:r>
              <a:rPr sz="1300" u="sng" dirty="0" err="1">
                <a:solidFill>
                  <a:srgbClr val="1F3A5F"/>
                </a:solidFill>
                <a:hlinkClick r:id="rId5"/>
              </a:rPr>
              <a:t>apoorvumang</a:t>
            </a:r>
            <a:endParaRPr sz="1300" u="sng" dirty="0">
              <a:solidFill>
                <a:srgbClr val="1F3A5F"/>
              </a:solidFill>
              <a:hlinkClick r:id="rId5"/>
            </a:endParaRPr>
          </a:p>
          <a:p>
            <a:pPr>
              <a:spcAft>
                <a:spcPts val="700"/>
              </a:spcAft>
            </a:pPr>
            <a:r>
              <a:rPr sz="1300" dirty="0">
                <a:solidFill>
                  <a:srgbClr val="2E4D6B"/>
                </a:solidFill>
              </a:rPr>
              <a:t>•  </a:t>
            </a:r>
            <a:r>
              <a:rPr sz="1300" u="sng" dirty="0">
                <a:solidFill>
                  <a:srgbClr val="1F3A5F"/>
                </a:solidFill>
                <a:hlinkClick r:id="rId6"/>
              </a:rPr>
              <a:t>ik_llama.cpp, GitHub </a:t>
            </a:r>
            <a:r>
              <a:rPr sz="1300" u="sng" dirty="0" err="1">
                <a:solidFill>
                  <a:srgbClr val="1F3A5F"/>
                </a:solidFill>
                <a:hlinkClick r:id="rId6"/>
              </a:rPr>
              <a:t>ikawrakow</a:t>
            </a:r>
            <a:endParaRPr sz="1300" u="sng" dirty="0">
              <a:solidFill>
                <a:srgbClr val="1F3A5F"/>
              </a:solidFill>
              <a:hlinkClick r:id="rId6"/>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0</TotalTime>
  <Words>3640</Words>
  <Application>Microsoft Office PowerPoint</Application>
  <PresentationFormat>Grand écran</PresentationFormat>
  <Paragraphs>486</Paragraphs>
  <Slides>30</Slides>
  <Notes>0</Notes>
  <HiddenSlides>0</HiddenSlides>
  <MMClips>0</MMClips>
  <ScaleCrop>false</ScaleCrop>
  <HeadingPairs>
    <vt:vector size="6" baseType="variant">
      <vt:variant>
        <vt:lpstr>Polices utilisées</vt:lpstr>
      </vt:variant>
      <vt:variant>
        <vt:i4>3</vt:i4>
      </vt:variant>
      <vt:variant>
        <vt:lpstr>Thème</vt:lpstr>
      </vt:variant>
      <vt:variant>
        <vt:i4>1</vt:i4>
      </vt:variant>
      <vt:variant>
        <vt:lpstr>Titres des diapositives</vt:lpstr>
      </vt:variant>
      <vt:variant>
        <vt:i4>30</vt:i4>
      </vt:variant>
    </vt:vector>
  </HeadingPairs>
  <TitlesOfParts>
    <vt:vector size="34" baseType="lpstr">
      <vt:lpstr>Arial</vt:lpstr>
      <vt:lpstr>Calibri</vt:lpstr>
      <vt:lpstr>Georgia</vt:lpstr>
      <vt:lpstr>Office Theme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Melissa BELGUITAR</cp:lastModifiedBy>
  <cp:revision>1</cp:revision>
  <dcterms:created xsi:type="dcterms:W3CDTF">2013-01-27T09:14:16Z</dcterms:created>
  <dcterms:modified xsi:type="dcterms:W3CDTF">2026-06-30T09:08:33Z</dcterms:modified>
  <cp:category/>
</cp:coreProperties>
</file>
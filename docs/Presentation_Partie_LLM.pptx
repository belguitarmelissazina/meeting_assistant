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clanthology.org/J97-1003/" TargetMode="External"/><Relationship Id="rId3" Type="http://schemas.openxmlformats.org/officeDocument/2006/relationships/hyperlink" Target="https://link.springer.com/chapter/10.1007/978-3-642-37456-2_14"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1908.10084" TargetMode="External"/><Relationship Id="rId3" Type="http://schemas.openxmlformats.org/officeDocument/2006/relationships/hyperlink" Target="https://arxiv.org/abs/2002.10957"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205.14135"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401.18079"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311.04934"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ikawrakow/ik_llama.cpp"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211.17192"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poorvumang/prompt-lookup-decoding"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clanthology.org/2024.findings-acl.57/"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clanthology.org/J97-1003/" TargetMode="External"/><Relationship Id="rId3" Type="http://schemas.openxmlformats.org/officeDocument/2006/relationships/hyperlink" Target="https://link.springer.com/chapter/10.1007/978-3-642-37456-2_14" TargetMode="External"/><Relationship Id="rId4" Type="http://schemas.openxmlformats.org/officeDocument/2006/relationships/hyperlink" Target="https://arxiv.org/abs/1908.10084" TargetMode="External"/><Relationship Id="rId5" Type="http://schemas.openxmlformats.org/officeDocument/2006/relationships/hyperlink" Target="https://arxiv.org/abs/2002.10957" TargetMode="External"/><Relationship Id="rId6" Type="http://schemas.openxmlformats.org/officeDocument/2006/relationships/hyperlink" Target="https://arxiv.org/abs/2205.14135" TargetMode="External"/><Relationship Id="rId7" Type="http://schemas.openxmlformats.org/officeDocument/2006/relationships/hyperlink" Target="https://arxiv.org/abs/2401.18079" TargetMode="External"/><Relationship Id="rId8" Type="http://schemas.openxmlformats.org/officeDocument/2006/relationships/hyperlink" Target="https://arxiv.org/abs/2311.04934" TargetMode="External"/><Relationship Id="rId9" Type="http://schemas.openxmlformats.org/officeDocument/2006/relationships/hyperlink" Target="https://arxiv.org/abs/2211.17192" TargetMode="External"/><Relationship Id="rId10" Type="http://schemas.openxmlformats.org/officeDocument/2006/relationships/hyperlink" Target="https://github.com/apoorvumang/prompt-lookup-decoding" TargetMode="External"/><Relationship Id="rId11" Type="http://schemas.openxmlformats.org/officeDocument/2006/relationships/hyperlink" Target="https://aclanthology.org/2024.findings-acl.57/" TargetMode="External"/><Relationship Id="rId12" Type="http://schemas.openxmlformats.org/officeDocument/2006/relationships/hyperlink" Target="https://github.com/ikawrakow/ik_llama.cpp"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0"/>
            <a:ext cx="12191695" cy="2194560"/>
          </a:xfrm>
          <a:prstGeom prst="rect">
            <a:avLst/>
          </a:prstGeom>
          <a:solidFill>
            <a:srgbClr val="163A5C"/>
          </a:solidFill>
          <a:ln>
            <a:noFill/>
          </a:ln>
          <a:effectLst/>
        </p:spPr>
        <p:style>
          <a:lnRef idx="1">
            <a:schemeClr val="accent1"/>
          </a:lnRef>
          <a:fillRef idx="3">
            <a:schemeClr val="accent1"/>
          </a:fillRef>
          <a:effectRef idx="2">
            <a:schemeClr val="accent1"/>
          </a:effectRef>
          <a:fontRef idx="minor">
            <a:schemeClr val="lt1"/>
          </a:fontRef>
        </p:style>
        <p:txBody>
          <a:bodyPr rtlCol="0" anchor="ctr" lIns="822960" wrap="square"/>
          <a:lstStyle/>
          <a:p>
            <a:pPr algn="ctr"/>
            <a:r>
              <a:rPr sz="3400" b="1">
                <a:solidFill>
                  <a:srgbClr val="FFFFFF"/>
                </a:solidFill>
              </a:rPr>
              <a:t>Génération de comptes rendus de réunion par LLM local</a:t>
            </a:r>
          </a:p>
          <a:p>
            <a:pPr>
              <a:spcBef>
                <a:spcPts val="1000"/>
              </a:spcBef>
            </a:pPr>
            <a:r>
              <a:rPr sz="1600">
                <a:solidFill>
                  <a:srgbClr val="9DC3E6"/>
                </a:solidFill>
              </a:rPr>
              <a:t>Du découpage du transcript à l'architecture agentique : architectures, optimisations et benchmarks</a:t>
            </a:r>
          </a:p>
        </p:txBody>
      </p:sp>
      <p:sp>
        <p:nvSpPr>
          <p:cNvPr id="4" name="TextBox 3"/>
          <p:cNvSpPr txBox="1"/>
          <p:nvPr/>
        </p:nvSpPr>
        <p:spPr>
          <a:xfrm>
            <a:off x="822960" y="4846320"/>
            <a:ext cx="10058400" cy="731520"/>
          </a:xfrm>
          <a:prstGeom prst="rect">
            <a:avLst/>
          </a:prstGeom>
          <a:noFill/>
        </p:spPr>
        <p:txBody>
          <a:bodyPr wrap="square">
            <a:spAutoFit/>
          </a:bodyPr>
          <a:lstStyle/>
          <a:p>
            <a:r>
              <a:rPr sz="1300">
                <a:solidFill>
                  <a:srgbClr val="D6E4F0"/>
                </a:solidFill>
              </a:rPr>
              <a:t>Yele Consulting, rapport technique (partie LLM)   |   Expériences mars à juin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0. Contexte, objectif et méthode</a:t>
            </a:r>
          </a:p>
        </p:txBody>
      </p:sp>
      <p:sp>
        <p:nvSpPr>
          <p:cNvPr id="3" name="TextBox 2"/>
          <p:cNvSpPr txBox="1"/>
          <p:nvPr/>
        </p:nvSpPr>
        <p:spPr>
          <a:xfrm>
            <a:off x="457200" y="1051560"/>
            <a:ext cx="11274552" cy="548640"/>
          </a:xfrm>
          <a:prstGeom prst="rect">
            <a:avLst/>
          </a:prstGeom>
          <a:noFill/>
        </p:spPr>
        <p:txBody>
          <a:bodyPr wrap="square">
            <a:spAutoFit/>
          </a:bodyPr>
          <a:lstStyle/>
          <a:p>
            <a:r>
              <a:rPr sz="1300" i="0" b="0">
                <a:solidFill>
                  <a:srgbClr val="222222"/>
                </a:solidFill>
              </a:rPr>
              <a:t>Objectif : transformer le transcript d'une réunion (diarisation et transcription locales) en compte rendu structuré, sous trois contraintes non négociables.</a:t>
            </a:r>
          </a:p>
        </p:txBody>
      </p:sp>
      <p:sp>
        <p:nvSpPr>
          <p:cNvPr id="4" name="TextBox 3"/>
          <p:cNvSpPr txBox="1"/>
          <p:nvPr/>
        </p:nvSpPr>
        <p:spPr>
          <a:xfrm>
            <a:off x="457200" y="1691640"/>
            <a:ext cx="11274552" cy="1463040"/>
          </a:xfrm>
          <a:prstGeom prst="rect">
            <a:avLst/>
          </a:prstGeom>
          <a:noFill/>
        </p:spPr>
        <p:txBody>
          <a:bodyPr wrap="square">
            <a:spAutoFit/>
          </a:bodyPr>
          <a:lstStyle/>
          <a:p>
            <a:pPr>
              <a:spcAft>
                <a:spcPts val="600"/>
              </a:spcAft>
            </a:pPr>
            <a:r>
              <a:rPr sz="1400">
                <a:solidFill>
                  <a:srgbClr val="2E75B6"/>
                </a:solidFill>
              </a:rPr>
              <a:t>•  </a:t>
            </a:r>
            <a:r>
              <a:rPr b="1" sz="1400">
                <a:solidFill>
                  <a:srgbClr val="222222"/>
                </a:solidFill>
              </a:rPr>
              <a:t>Contrainte 1 : </a:t>
            </a:r>
            <a:r>
              <a:rPr sz="1400">
                <a:solidFill>
                  <a:srgbClr val="222222"/>
                </a:solidFill>
              </a:rPr>
              <a:t>100 % local, CPU uniquement (8 à 16 Go de RAM), sans GPU ni cloud.</a:t>
            </a:r>
          </a:p>
          <a:p>
            <a:pPr>
              <a:spcAft>
                <a:spcPts val="600"/>
              </a:spcAft>
            </a:pPr>
            <a:r>
              <a:rPr sz="1400">
                <a:solidFill>
                  <a:srgbClr val="2E75B6"/>
                </a:solidFill>
              </a:rPr>
              <a:t>•  </a:t>
            </a:r>
            <a:r>
              <a:rPr b="1" sz="1400">
                <a:solidFill>
                  <a:srgbClr val="222222"/>
                </a:solidFill>
              </a:rPr>
              <a:t>Contrainte 2 : </a:t>
            </a:r>
            <a:r>
              <a:rPr sz="1400">
                <a:solidFill>
                  <a:srgbClr val="222222"/>
                </a:solidFill>
              </a:rPr>
              <a:t>zéro hallucination, ne restituer que ce qui est explicitement dit.</a:t>
            </a:r>
          </a:p>
          <a:p>
            <a:pPr>
              <a:spcAft>
                <a:spcPts val="600"/>
              </a:spcAft>
            </a:pPr>
            <a:r>
              <a:rPr sz="1400">
                <a:solidFill>
                  <a:srgbClr val="2E75B6"/>
                </a:solidFill>
              </a:rPr>
              <a:t>•  </a:t>
            </a:r>
            <a:r>
              <a:rPr b="1" sz="1400">
                <a:solidFill>
                  <a:srgbClr val="222222"/>
                </a:solidFill>
              </a:rPr>
              <a:t>Contrainte 3 : </a:t>
            </a:r>
            <a:r>
              <a:rPr sz="1400">
                <a:solidFill>
                  <a:srgbClr val="222222"/>
                </a:solidFill>
              </a:rPr>
              <a:t>fonctionner en live comme sur un audio importé.</a:t>
            </a:r>
          </a:p>
        </p:txBody>
      </p:sp>
      <p:sp>
        <p:nvSpPr>
          <p:cNvPr id="5" name="Rounded Rectangle 4"/>
          <p:cNvSpPr/>
          <p:nvPr/>
        </p:nvSpPr>
        <p:spPr>
          <a:xfrm>
            <a:off x="457200" y="3200400"/>
            <a:ext cx="11274552" cy="914400"/>
          </a:xfrm>
          <a:prstGeom prst="roundRect">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200">
                <a:solidFill>
                  <a:srgbClr val="1F4E79"/>
                </a:solidFill>
              </a:rPr>
              <a:t>Réunion de référence  </a:t>
            </a:r>
            <a:r>
              <a:rPr sz="1200">
                <a:solidFill>
                  <a:srgbClr val="222222"/>
                </a:solidFill>
              </a:rPr>
              <a:t>Toutes les expériences et tous les extraits portent sur LA MÊME réunion RTE (environ 1 h, environ 9 participants dont Jérôme Picault et Maya Sahraoui, IA générative et orchestration MCP). Transcripts : transcript1 (556 seg), transcript_formatted (247 seg), dicte_audio_3 (266 seg).</a:t>
            </a:r>
          </a:p>
        </p:txBody>
      </p:sp>
      <p:sp>
        <p:nvSpPr>
          <p:cNvPr id="6" name="Rounded Rectangle 5"/>
          <p:cNvSpPr/>
          <p:nvPr/>
        </p:nvSpPr>
        <p:spPr>
          <a:xfrm>
            <a:off x="457200" y="4297680"/>
            <a:ext cx="11274552" cy="13716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200">
                <a:solidFill>
                  <a:srgbClr val="8A6D00"/>
                </a:solidFill>
              </a:rPr>
              <a:t>Note  </a:t>
            </a:r>
            <a:r>
              <a:rPr sz="1200">
                <a:solidFill>
                  <a:srgbClr val="222222"/>
                </a:solidFill>
              </a:rPr>
              <a:t>Pas de gold standard humain dans le projet : les comparaisons portent sur des métriques objectives (durée, RAM, nombre d'appels, items extraits) et une évaluation qualitative manuelle. Tout chiffre vient verbatim des metrics.json et des logs. Les CR complets cités sont dans docs/comptes_rendus_references/.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00"/>
          <a:lstStyle/>
          <a:p>
            <a:pPr algn="ctr"/>
            <a:r>
              <a:rPr sz="2800" b="1">
                <a:solidFill>
                  <a:srgbClr val="9DC3E6"/>
                </a:solidFill>
              </a:rPr>
              <a:t>Partie 1</a:t>
            </a:r>
          </a:p>
          <a:p>
            <a:r>
              <a:rPr sz="4000" b="1">
                <a:solidFill>
                  <a:srgbClr val="FFFFFF"/>
                </a:solidFill>
              </a:rPr>
              <a:t>Le découpage (chunking)</a:t>
            </a:r>
          </a:p>
          <a:p>
            <a:pPr>
              <a:spcBef>
                <a:spcPts val="1000"/>
              </a:spcBef>
            </a:pPr>
            <a:r>
              <a:rPr sz="1600">
                <a:solidFill>
                  <a:srgbClr val="D6E4F0"/>
                </a:solidFill>
              </a:rPr>
              <a:t>Découper 1 h de réunion en morceaux cohérents traités un par un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1.1  Approches de découpage : clustering HDBSCAN (V1 puis V2)</a:t>
            </a:r>
          </a:p>
        </p:txBody>
      </p:sp>
      <p:sp>
        <p:nvSpPr>
          <p:cNvPr id="3" name="TextBox 2"/>
          <p:cNvSpPr txBox="1"/>
          <p:nvPr/>
        </p:nvSpPr>
        <p:spPr>
          <a:xfrm>
            <a:off x="457200" y="1005840"/>
            <a:ext cx="11274552" cy="548640"/>
          </a:xfrm>
          <a:prstGeom prst="rect">
            <a:avLst/>
          </a:prstGeom>
          <a:noFill/>
        </p:spPr>
        <p:txBody>
          <a:bodyPr wrap="square">
            <a:spAutoFit/>
          </a:bodyPr>
          <a:lstStyle/>
          <a:p>
            <a:r>
              <a:rPr sz="1300" i="0" b="0">
                <a:solidFill>
                  <a:srgbClr val="222222"/>
                </a:solidFill>
              </a:rPr>
              <a:t>V1 : fenêtres glissantes, embeddings MiniLM, clustering HDBSCAN, 1 LLM par cluster. Défaut : clusters non chronologiques, 30 à 40 % du contenu jeté comme bruit.</a:t>
            </a:r>
          </a:p>
        </p:txBody>
      </p:sp>
      <p:sp>
        <p:nvSpPr>
          <p:cNvPr id="4" name="TextBox 3"/>
          <p:cNvSpPr txBox="1"/>
          <p:nvPr/>
        </p:nvSpPr>
        <p:spPr>
          <a:xfrm>
            <a:off x="457200" y="1783080"/>
            <a:ext cx="11274552" cy="548640"/>
          </a:xfrm>
          <a:prstGeom prst="rect">
            <a:avLst/>
          </a:prstGeom>
          <a:noFill/>
        </p:spPr>
        <p:txBody>
          <a:bodyPr wrap="square">
            <a:spAutoFit/>
          </a:bodyPr>
          <a:lstStyle/>
          <a:p>
            <a:r>
              <a:rPr sz="1300" i="0" b="1">
                <a:solidFill>
                  <a:srgbClr val="222222"/>
                </a:solidFill>
              </a:rPr>
              <a:t>V2 : HDBSCAN amélioré (mesuré sur transcript1, 556 seg).</a:t>
            </a:r>
          </a:p>
        </p:txBody>
      </p:sp>
      <p:graphicFrame>
        <p:nvGraphicFramePr>
          <p:cNvPr id="5" name="Table 4"/>
          <p:cNvGraphicFramePr>
            <a:graphicFrameLocks noGrp="1"/>
          </p:cNvGraphicFramePr>
          <p:nvPr/>
        </p:nvGraphicFramePr>
        <p:xfrm>
          <a:off x="457200" y="2240280"/>
          <a:ext cx="7772400" cy="1554480"/>
        </p:xfrm>
        <a:graphic>
          <a:graphicData uri="http://schemas.openxmlformats.org/drawingml/2006/table">
            <a:tbl>
              <a:tblPr>
                <a:tableStyleId>{5C22544A-7EE6-4342-B048-85BDC9FD1C3A}</a:tableStyleId>
              </a:tblPr>
              <a:tblGrid>
                <a:gridCol w="2743200"/>
                <a:gridCol w="1828800"/>
                <a:gridCol w="1828800"/>
                <a:gridCol w="1371600"/>
              </a:tblGrid>
              <a:tr h="310896">
                <a:tc>
                  <a:txBody>
                    <a:bodyPr wrap="square"/>
                    <a:lstStyle/>
                    <a:p>
                      <a:pPr algn="l"/>
                      <a:r>
                        <a:rPr sz="1100" b="1">
                          <a:solidFill>
                            <a:srgbClr val="FFFFFF"/>
                          </a:solidFill>
                        </a:rPr>
                        <a:t>Modèle</a:t>
                      </a:r>
                    </a:p>
                  </a:txBody>
                  <a:tcPr anchor="ctr" marL="54864" marR="54864" marT="18288" marB="18288">
                    <a:solidFill>
                      <a:srgbClr val="1F4E79"/>
                    </a:solidFill>
                  </a:tcPr>
                </a:tc>
                <a:tc>
                  <a:txBody>
                    <a:bodyPr wrap="square"/>
                    <a:lstStyle/>
                    <a:p>
                      <a:pPr algn="l"/>
                      <a:r>
                        <a:rPr sz="1100" b="1">
                          <a:solidFill>
                            <a:srgbClr val="FFFFFF"/>
                          </a:solidFill>
                        </a:rPr>
                        <a:t>Durée</a:t>
                      </a:r>
                    </a:p>
                  </a:txBody>
                  <a:tcPr anchor="ctr" marL="54864" marR="54864" marT="18288" marB="18288">
                    <a:solidFill>
                      <a:srgbClr val="1F4E79"/>
                    </a:solidFill>
                  </a:tcPr>
                </a:tc>
                <a:tc>
                  <a:txBody>
                    <a:bodyPr wrap="square"/>
                    <a:lstStyle/>
                    <a:p>
                      <a:pPr algn="l"/>
                      <a:r>
                        <a:rPr sz="1100" b="1">
                          <a:solidFill>
                            <a:srgbClr val="FFFFFF"/>
                          </a:solidFill>
                        </a:rPr>
                        <a:t>RAM serveur</a:t>
                      </a:r>
                    </a:p>
                  </a:txBody>
                  <a:tcPr anchor="ctr" marL="54864" marR="54864" marT="18288" marB="18288">
                    <a:solidFill>
                      <a:srgbClr val="1F4E79"/>
                    </a:solidFill>
                  </a:tcPr>
                </a:tc>
                <a:tc>
                  <a:txBody>
                    <a:bodyPr wrap="square"/>
                    <a:lstStyle/>
                    <a:p>
                      <a:pPr algn="l"/>
                      <a:r>
                        <a:rPr sz="1100" b="1">
                          <a:solidFill>
                            <a:srgbClr val="FFFFFF"/>
                          </a:solidFill>
                        </a:rPr>
                        <a:t>Clusters</a:t>
                      </a:r>
                    </a:p>
                  </a:txBody>
                  <a:tcPr anchor="ctr" marL="54864" marR="54864" marT="18288" marB="18288">
                    <a:solidFill>
                      <a:srgbClr val="1F4E79"/>
                    </a:solidFill>
                  </a:tcPr>
                </a:tc>
              </a:tr>
              <a:tr h="310896">
                <a:tc>
                  <a:txBody>
                    <a:bodyPr wrap="square"/>
                    <a:lstStyle/>
                    <a:p>
                      <a:pPr algn="l"/>
                      <a:r>
                        <a:rPr sz="1100" b="0">
                          <a:solidFill>
                            <a:srgbClr val="222222"/>
                          </a:solidFill>
                        </a:rPr>
                        <a:t>Ministral 3B</a:t>
                      </a:r>
                    </a:p>
                  </a:txBody>
                  <a:tcPr anchor="ctr" marL="54864" marR="54864" marT="18288" marB="18288">
                    <a:solidFill>
                      <a:srgbClr val="FFFFFF"/>
                    </a:solidFill>
                  </a:tcPr>
                </a:tc>
                <a:tc>
                  <a:txBody>
                    <a:bodyPr wrap="square"/>
                    <a:lstStyle/>
                    <a:p>
                      <a:pPr algn="l"/>
                      <a:r>
                        <a:rPr sz="1100" b="0">
                          <a:solidFill>
                            <a:srgbClr val="222222"/>
                          </a:solidFill>
                        </a:rPr>
                        <a:t>39 min 22</a:t>
                      </a:r>
                    </a:p>
                  </a:txBody>
                  <a:tcPr anchor="ctr" marL="54864" marR="54864" marT="18288" marB="18288">
                    <a:solidFill>
                      <a:srgbClr val="FFFFFF"/>
                    </a:solidFill>
                  </a:tcPr>
                </a:tc>
                <a:tc>
                  <a:txBody>
                    <a:bodyPr wrap="square"/>
                    <a:lstStyle/>
                    <a:p>
                      <a:pPr algn="l"/>
                      <a:r>
                        <a:rPr sz="1100" b="0">
                          <a:solidFill>
                            <a:srgbClr val="222222"/>
                          </a:solidFill>
                        </a:rPr>
                        <a:t>3 786 Mo</a:t>
                      </a:r>
                    </a:p>
                  </a:txBody>
                  <a:tcPr anchor="ctr" marL="54864" marR="54864" marT="18288" marB="18288">
                    <a:solidFill>
                      <a:srgbClr val="FFFFFF"/>
                    </a:solidFill>
                  </a:tcPr>
                </a:tc>
                <a:tc>
                  <a:txBody>
                    <a:bodyPr wrap="square"/>
                    <a:lstStyle/>
                    <a:p>
                      <a:pPr algn="l"/>
                      <a:r>
                        <a:rPr sz="1100" b="0">
                          <a:solidFill>
                            <a:srgbClr val="222222"/>
                          </a:solidFill>
                        </a:rPr>
                        <a:t>5</a:t>
                      </a:r>
                    </a:p>
                  </a:txBody>
                  <a:tcPr anchor="ctr" marL="54864" marR="54864" marT="18288" marB="18288">
                    <a:solidFill>
                      <a:srgbClr val="FFFFFF"/>
                    </a:solidFill>
                  </a:tcPr>
                </a:tc>
              </a:tr>
              <a:tr h="310896">
                <a:tc>
                  <a:txBody>
                    <a:bodyPr wrap="square"/>
                    <a:lstStyle/>
                    <a:p>
                      <a:pPr algn="l"/>
                      <a:r>
                        <a:rPr sz="1100" b="0">
                          <a:solidFill>
                            <a:srgbClr val="222222"/>
                          </a:solidFill>
                        </a:rPr>
                        <a:t>Qwen2.5 3B</a:t>
                      </a:r>
                    </a:p>
                  </a:txBody>
                  <a:tcPr anchor="ctr" marL="54864" marR="54864" marT="18288" marB="18288">
                    <a:solidFill>
                      <a:srgbClr val="EAF1F8"/>
                    </a:solidFill>
                  </a:tcPr>
                </a:tc>
                <a:tc>
                  <a:txBody>
                    <a:bodyPr wrap="square"/>
                    <a:lstStyle/>
                    <a:p>
                      <a:pPr algn="l"/>
                      <a:r>
                        <a:rPr sz="1100" b="0">
                          <a:solidFill>
                            <a:srgbClr val="222222"/>
                          </a:solidFill>
                        </a:rPr>
                        <a:t>20 min 48</a:t>
                      </a:r>
                    </a:p>
                  </a:txBody>
                  <a:tcPr anchor="ctr" marL="54864" marR="54864" marT="18288" marB="18288">
                    <a:solidFill>
                      <a:srgbClr val="EAF1F8"/>
                    </a:solidFill>
                  </a:tcPr>
                </a:tc>
                <a:tc>
                  <a:txBody>
                    <a:bodyPr wrap="square"/>
                    <a:lstStyle/>
                    <a:p>
                      <a:pPr algn="l"/>
                      <a:r>
                        <a:rPr sz="1100" b="0">
                          <a:solidFill>
                            <a:srgbClr val="222222"/>
                          </a:solidFill>
                        </a:rPr>
                        <a:t>2 670 Mo</a:t>
                      </a:r>
                    </a:p>
                  </a:txBody>
                  <a:tcPr anchor="ctr" marL="54864" marR="54864" marT="18288" marB="18288">
                    <a:solidFill>
                      <a:srgbClr val="EAF1F8"/>
                    </a:solidFill>
                  </a:tcPr>
                </a:tc>
                <a:tc>
                  <a:txBody>
                    <a:bodyPr wrap="square"/>
                    <a:lstStyle/>
                    <a:p>
                      <a:pPr algn="l"/>
                      <a:r>
                        <a:rPr sz="1100" b="0">
                          <a:solidFill>
                            <a:srgbClr val="222222"/>
                          </a:solidFill>
                        </a:rPr>
                        <a:t>5</a:t>
                      </a:r>
                    </a:p>
                  </a:txBody>
                  <a:tcPr anchor="ctr" marL="54864" marR="54864" marT="18288" marB="18288">
                    <a:solidFill>
                      <a:srgbClr val="EAF1F8"/>
                    </a:solidFill>
                  </a:tcPr>
                </a:tc>
              </a:tr>
              <a:tr h="310896">
                <a:tc>
                  <a:txBody>
                    <a:bodyPr wrap="square"/>
                    <a:lstStyle/>
                    <a:p>
                      <a:pPr algn="l"/>
                      <a:r>
                        <a:rPr sz="1100" b="0">
                          <a:solidFill>
                            <a:srgbClr val="222222"/>
                          </a:solidFill>
                        </a:rPr>
                        <a:t>Qwen3 4B</a:t>
                      </a:r>
                    </a:p>
                  </a:txBody>
                  <a:tcPr anchor="ctr" marL="54864" marR="54864" marT="18288" marB="18288">
                    <a:solidFill>
                      <a:srgbClr val="FFFFFF"/>
                    </a:solidFill>
                  </a:tcPr>
                </a:tc>
                <a:tc>
                  <a:txBody>
                    <a:bodyPr wrap="square"/>
                    <a:lstStyle/>
                    <a:p>
                      <a:pPr algn="l"/>
                      <a:r>
                        <a:rPr sz="1100" b="0">
                          <a:solidFill>
                            <a:srgbClr val="222222"/>
                          </a:solidFill>
                        </a:rPr>
                        <a:t>48 min 55</a:t>
                      </a:r>
                    </a:p>
                  </a:txBody>
                  <a:tcPr anchor="ctr" marL="54864" marR="54864" marT="18288" marB="18288">
                    <a:solidFill>
                      <a:srgbClr val="FFFFFF"/>
                    </a:solidFill>
                  </a:tcPr>
                </a:tc>
                <a:tc>
                  <a:txBody>
                    <a:bodyPr wrap="square"/>
                    <a:lstStyle/>
                    <a:p>
                      <a:pPr algn="l"/>
                      <a:r>
                        <a:rPr sz="1100" b="0">
                          <a:solidFill>
                            <a:srgbClr val="222222"/>
                          </a:solidFill>
                        </a:rPr>
                        <a:t>4 670 Mo</a:t>
                      </a:r>
                    </a:p>
                  </a:txBody>
                  <a:tcPr anchor="ctr" marL="54864" marR="54864" marT="18288" marB="18288">
                    <a:solidFill>
                      <a:srgbClr val="FFFFFF"/>
                    </a:solidFill>
                  </a:tcPr>
                </a:tc>
                <a:tc>
                  <a:txBody>
                    <a:bodyPr wrap="square"/>
                    <a:lstStyle/>
                    <a:p>
                      <a:pPr algn="l"/>
                      <a:r>
                        <a:rPr sz="1100" b="0">
                          <a:solidFill>
                            <a:srgbClr val="222222"/>
                          </a:solidFill>
                        </a:rPr>
                        <a:t>5</a:t>
                      </a:r>
                    </a:p>
                  </a:txBody>
                  <a:tcPr anchor="ctr" marL="54864" marR="54864" marT="18288" marB="18288">
                    <a:solidFill>
                      <a:srgbClr val="FFFFFF"/>
                    </a:solidFill>
                  </a:tcPr>
                </a:tc>
              </a:tr>
              <a:tr h="310896">
                <a:tc>
                  <a:txBody>
                    <a:bodyPr wrap="square"/>
                    <a:lstStyle/>
                    <a:p>
                      <a:pPr algn="l"/>
                      <a:r>
                        <a:rPr sz="1100" b="0">
                          <a:solidFill>
                            <a:srgbClr val="222222"/>
                          </a:solidFill>
                        </a:rPr>
                        <a:t>SmolLM3 3B</a:t>
                      </a:r>
                    </a:p>
                  </a:txBody>
                  <a:tcPr anchor="ctr" marL="54864" marR="54864" marT="18288" marB="18288">
                    <a:solidFill>
                      <a:srgbClr val="EAF1F8"/>
                    </a:solidFill>
                  </a:tcPr>
                </a:tc>
                <a:tc>
                  <a:txBody>
                    <a:bodyPr wrap="square"/>
                    <a:lstStyle/>
                    <a:p>
                      <a:pPr algn="l"/>
                      <a:r>
                        <a:rPr sz="1100" b="0">
                          <a:solidFill>
                            <a:srgbClr val="222222"/>
                          </a:solidFill>
                        </a:rPr>
                        <a:t>24 min 48</a:t>
                      </a:r>
                    </a:p>
                  </a:txBody>
                  <a:tcPr anchor="ctr" marL="54864" marR="54864" marT="18288" marB="18288">
                    <a:solidFill>
                      <a:srgbClr val="EAF1F8"/>
                    </a:solidFill>
                  </a:tcPr>
                </a:tc>
                <a:tc>
                  <a:txBody>
                    <a:bodyPr wrap="square"/>
                    <a:lstStyle/>
                    <a:p>
                      <a:pPr algn="l"/>
                      <a:r>
                        <a:rPr sz="1100" b="0">
                          <a:solidFill>
                            <a:srgbClr val="222222"/>
                          </a:solidFill>
                        </a:rPr>
                        <a:t>3 870 Mo</a:t>
                      </a:r>
                    </a:p>
                  </a:txBody>
                  <a:tcPr anchor="ctr" marL="54864" marR="54864" marT="18288" marB="18288">
                    <a:solidFill>
                      <a:srgbClr val="EAF1F8"/>
                    </a:solidFill>
                  </a:tcPr>
                </a:tc>
                <a:tc>
                  <a:txBody>
                    <a:bodyPr wrap="square"/>
                    <a:lstStyle/>
                    <a:p>
                      <a:pPr algn="l"/>
                      <a:r>
                        <a:rPr sz="1100" b="0">
                          <a:solidFill>
                            <a:srgbClr val="222222"/>
                          </a:solidFill>
                        </a:rPr>
                        <a:t>5</a:t>
                      </a:r>
                    </a:p>
                  </a:txBody>
                  <a:tcPr anchor="ctr" marL="54864" marR="54864" marT="18288" marB="18288">
                    <a:solidFill>
                      <a:srgbClr val="EAF1F8"/>
                    </a:solidFill>
                  </a:tcPr>
                </a:tc>
              </a:tr>
            </a:tbl>
          </a:graphicData>
        </a:graphic>
      </p:graphicFrame>
      <p:sp>
        <p:nvSpPr>
          <p:cNvPr id="6" name="Rounded Rectangle 5"/>
          <p:cNvSpPr/>
          <p:nvPr/>
        </p:nvSpPr>
        <p:spPr>
          <a:xfrm>
            <a:off x="457200" y="4937760"/>
            <a:ext cx="11274552" cy="822960"/>
          </a:xfrm>
          <a:prstGeom prst="roundRect">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200">
                <a:solidFill>
                  <a:srgbClr val="B02A2A"/>
                </a:solidFill>
              </a:rPr>
              <a:t>Verdict  </a:t>
            </a:r>
            <a:r>
              <a:rPr sz="1200">
                <a:solidFill>
                  <a:srgbClr val="222222"/>
                </a:solidFill>
              </a:rPr>
              <a:t>Abandonné à terme. Plus robuste que V1 mais toujours dépendant du clustering, et trop lent.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1.1  Détection de frontières sémantiques (V3, RETENUE)</a:t>
            </a:r>
          </a:p>
        </p:txBody>
      </p:sp>
      <p:sp>
        <p:nvSpPr>
          <p:cNvPr id="3" name="TextBox 2"/>
          <p:cNvSpPr txBox="1"/>
          <p:nvPr/>
        </p:nvSpPr>
        <p:spPr>
          <a:xfrm>
            <a:off x="457200" y="1005840"/>
            <a:ext cx="11274552" cy="548640"/>
          </a:xfrm>
          <a:prstGeom prst="rect">
            <a:avLst/>
          </a:prstGeom>
          <a:noFill/>
        </p:spPr>
        <p:txBody>
          <a:bodyPr wrap="square">
            <a:spAutoFit/>
          </a:bodyPr>
          <a:lstStyle/>
          <a:p>
            <a:r>
              <a:rPr sz="1300" i="0" b="0">
                <a:solidFill>
                  <a:srgbClr val="222222"/>
                </a:solidFill>
              </a:rPr>
              <a:t>Frontières par chute de similarité cosine entre fenêtres (lissage sigma=2, vallées au percentile 5). Chunks chronologiques, 1 LLM par chunk (transcript1, 556 seg, 9 chunks).</a:t>
            </a:r>
          </a:p>
        </p:txBody>
      </p:sp>
      <p:graphicFrame>
        <p:nvGraphicFramePr>
          <p:cNvPr id="4" name="Table 3"/>
          <p:cNvGraphicFramePr>
            <a:graphicFrameLocks noGrp="1"/>
          </p:cNvGraphicFramePr>
          <p:nvPr/>
        </p:nvGraphicFramePr>
        <p:xfrm>
          <a:off x="457200" y="1828800"/>
          <a:ext cx="8229598" cy="1554480"/>
        </p:xfrm>
        <a:graphic>
          <a:graphicData uri="http://schemas.openxmlformats.org/drawingml/2006/table">
            <a:tbl>
              <a:tblPr>
                <a:tableStyleId>{5C22544A-7EE6-4342-B048-85BDC9FD1C3A}</a:tableStyleId>
              </a:tblPr>
              <a:tblGrid>
                <a:gridCol w="2446637"/>
                <a:gridCol w="2224216"/>
                <a:gridCol w="2224216"/>
                <a:gridCol w="1334529"/>
              </a:tblGrid>
              <a:tr h="310896">
                <a:tc>
                  <a:txBody>
                    <a:bodyPr wrap="square"/>
                    <a:lstStyle/>
                    <a:p>
                      <a:pPr algn="l"/>
                      <a:r>
                        <a:rPr sz="1100" b="1">
                          <a:solidFill>
                            <a:srgbClr val="FFFFFF"/>
                          </a:solidFill>
                        </a:rPr>
                        <a:t>Modèle</a:t>
                      </a:r>
                    </a:p>
                  </a:txBody>
                  <a:tcPr anchor="ctr" marL="54864" marR="54864" marT="18288" marB="18288">
                    <a:solidFill>
                      <a:srgbClr val="1F4E79"/>
                    </a:solidFill>
                  </a:tcPr>
                </a:tc>
                <a:tc>
                  <a:txBody>
                    <a:bodyPr wrap="square"/>
                    <a:lstStyle/>
                    <a:p>
                      <a:pPr algn="l"/>
                      <a:r>
                        <a:rPr sz="1100" b="1">
                          <a:solidFill>
                            <a:srgbClr val="FFFFFF"/>
                          </a:solidFill>
                        </a:rPr>
                        <a:t>V2 (HDBSCAN)</a:t>
                      </a:r>
                    </a:p>
                  </a:txBody>
                  <a:tcPr anchor="ctr" marL="54864" marR="54864" marT="18288" marB="18288">
                    <a:solidFill>
                      <a:srgbClr val="1F4E79"/>
                    </a:solidFill>
                  </a:tcPr>
                </a:tc>
                <a:tc>
                  <a:txBody>
                    <a:bodyPr wrap="square"/>
                    <a:lstStyle/>
                    <a:p>
                      <a:pPr algn="l"/>
                      <a:r>
                        <a:rPr sz="1100" b="1">
                          <a:solidFill>
                            <a:srgbClr val="FFFFFF"/>
                          </a:solidFill>
                        </a:rPr>
                        <a:t>V3 (boundary)</a:t>
                      </a:r>
                    </a:p>
                  </a:txBody>
                  <a:tcPr anchor="ctr" marL="54864" marR="54864" marT="18288" marB="18288">
                    <a:solidFill>
                      <a:srgbClr val="1F4E79"/>
                    </a:solidFill>
                  </a:tcPr>
                </a:tc>
                <a:tc>
                  <a:txBody>
                    <a:bodyPr wrap="square"/>
                    <a:lstStyle/>
                    <a:p>
                      <a:pPr algn="l"/>
                      <a:r>
                        <a:rPr sz="1100" b="1">
                          <a:solidFill>
                            <a:srgbClr val="FFFFFF"/>
                          </a:solidFill>
                        </a:rPr>
                        <a:t>Gain</a:t>
                      </a:r>
                    </a:p>
                  </a:txBody>
                  <a:tcPr anchor="ctr" marL="54864" marR="54864" marT="18288" marB="18288">
                    <a:solidFill>
                      <a:srgbClr val="1F4E79"/>
                    </a:solidFill>
                  </a:tcPr>
                </a:tc>
              </a:tr>
              <a:tr h="310896">
                <a:tc>
                  <a:txBody>
                    <a:bodyPr wrap="square"/>
                    <a:lstStyle/>
                    <a:p>
                      <a:pPr algn="l"/>
                      <a:r>
                        <a:rPr sz="1100" b="0">
                          <a:solidFill>
                            <a:srgbClr val="222222"/>
                          </a:solidFill>
                        </a:rPr>
                        <a:t>Ministral 3B</a:t>
                      </a:r>
                    </a:p>
                  </a:txBody>
                  <a:tcPr anchor="ctr" marL="54864" marR="54864" marT="18288" marB="18288">
                    <a:solidFill>
                      <a:srgbClr val="FFFFFF"/>
                    </a:solidFill>
                  </a:tcPr>
                </a:tc>
                <a:tc>
                  <a:txBody>
                    <a:bodyPr wrap="square"/>
                    <a:lstStyle/>
                    <a:p>
                      <a:pPr algn="l"/>
                      <a:r>
                        <a:rPr sz="1100" b="0">
                          <a:solidFill>
                            <a:srgbClr val="222222"/>
                          </a:solidFill>
                        </a:rPr>
                        <a:t>39 min 22</a:t>
                      </a:r>
                    </a:p>
                  </a:txBody>
                  <a:tcPr anchor="ctr" marL="54864" marR="54864" marT="18288" marB="18288">
                    <a:solidFill>
                      <a:srgbClr val="FFFFFF"/>
                    </a:solidFill>
                  </a:tcPr>
                </a:tc>
                <a:tc>
                  <a:txBody>
                    <a:bodyPr wrap="square"/>
                    <a:lstStyle/>
                    <a:p>
                      <a:pPr algn="l"/>
                      <a:r>
                        <a:rPr sz="1100" b="0">
                          <a:solidFill>
                            <a:srgbClr val="222222"/>
                          </a:solidFill>
                        </a:rPr>
                        <a:t>26 min 37</a:t>
                      </a:r>
                    </a:p>
                  </a:txBody>
                  <a:tcPr anchor="ctr" marL="54864" marR="54864" marT="18288" marB="18288">
                    <a:solidFill>
                      <a:srgbClr val="FFFFFF"/>
                    </a:solidFill>
                  </a:tcPr>
                </a:tc>
                <a:tc>
                  <a:txBody>
                    <a:bodyPr wrap="square"/>
                    <a:lstStyle/>
                    <a:p>
                      <a:pPr algn="l"/>
                      <a:r>
                        <a:rPr sz="1100" b="1">
                          <a:solidFill>
                            <a:srgbClr val="1E6B2F"/>
                          </a:solidFill>
                        </a:rPr>
                        <a:t>-32 %</a:t>
                      </a:r>
                    </a:p>
                  </a:txBody>
                  <a:tcPr anchor="ctr" marL="54864" marR="54864" marT="18288" marB="18288">
                    <a:solidFill>
                      <a:srgbClr val="FFFFFF"/>
                    </a:solidFill>
                  </a:tcPr>
                </a:tc>
              </a:tr>
              <a:tr h="310896">
                <a:tc>
                  <a:txBody>
                    <a:bodyPr wrap="square"/>
                    <a:lstStyle/>
                    <a:p>
                      <a:pPr algn="l"/>
                      <a:r>
                        <a:rPr sz="1100" b="0">
                          <a:solidFill>
                            <a:srgbClr val="222222"/>
                          </a:solidFill>
                        </a:rPr>
                        <a:t>Qwen2.5 3B</a:t>
                      </a:r>
                    </a:p>
                  </a:txBody>
                  <a:tcPr anchor="ctr" marL="54864" marR="54864" marT="18288" marB="18288">
                    <a:solidFill>
                      <a:srgbClr val="EAF1F8"/>
                    </a:solidFill>
                  </a:tcPr>
                </a:tc>
                <a:tc>
                  <a:txBody>
                    <a:bodyPr wrap="square"/>
                    <a:lstStyle/>
                    <a:p>
                      <a:pPr algn="l"/>
                      <a:r>
                        <a:rPr sz="1100" b="0">
                          <a:solidFill>
                            <a:srgbClr val="222222"/>
                          </a:solidFill>
                        </a:rPr>
                        <a:t>20 min 48</a:t>
                      </a:r>
                    </a:p>
                  </a:txBody>
                  <a:tcPr anchor="ctr" marL="54864" marR="54864" marT="18288" marB="18288">
                    <a:solidFill>
                      <a:srgbClr val="EAF1F8"/>
                    </a:solidFill>
                  </a:tcPr>
                </a:tc>
                <a:tc>
                  <a:txBody>
                    <a:bodyPr wrap="square"/>
                    <a:lstStyle/>
                    <a:p>
                      <a:pPr algn="l"/>
                      <a:r>
                        <a:rPr sz="1100" b="0">
                          <a:solidFill>
                            <a:srgbClr val="222222"/>
                          </a:solidFill>
                        </a:rPr>
                        <a:t>12 min 13</a:t>
                      </a:r>
                    </a:p>
                  </a:txBody>
                  <a:tcPr anchor="ctr" marL="54864" marR="54864" marT="18288" marB="18288">
                    <a:solidFill>
                      <a:srgbClr val="EAF1F8"/>
                    </a:solidFill>
                  </a:tcPr>
                </a:tc>
                <a:tc>
                  <a:txBody>
                    <a:bodyPr wrap="square"/>
                    <a:lstStyle/>
                    <a:p>
                      <a:pPr algn="l"/>
                      <a:r>
                        <a:rPr sz="1100" b="1">
                          <a:solidFill>
                            <a:srgbClr val="1E6B2F"/>
                          </a:solidFill>
                        </a:rPr>
                        <a:t>-41 %</a:t>
                      </a:r>
                    </a:p>
                  </a:txBody>
                  <a:tcPr anchor="ctr" marL="54864" marR="54864" marT="18288" marB="18288">
                    <a:solidFill>
                      <a:srgbClr val="EAF1F8"/>
                    </a:solidFill>
                  </a:tcPr>
                </a:tc>
              </a:tr>
              <a:tr h="310896">
                <a:tc>
                  <a:txBody>
                    <a:bodyPr wrap="square"/>
                    <a:lstStyle/>
                    <a:p>
                      <a:pPr algn="l"/>
                      <a:r>
                        <a:rPr sz="1100" b="0">
                          <a:solidFill>
                            <a:srgbClr val="222222"/>
                          </a:solidFill>
                        </a:rPr>
                        <a:t>Qwen3 4B</a:t>
                      </a:r>
                    </a:p>
                  </a:txBody>
                  <a:tcPr anchor="ctr" marL="54864" marR="54864" marT="18288" marB="18288">
                    <a:solidFill>
                      <a:srgbClr val="FFFFFF"/>
                    </a:solidFill>
                  </a:tcPr>
                </a:tc>
                <a:tc>
                  <a:txBody>
                    <a:bodyPr wrap="square"/>
                    <a:lstStyle/>
                    <a:p>
                      <a:pPr algn="l"/>
                      <a:r>
                        <a:rPr sz="1100" b="0">
                          <a:solidFill>
                            <a:srgbClr val="222222"/>
                          </a:solidFill>
                        </a:rPr>
                        <a:t>48 min 55</a:t>
                      </a:r>
                    </a:p>
                  </a:txBody>
                  <a:tcPr anchor="ctr" marL="54864" marR="54864" marT="18288" marB="18288">
                    <a:solidFill>
                      <a:srgbClr val="FFFFFF"/>
                    </a:solidFill>
                  </a:tcPr>
                </a:tc>
                <a:tc>
                  <a:txBody>
                    <a:bodyPr wrap="square"/>
                    <a:lstStyle/>
                    <a:p>
                      <a:pPr algn="l"/>
                      <a:r>
                        <a:rPr sz="1100" b="0">
                          <a:solidFill>
                            <a:srgbClr val="222222"/>
                          </a:solidFill>
                        </a:rPr>
                        <a:t>32 min 40</a:t>
                      </a:r>
                    </a:p>
                  </a:txBody>
                  <a:tcPr anchor="ctr" marL="54864" marR="54864" marT="18288" marB="18288">
                    <a:solidFill>
                      <a:srgbClr val="FFFFFF"/>
                    </a:solidFill>
                  </a:tcPr>
                </a:tc>
                <a:tc>
                  <a:txBody>
                    <a:bodyPr wrap="square"/>
                    <a:lstStyle/>
                    <a:p>
                      <a:pPr algn="l"/>
                      <a:r>
                        <a:rPr sz="1100" b="1">
                          <a:solidFill>
                            <a:srgbClr val="1E6B2F"/>
                          </a:solidFill>
                        </a:rPr>
                        <a:t>-33 %</a:t>
                      </a:r>
                    </a:p>
                  </a:txBody>
                  <a:tcPr anchor="ctr" marL="54864" marR="54864" marT="18288" marB="18288">
                    <a:solidFill>
                      <a:srgbClr val="FFFFFF"/>
                    </a:solidFill>
                  </a:tcPr>
                </a:tc>
              </a:tr>
              <a:tr h="310896">
                <a:tc>
                  <a:txBody>
                    <a:bodyPr wrap="square"/>
                    <a:lstStyle/>
                    <a:p>
                      <a:pPr algn="l"/>
                      <a:r>
                        <a:rPr sz="1100" b="0">
                          <a:solidFill>
                            <a:srgbClr val="222222"/>
                          </a:solidFill>
                        </a:rPr>
                        <a:t>SmolLM3 3B</a:t>
                      </a:r>
                    </a:p>
                  </a:txBody>
                  <a:tcPr anchor="ctr" marL="54864" marR="54864" marT="18288" marB="18288">
                    <a:solidFill>
                      <a:srgbClr val="EAF1F8"/>
                    </a:solidFill>
                  </a:tcPr>
                </a:tc>
                <a:tc>
                  <a:txBody>
                    <a:bodyPr wrap="square"/>
                    <a:lstStyle/>
                    <a:p>
                      <a:pPr algn="l"/>
                      <a:r>
                        <a:rPr sz="1100" b="0">
                          <a:solidFill>
                            <a:srgbClr val="222222"/>
                          </a:solidFill>
                        </a:rPr>
                        <a:t>24 min 48</a:t>
                      </a:r>
                    </a:p>
                  </a:txBody>
                  <a:tcPr anchor="ctr" marL="54864" marR="54864" marT="18288" marB="18288">
                    <a:solidFill>
                      <a:srgbClr val="EAF1F8"/>
                    </a:solidFill>
                  </a:tcPr>
                </a:tc>
                <a:tc>
                  <a:txBody>
                    <a:bodyPr wrap="square"/>
                    <a:lstStyle/>
                    <a:p>
                      <a:pPr algn="l"/>
                      <a:r>
                        <a:rPr sz="1100" b="0">
                          <a:solidFill>
                            <a:srgbClr val="222222"/>
                          </a:solidFill>
                        </a:rPr>
                        <a:t>14 min 56</a:t>
                      </a:r>
                    </a:p>
                  </a:txBody>
                  <a:tcPr anchor="ctr" marL="54864" marR="54864" marT="18288" marB="18288">
                    <a:solidFill>
                      <a:srgbClr val="EAF1F8"/>
                    </a:solidFill>
                  </a:tcPr>
                </a:tc>
                <a:tc>
                  <a:txBody>
                    <a:bodyPr wrap="square"/>
                    <a:lstStyle/>
                    <a:p>
                      <a:pPr algn="l"/>
                      <a:r>
                        <a:rPr sz="1100" b="1">
                          <a:solidFill>
                            <a:srgbClr val="1E6B2F"/>
                          </a:solidFill>
                        </a:rPr>
                        <a:t>-40 %</a:t>
                      </a:r>
                    </a:p>
                  </a:txBody>
                  <a:tcPr anchor="ctr" marL="54864" marR="54864" marT="18288" marB="18288">
                    <a:solidFill>
                      <a:srgbClr val="EAF1F8"/>
                    </a:solidFill>
                  </a:tcPr>
                </a:tc>
              </a:tr>
            </a:tbl>
          </a:graphicData>
        </a:graphic>
      </p:graphicFrame>
      <p:sp>
        <p:nvSpPr>
          <p:cNvPr id="5" name="Rounded Rectangle 4"/>
          <p:cNvSpPr/>
          <p:nvPr/>
        </p:nvSpPr>
        <p:spPr>
          <a:xfrm>
            <a:off x="457200" y="4480560"/>
            <a:ext cx="11274552" cy="731520"/>
          </a:xfrm>
          <a:prstGeom prst="round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200">
                <a:solidFill>
                  <a:srgbClr val="1E6B2F"/>
                </a:solidFill>
              </a:rPr>
              <a:t>Verdict  </a:t>
            </a:r>
            <a:r>
              <a:rPr sz="1200">
                <a:solidFill>
                  <a:srgbClr val="222222"/>
                </a:solidFill>
              </a:rPr>
              <a:t>Adopté. Découpage chronologique plus rapide ET qui préserve l'ordre du récit. Base de tout le pipeline.</a:t>
            </a:r>
          </a:p>
        </p:txBody>
      </p:sp>
      <p:sp>
        <p:nvSpPr>
          <p:cNvPr id="6" name="Rounded Rectangle 5"/>
          <p:cNvSpPr/>
          <p:nvPr/>
        </p:nvSpPr>
        <p:spPr>
          <a:xfrm>
            <a:off x="457200" y="5257800"/>
            <a:ext cx="11274552" cy="1188720"/>
          </a:xfrm>
          <a:prstGeom prst="roundRect">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100">
                <a:solidFill>
                  <a:srgbClr val="1F4E79"/>
                </a:solidFill>
              </a:rPr>
              <a:t>Analyse  </a:t>
            </a:r>
            <a:r>
              <a:rPr sz="1100">
                <a:solidFill>
                  <a:srgbClr val="222222"/>
                </a:solidFill>
              </a:rPr>
              <a:t>HDBSCAN regroupe par densité sans tenir compte du temps (clusters non contigus, points isolés jetés comme bruit). La détection de frontières garde l'ordre linéaire et ne coupe qu'où la cohésion chute : c'est le principe de TextTiling (Hearst 1997), ici sur embeddings.</a:t>
            </a:r>
          </a:p>
        </p:txBody>
      </p:sp>
      <p:sp>
        <p:nvSpPr>
          <p:cNvPr id="7" name="TextBox 6"/>
          <p:cNvSpPr txBox="1"/>
          <p:nvPr/>
        </p:nvSpPr>
        <p:spPr>
          <a:xfrm>
            <a:off x="457200" y="6446520"/>
            <a:ext cx="11274552" cy="457200"/>
          </a:xfrm>
          <a:prstGeom prst="rect">
            <a:avLst/>
          </a:prstGeom>
          <a:noFill/>
        </p:spPr>
        <p:txBody>
          <a:bodyPr wrap="square">
            <a:spAutoFit/>
          </a:bodyPr>
          <a:lstStyle/>
          <a:p>
            <a:r>
              <a:rPr b="1" sz="900">
                <a:solidFill>
                  <a:srgbClr val="555555"/>
                </a:solidFill>
              </a:rPr>
              <a:t>Source(s) : </a:t>
            </a:r>
            <a:r>
              <a:rPr sz="900" u="sng">
                <a:solidFill>
                  <a:srgbClr val="1F4E79"/>
                </a:solidFill>
                <a:hlinkClick r:id="rId2"/>
              </a:rPr>
              <a:t>TextTiling, Hearst 1997</a:t>
            </a:r>
            <a:r>
              <a:rPr sz="900"/>
              <a:t>      </a:t>
            </a:r>
            <a:r>
              <a:rPr sz="900" u="sng">
                <a:solidFill>
                  <a:srgbClr val="1F4E79"/>
                </a:solidFill>
                <a:hlinkClick r:id="rId3"/>
              </a:rPr>
              <a:t>HDBSCAN, Campello et al. 2013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1.2  Paramètres et résultats réels du découpage retenu</a:t>
            </a:r>
          </a:p>
        </p:txBody>
      </p:sp>
      <p:graphicFrame>
        <p:nvGraphicFramePr>
          <p:cNvPr id="3" name="Table 2"/>
          <p:cNvGraphicFramePr>
            <a:graphicFrameLocks noGrp="1"/>
          </p:cNvGraphicFramePr>
          <p:nvPr/>
        </p:nvGraphicFramePr>
        <p:xfrm>
          <a:off x="457200" y="1051560"/>
          <a:ext cx="8412478" cy="2176272"/>
        </p:xfrm>
        <a:graphic>
          <a:graphicData uri="http://schemas.openxmlformats.org/drawingml/2006/table">
            <a:tbl>
              <a:tblPr>
                <a:tableStyleId>{5C22544A-7EE6-4342-B048-85BDC9FD1C3A}</a:tableStyleId>
              </a:tblPr>
              <a:tblGrid>
                <a:gridCol w="2512818"/>
                <a:gridCol w="2622071"/>
                <a:gridCol w="3277589"/>
              </a:tblGrid>
              <a:tr h="310896">
                <a:tc>
                  <a:txBody>
                    <a:bodyPr wrap="square"/>
                    <a:lstStyle/>
                    <a:p>
                      <a:pPr algn="l"/>
                      <a:r>
                        <a:rPr sz="1050" b="1">
                          <a:solidFill>
                            <a:srgbClr val="FFFFFF"/>
                          </a:solidFill>
                        </a:rPr>
                        <a:t>Paramètre</a:t>
                      </a:r>
                    </a:p>
                  </a:txBody>
                  <a:tcPr anchor="ctr" marL="54864" marR="54864" marT="18288" marB="18288">
                    <a:solidFill>
                      <a:srgbClr val="1F4E79"/>
                    </a:solidFill>
                  </a:tcPr>
                </a:tc>
                <a:tc>
                  <a:txBody>
                    <a:bodyPr wrap="square"/>
                    <a:lstStyle/>
                    <a:p>
                      <a:pPr algn="l"/>
                      <a:r>
                        <a:rPr sz="1050" b="1">
                          <a:solidFill>
                            <a:srgbClr val="FFFFFF"/>
                          </a:solidFill>
                        </a:rPr>
                        <a:t>Valeur</a:t>
                      </a:r>
                    </a:p>
                  </a:txBody>
                  <a:tcPr anchor="ctr" marL="54864" marR="54864" marT="18288" marB="18288">
                    <a:solidFill>
                      <a:srgbClr val="1F4E79"/>
                    </a:solidFill>
                  </a:tcPr>
                </a:tc>
                <a:tc>
                  <a:txBody>
                    <a:bodyPr wrap="square"/>
                    <a:lstStyle/>
                    <a:p>
                      <a:pPr algn="l"/>
                      <a:r>
                        <a:rPr sz="1050" b="1">
                          <a:solidFill>
                            <a:srgbClr val="FFFFFF"/>
                          </a:solidFill>
                        </a:rPr>
                        <a:t>Rôle</a:t>
                      </a:r>
                    </a:p>
                  </a:txBody>
                  <a:tcPr anchor="ctr" marL="54864" marR="54864" marT="18288" marB="18288">
                    <a:solidFill>
                      <a:srgbClr val="1F4E79"/>
                    </a:solidFill>
                  </a:tcPr>
                </a:tc>
              </a:tr>
              <a:tr h="310896">
                <a:tc>
                  <a:txBody>
                    <a:bodyPr wrap="square"/>
                    <a:lstStyle/>
                    <a:p>
                      <a:pPr algn="l"/>
                      <a:r>
                        <a:rPr sz="1050" b="0">
                          <a:solidFill>
                            <a:srgbClr val="222222"/>
                          </a:solidFill>
                        </a:rPr>
                        <a:t>Fenêtre glissante</a:t>
                      </a:r>
                    </a:p>
                  </a:txBody>
                  <a:tcPr anchor="ctr" marL="54864" marR="54864" marT="18288" marB="18288">
                    <a:solidFill>
                      <a:srgbClr val="FFFFFF"/>
                    </a:solidFill>
                  </a:tcPr>
                </a:tc>
                <a:tc>
                  <a:txBody>
                    <a:bodyPr wrap="square"/>
                    <a:lstStyle/>
                    <a:p>
                      <a:pPr algn="l"/>
                      <a:r>
                        <a:rPr sz="1050" b="0">
                          <a:solidFill>
                            <a:srgbClr val="222222"/>
                          </a:solidFill>
                        </a:rPr>
                        <a:t>3 segments (slide 1)</a:t>
                      </a:r>
                    </a:p>
                  </a:txBody>
                  <a:tcPr anchor="ctr" marL="54864" marR="54864" marT="18288" marB="18288">
                    <a:solidFill>
                      <a:srgbClr val="FFFFFF"/>
                    </a:solidFill>
                  </a:tcPr>
                </a:tc>
                <a:tc>
                  <a:txBody>
                    <a:bodyPr wrap="square"/>
                    <a:lstStyle/>
                    <a:p>
                      <a:pPr algn="l"/>
                      <a:r>
                        <a:rPr sz="1050" b="0">
                          <a:solidFill>
                            <a:srgbClr val="222222"/>
                          </a:solidFill>
                        </a:rPr>
                        <a:t>granularité de l'analyse</a:t>
                      </a:r>
                    </a:p>
                  </a:txBody>
                  <a:tcPr anchor="ctr" marL="54864" marR="54864" marT="18288" marB="18288">
                    <a:solidFill>
                      <a:srgbClr val="FFFFFF"/>
                    </a:solidFill>
                  </a:tcPr>
                </a:tc>
              </a:tr>
              <a:tr h="310896">
                <a:tc>
                  <a:txBody>
                    <a:bodyPr wrap="square"/>
                    <a:lstStyle/>
                    <a:p>
                      <a:pPr algn="l"/>
                      <a:r>
                        <a:rPr sz="1050" b="0">
                          <a:solidFill>
                            <a:srgbClr val="222222"/>
                          </a:solidFill>
                        </a:rPr>
                        <a:t>Lissage gaussien sigma</a:t>
                      </a:r>
                    </a:p>
                  </a:txBody>
                  <a:tcPr anchor="ctr" marL="54864" marR="54864" marT="18288" marB="18288">
                    <a:solidFill>
                      <a:srgbClr val="EAF1F8"/>
                    </a:solidFill>
                  </a:tcPr>
                </a:tc>
                <a:tc>
                  <a:txBody>
                    <a:bodyPr wrap="square"/>
                    <a:lstStyle/>
                    <a:p>
                      <a:pPr algn="l"/>
                      <a:r>
                        <a:rPr sz="1050" b="0">
                          <a:solidFill>
                            <a:srgbClr val="222222"/>
                          </a:solidFill>
                        </a:rPr>
                        <a:t>2,0</a:t>
                      </a:r>
                    </a:p>
                  </a:txBody>
                  <a:tcPr anchor="ctr" marL="54864" marR="54864" marT="18288" marB="18288">
                    <a:solidFill>
                      <a:srgbClr val="EAF1F8"/>
                    </a:solidFill>
                  </a:tcPr>
                </a:tc>
                <a:tc>
                  <a:txBody>
                    <a:bodyPr wrap="square"/>
                    <a:lstStyle/>
                    <a:p>
                      <a:pPr algn="l"/>
                      <a:r>
                        <a:rPr sz="1050" b="0">
                          <a:solidFill>
                            <a:srgbClr val="222222"/>
                          </a:solidFill>
                        </a:rPr>
                        <a:t>atténue le bruit des similarités</a:t>
                      </a:r>
                    </a:p>
                  </a:txBody>
                  <a:tcPr anchor="ctr" marL="54864" marR="54864" marT="18288" marB="18288">
                    <a:solidFill>
                      <a:srgbClr val="EAF1F8"/>
                    </a:solidFill>
                  </a:tcPr>
                </a:tc>
              </a:tr>
              <a:tr h="310896">
                <a:tc>
                  <a:txBody>
                    <a:bodyPr wrap="square"/>
                    <a:lstStyle/>
                    <a:p>
                      <a:pPr algn="l"/>
                      <a:r>
                        <a:rPr sz="1050" b="0">
                          <a:solidFill>
                            <a:srgbClr val="222222"/>
                          </a:solidFill>
                        </a:rPr>
                        <a:t>Percentile de vallée</a:t>
                      </a:r>
                    </a:p>
                  </a:txBody>
                  <a:tcPr anchor="ctr" marL="54864" marR="54864" marT="18288" marB="18288">
                    <a:solidFill>
                      <a:srgbClr val="FFFFFF"/>
                    </a:solidFill>
                  </a:tcPr>
                </a:tc>
                <a:tc>
                  <a:txBody>
                    <a:bodyPr wrap="square"/>
                    <a:lstStyle/>
                    <a:p>
                      <a:pPr algn="l"/>
                      <a:r>
                        <a:rPr sz="1050" b="0">
                          <a:solidFill>
                            <a:srgbClr val="222222"/>
                          </a:solidFill>
                        </a:rPr>
                        <a:t>5 %</a:t>
                      </a:r>
                    </a:p>
                  </a:txBody>
                  <a:tcPr anchor="ctr" marL="54864" marR="54864" marT="18288" marB="18288">
                    <a:solidFill>
                      <a:srgbClr val="FFFFFF"/>
                    </a:solidFill>
                  </a:tcPr>
                </a:tc>
                <a:tc>
                  <a:txBody>
                    <a:bodyPr wrap="square"/>
                    <a:lstStyle/>
                    <a:p>
                      <a:pPr algn="l"/>
                      <a:r>
                        <a:rPr sz="1050" b="0">
                          <a:solidFill>
                            <a:srgbClr val="222222"/>
                          </a:solidFill>
                        </a:rPr>
                        <a:t>seuil de détection des frontières</a:t>
                      </a:r>
                    </a:p>
                  </a:txBody>
                  <a:tcPr anchor="ctr" marL="54864" marR="54864" marT="18288" marB="18288">
                    <a:solidFill>
                      <a:srgbClr val="FFFFFF"/>
                    </a:solidFill>
                  </a:tcPr>
                </a:tc>
              </a:tr>
              <a:tr h="310896">
                <a:tc>
                  <a:txBody>
                    <a:bodyPr wrap="square"/>
                    <a:lstStyle/>
                    <a:p>
                      <a:pPr algn="l"/>
                      <a:r>
                        <a:rPr sz="1050" b="0">
                          <a:solidFill>
                            <a:srgbClr val="222222"/>
                          </a:solidFill>
                        </a:rPr>
                        <a:t>Distance min. frontières</a:t>
                      </a:r>
                    </a:p>
                  </a:txBody>
                  <a:tcPr anchor="ctr" marL="54864" marR="54864" marT="18288" marB="18288">
                    <a:solidFill>
                      <a:srgbClr val="EAF1F8"/>
                    </a:solidFill>
                  </a:tcPr>
                </a:tc>
                <a:tc>
                  <a:txBody>
                    <a:bodyPr wrap="square"/>
                    <a:lstStyle/>
                    <a:p>
                      <a:pPr algn="l"/>
                      <a:r>
                        <a:rPr sz="1050" b="0">
                          <a:solidFill>
                            <a:srgbClr val="222222"/>
                          </a:solidFill>
                        </a:rPr>
                        <a:t>10 fenêtres</a:t>
                      </a:r>
                    </a:p>
                  </a:txBody>
                  <a:tcPr anchor="ctr" marL="54864" marR="54864" marT="18288" marB="18288">
                    <a:solidFill>
                      <a:srgbClr val="EAF1F8"/>
                    </a:solidFill>
                  </a:tcPr>
                </a:tc>
                <a:tc>
                  <a:txBody>
                    <a:bodyPr wrap="square"/>
                    <a:lstStyle/>
                    <a:p>
                      <a:pPr algn="l"/>
                      <a:r>
                        <a:rPr sz="1050" b="0">
                          <a:solidFill>
                            <a:srgbClr val="222222"/>
                          </a:solidFill>
                        </a:rPr>
                        <a:t>évite les coupures trop proches</a:t>
                      </a:r>
                    </a:p>
                  </a:txBody>
                  <a:tcPr anchor="ctr" marL="54864" marR="54864" marT="18288" marB="18288">
                    <a:solidFill>
                      <a:srgbClr val="EAF1F8"/>
                    </a:solidFill>
                  </a:tcPr>
                </a:tc>
              </a:tr>
              <a:tr h="310896">
                <a:tc>
                  <a:txBody>
                    <a:bodyPr wrap="square"/>
                    <a:lstStyle/>
                    <a:p>
                      <a:pPr algn="l"/>
                      <a:r>
                        <a:rPr sz="1050" b="0">
                          <a:solidFill>
                            <a:srgbClr val="222222"/>
                          </a:solidFill>
                        </a:rPr>
                        <a:t>Taille max. d'un chunk</a:t>
                      </a:r>
                    </a:p>
                  </a:txBody>
                  <a:tcPr anchor="ctr" marL="54864" marR="54864" marT="18288" marB="18288">
                    <a:solidFill>
                      <a:srgbClr val="FFFFFF"/>
                    </a:solidFill>
                  </a:tcPr>
                </a:tc>
                <a:tc>
                  <a:txBody>
                    <a:bodyPr wrap="square"/>
                    <a:lstStyle/>
                    <a:p>
                      <a:pPr algn="l"/>
                      <a:r>
                        <a:rPr sz="1050" b="0">
                          <a:solidFill>
                            <a:srgbClr val="222222"/>
                          </a:solidFill>
                        </a:rPr>
                        <a:t>15 000 caractères</a:t>
                      </a:r>
                    </a:p>
                  </a:txBody>
                  <a:tcPr anchor="ctr" marL="54864" marR="54864" marT="18288" marB="18288">
                    <a:solidFill>
                      <a:srgbClr val="FFFFFF"/>
                    </a:solidFill>
                  </a:tcPr>
                </a:tc>
                <a:tc>
                  <a:txBody>
                    <a:bodyPr wrap="square"/>
                    <a:lstStyle/>
                    <a:p>
                      <a:pPr algn="l"/>
                      <a:r>
                        <a:rPr sz="1050" b="0">
                          <a:solidFill>
                            <a:srgbClr val="222222"/>
                          </a:solidFill>
                        </a:rPr>
                        <a:t>déclenche le re-split récursif</a:t>
                      </a:r>
                    </a:p>
                  </a:txBody>
                  <a:tcPr anchor="ctr" marL="54864" marR="54864" marT="18288" marB="18288">
                    <a:solidFill>
                      <a:srgbClr val="FFFFFF"/>
                    </a:solidFill>
                  </a:tcPr>
                </a:tc>
              </a:tr>
              <a:tr h="310896">
                <a:tc>
                  <a:txBody>
                    <a:bodyPr wrap="square"/>
                    <a:lstStyle/>
                    <a:p>
                      <a:pPr algn="l"/>
                      <a:r>
                        <a:rPr sz="1050" b="0">
                          <a:solidFill>
                            <a:srgbClr val="222222"/>
                          </a:solidFill>
                        </a:rPr>
                        <a:t>Embeddings</a:t>
                      </a:r>
                    </a:p>
                  </a:txBody>
                  <a:tcPr anchor="ctr" marL="54864" marR="54864" marT="18288" marB="18288">
                    <a:solidFill>
                      <a:srgbClr val="EAF1F8"/>
                    </a:solidFill>
                  </a:tcPr>
                </a:tc>
                <a:tc>
                  <a:txBody>
                    <a:bodyPr wrap="square"/>
                    <a:lstStyle/>
                    <a:p>
                      <a:pPr algn="l"/>
                      <a:r>
                        <a:rPr sz="1050" b="0">
                          <a:solidFill>
                            <a:srgbClr val="222222"/>
                          </a:solidFill>
                        </a:rPr>
                        <a:t>all-MiniLM-L6-v2 (384d, CPU)</a:t>
                      </a:r>
                    </a:p>
                  </a:txBody>
                  <a:tcPr anchor="ctr" marL="54864" marR="54864" marT="18288" marB="18288">
                    <a:solidFill>
                      <a:srgbClr val="EAF1F8"/>
                    </a:solidFill>
                  </a:tcPr>
                </a:tc>
                <a:tc>
                  <a:txBody>
                    <a:bodyPr wrap="square"/>
                    <a:lstStyle/>
                    <a:p>
                      <a:pPr algn="l"/>
                      <a:r>
                        <a:rPr sz="1050" b="0">
                          <a:solidFill>
                            <a:srgbClr val="222222"/>
                          </a:solidFill>
                        </a:rPr>
                        <a:t>vectorisation des fenêtres</a:t>
                      </a:r>
                    </a:p>
                  </a:txBody>
                  <a:tcPr anchor="ctr" marL="54864" marR="54864" marT="18288" marB="18288">
                    <a:solidFill>
                      <a:srgbClr val="EAF1F8"/>
                    </a:solidFill>
                  </a:tcPr>
                </a:tc>
              </a:tr>
            </a:tbl>
          </a:graphicData>
        </a:graphic>
      </p:graphicFrame>
      <p:sp>
        <p:nvSpPr>
          <p:cNvPr id="4" name="Rounded Rectangle 3"/>
          <p:cNvSpPr/>
          <p:nvPr/>
        </p:nvSpPr>
        <p:spPr>
          <a:xfrm>
            <a:off x="457200" y="3977639"/>
            <a:ext cx="11274552" cy="1280160"/>
          </a:xfrm>
          <a:prstGeom prst="roundRect">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100">
                <a:solidFill>
                  <a:srgbClr val="1F4E79"/>
                </a:solidFill>
              </a:rPr>
              <a:t>Analyse  </a:t>
            </a:r>
            <a:r>
              <a:rPr sz="1100">
                <a:solidFill>
                  <a:srgbClr val="222222"/>
                </a:solidFill>
              </a:rPr>
              <a:t>all-MiniLM-L6-v2 est un MiniLM (Wang et al. 2020, distillation d'attention) affiné façon Sentence-BERT (Reimers et Gurevych 2019) pour que la similarité cosine reflète le sens. Sur dicte_audio_3 : 264 fenêtres, 6 frontières, 10 chunks ; coût 12 s d'embeddings (négligeable).</a:t>
            </a:r>
          </a:p>
        </p:txBody>
      </p:sp>
      <p:sp>
        <p:nvSpPr>
          <p:cNvPr id="5" name="TextBox 4"/>
          <p:cNvSpPr txBox="1"/>
          <p:nvPr/>
        </p:nvSpPr>
        <p:spPr>
          <a:xfrm>
            <a:off x="457200" y="5303520"/>
            <a:ext cx="11274552" cy="457200"/>
          </a:xfrm>
          <a:prstGeom prst="rect">
            <a:avLst/>
          </a:prstGeom>
          <a:noFill/>
        </p:spPr>
        <p:txBody>
          <a:bodyPr wrap="square">
            <a:spAutoFit/>
          </a:bodyPr>
          <a:lstStyle/>
          <a:p>
            <a:r>
              <a:rPr b="1" sz="900">
                <a:solidFill>
                  <a:srgbClr val="555555"/>
                </a:solidFill>
              </a:rPr>
              <a:t>Source(s) : </a:t>
            </a:r>
            <a:r>
              <a:rPr sz="900" u="sng">
                <a:solidFill>
                  <a:srgbClr val="1F4E79"/>
                </a:solidFill>
                <a:hlinkClick r:id="rId2"/>
              </a:rPr>
              <a:t>Sentence-BERT, EMNLP 2019</a:t>
            </a:r>
            <a:r>
              <a:rPr sz="900"/>
              <a:t>      </a:t>
            </a:r>
            <a:r>
              <a:rPr sz="900" u="sng">
                <a:solidFill>
                  <a:srgbClr val="1F4E79"/>
                </a:solidFill>
                <a:hlinkClick r:id="rId3"/>
              </a:rPr>
              <a:t>MiniLM, NeurIPS 2020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1.3  Approches sans découpage (contre-exemples)</a:t>
            </a:r>
          </a:p>
        </p:txBody>
      </p:sp>
      <p:graphicFrame>
        <p:nvGraphicFramePr>
          <p:cNvPr id="3" name="Table 2"/>
          <p:cNvGraphicFramePr>
            <a:graphicFrameLocks noGrp="1"/>
          </p:cNvGraphicFramePr>
          <p:nvPr/>
        </p:nvGraphicFramePr>
        <p:xfrm>
          <a:off x="457200" y="1097280"/>
          <a:ext cx="11274549" cy="2176272"/>
        </p:xfrm>
        <a:graphic>
          <a:graphicData uri="http://schemas.openxmlformats.org/drawingml/2006/table">
            <a:tbl>
              <a:tblPr>
                <a:tableStyleId>{5C22544A-7EE6-4342-B048-85BDC9FD1C3A}</a:tableStyleId>
              </a:tblPr>
              <a:tblGrid>
                <a:gridCol w="1715692"/>
                <a:gridCol w="3676484"/>
                <a:gridCol w="2450989"/>
                <a:gridCol w="1470593"/>
                <a:gridCol w="1960791"/>
              </a:tblGrid>
              <a:tr h="310896">
                <a:tc>
                  <a:txBody>
                    <a:bodyPr wrap="square"/>
                    <a:lstStyle/>
                    <a:p>
                      <a:pPr algn="l"/>
                      <a:r>
                        <a:rPr sz="1000" b="1">
                          <a:solidFill>
                            <a:srgbClr val="FFFFFF"/>
                          </a:solidFill>
                        </a:rPr>
                        <a:t>Pipeline</a:t>
                      </a:r>
                    </a:p>
                  </a:txBody>
                  <a:tcPr anchor="ctr" marL="54864" marR="54864" marT="18288" marB="18288">
                    <a:solidFill>
                      <a:srgbClr val="1F4E79"/>
                    </a:solidFill>
                  </a:tcPr>
                </a:tc>
                <a:tc>
                  <a:txBody>
                    <a:bodyPr wrap="square"/>
                    <a:lstStyle/>
                    <a:p>
                      <a:pPr algn="l"/>
                      <a:r>
                        <a:rPr sz="1000" b="1">
                          <a:solidFill>
                            <a:srgbClr val="FFFFFF"/>
                          </a:solidFill>
                        </a:rPr>
                        <a:t>Principe</a:t>
                      </a:r>
                    </a:p>
                  </a:txBody>
                  <a:tcPr anchor="ctr" marL="54864" marR="54864" marT="18288" marB="18288">
                    <a:solidFill>
                      <a:srgbClr val="1F4E79"/>
                    </a:solidFill>
                  </a:tcPr>
                </a:tc>
                <a:tc>
                  <a:txBody>
                    <a:bodyPr wrap="square"/>
                    <a:lstStyle/>
                    <a:p>
                      <a:pPr algn="l"/>
                      <a:r>
                        <a:rPr sz="1000" b="1">
                          <a:solidFill>
                            <a:srgbClr val="FFFFFF"/>
                          </a:solidFill>
                        </a:rPr>
                        <a:t>Modèle(s)</a:t>
                      </a:r>
                    </a:p>
                  </a:txBody>
                  <a:tcPr anchor="ctr" marL="54864" marR="54864" marT="18288" marB="18288">
                    <a:solidFill>
                      <a:srgbClr val="1F4E79"/>
                    </a:solidFill>
                  </a:tcPr>
                </a:tc>
                <a:tc>
                  <a:txBody>
                    <a:bodyPr wrap="square"/>
                    <a:lstStyle/>
                    <a:p>
                      <a:pPr algn="l"/>
                      <a:r>
                        <a:rPr sz="1000" b="1">
                          <a:solidFill>
                            <a:srgbClr val="FFFFFF"/>
                          </a:solidFill>
                        </a:rPr>
                        <a:t>Durée</a:t>
                      </a:r>
                    </a:p>
                  </a:txBody>
                  <a:tcPr anchor="ctr" marL="54864" marR="54864" marT="18288" marB="18288">
                    <a:solidFill>
                      <a:srgbClr val="1F4E79"/>
                    </a:solidFill>
                  </a:tcPr>
                </a:tc>
                <a:tc>
                  <a:txBody>
                    <a:bodyPr wrap="square"/>
                    <a:lstStyle/>
                    <a:p>
                      <a:pPr algn="l"/>
                      <a:r>
                        <a:rPr sz="1000" b="1">
                          <a:solidFill>
                            <a:srgbClr val="FFFFFF"/>
                          </a:solidFill>
                        </a:rPr>
                        <a:t>Remarque</a:t>
                      </a:r>
                    </a:p>
                  </a:txBody>
                  <a:tcPr anchor="ctr" marL="54864" marR="54864" marT="18288" marB="18288">
                    <a:solidFill>
                      <a:srgbClr val="1F4E79"/>
                    </a:solidFill>
                  </a:tcPr>
                </a:tc>
              </a:tr>
              <a:tr h="310896">
                <a:tc>
                  <a:txBody>
                    <a:bodyPr wrap="square"/>
                    <a:lstStyle/>
                    <a:p>
                      <a:pPr algn="l"/>
                      <a:r>
                        <a:rPr sz="1000" b="0">
                          <a:solidFill>
                            <a:srgbClr val="222222"/>
                          </a:solidFill>
                        </a:rPr>
                        <a:t>Multi-pass V1</a:t>
                      </a:r>
                    </a:p>
                  </a:txBody>
                  <a:tcPr anchor="ctr" marL="54864" marR="54864" marT="18288" marB="18288">
                    <a:solidFill>
                      <a:srgbClr val="FFFFFF"/>
                    </a:solidFill>
                  </a:tcPr>
                </a:tc>
                <a:tc>
                  <a:txBody>
                    <a:bodyPr wrap="square"/>
                    <a:lstStyle/>
                    <a:p>
                      <a:pPr algn="l"/>
                      <a:r>
                        <a:rPr sz="1000" b="0">
                          <a:solidFill>
                            <a:srgbClr val="222222"/>
                          </a:solidFill>
                        </a:rPr>
                        <a:t>4 extractions/chunk + 3 sections (~40 appels)</a:t>
                      </a:r>
                    </a:p>
                  </a:txBody>
                  <a:tcPr anchor="ctr" marL="54864" marR="54864" marT="18288" marB="18288">
                    <a:solidFill>
                      <a:srgbClr val="FFFFFF"/>
                    </a:solidFill>
                  </a:tcPr>
                </a:tc>
                <a:tc>
                  <a:txBody>
                    <a:bodyPr wrap="square"/>
                    <a:lstStyle/>
                    <a:p>
                      <a:pPr algn="l"/>
                      <a:r>
                        <a:rPr sz="1000" b="0">
                          <a:solidFill>
                            <a:srgbClr val="222222"/>
                          </a:solidFill>
                        </a:rPr>
                        <a:t>Mistral 7B</a:t>
                      </a:r>
                    </a:p>
                  </a:txBody>
                  <a:tcPr anchor="ctr" marL="54864" marR="54864" marT="18288" marB="18288">
                    <a:solidFill>
                      <a:srgbClr val="FFFFFF"/>
                    </a:solidFill>
                  </a:tcPr>
                </a:tc>
                <a:tc>
                  <a:txBody>
                    <a:bodyPr wrap="square"/>
                    <a:lstStyle/>
                    <a:p>
                      <a:pPr algn="l"/>
                      <a:r>
                        <a:rPr sz="1000" b="0">
                          <a:solidFill>
                            <a:srgbClr val="222222"/>
                          </a:solidFill>
                        </a:rPr>
                        <a:t>1 h 46</a:t>
                      </a:r>
                    </a:p>
                  </a:txBody>
                  <a:tcPr anchor="ctr" marL="54864" marR="54864" marT="18288" marB="18288">
                    <a:solidFill>
                      <a:srgbClr val="FFFFFF"/>
                    </a:solidFill>
                  </a:tcPr>
                </a:tc>
                <a:tc>
                  <a:txBody>
                    <a:bodyPr wrap="square"/>
                    <a:lstStyle/>
                    <a:p>
                      <a:pPr algn="l"/>
                      <a:r>
                        <a:rPr sz="1000" b="0">
                          <a:solidFill>
                            <a:srgbClr val="222222"/>
                          </a:solidFill>
                        </a:rPr>
                        <a:t>lent</a:t>
                      </a:r>
                    </a:p>
                  </a:txBody>
                  <a:tcPr anchor="ctr" marL="54864" marR="54864" marT="18288" marB="18288">
                    <a:solidFill>
                      <a:srgbClr val="FFFFFF"/>
                    </a:solidFill>
                  </a:tcPr>
                </a:tc>
              </a:tr>
              <a:tr h="310896">
                <a:tc>
                  <a:txBody>
                    <a:bodyPr wrap="square"/>
                    <a:lstStyle/>
                    <a:p>
                      <a:pPr algn="l"/>
                      <a:r>
                        <a:rPr sz="1000" b="0">
                          <a:solidFill>
                            <a:srgbClr val="222222"/>
                          </a:solidFill>
                        </a:rPr>
                        <a:t>Multi-pass V1</a:t>
                      </a:r>
                    </a:p>
                  </a:txBody>
                  <a:tcPr anchor="ctr" marL="54864" marR="54864" marT="18288" marB="18288">
                    <a:solidFill>
                      <a:srgbClr val="EAF1F8"/>
                    </a:solidFill>
                  </a:tcPr>
                </a:tc>
                <a:tc>
                  <a:txBody>
                    <a:bodyPr wrap="square"/>
                    <a:lstStyle/>
                    <a:p>
                      <a:pPr algn="l"/>
                      <a:r>
                        <a:rPr sz="1000" b="0">
                          <a:solidFill>
                            <a:srgbClr val="222222"/>
                          </a:solidFill>
                        </a:rPr>
                        <a:t>idem</a:t>
                      </a:r>
                    </a:p>
                  </a:txBody>
                  <a:tcPr anchor="ctr" marL="54864" marR="54864" marT="18288" marB="18288">
                    <a:solidFill>
                      <a:srgbClr val="EAF1F8"/>
                    </a:solidFill>
                  </a:tcPr>
                </a:tc>
                <a:tc>
                  <a:txBody>
                    <a:bodyPr wrap="square"/>
                    <a:lstStyle/>
                    <a:p>
                      <a:pPr algn="l"/>
                      <a:r>
                        <a:rPr sz="1000" b="0">
                          <a:solidFill>
                            <a:srgbClr val="222222"/>
                          </a:solidFill>
                        </a:rPr>
                        <a:t>Qwen2.5 3B</a:t>
                      </a:r>
                    </a:p>
                  </a:txBody>
                  <a:tcPr anchor="ctr" marL="54864" marR="54864" marT="18288" marB="18288">
                    <a:solidFill>
                      <a:srgbClr val="EAF1F8"/>
                    </a:solidFill>
                  </a:tcPr>
                </a:tc>
                <a:tc>
                  <a:txBody>
                    <a:bodyPr wrap="square"/>
                    <a:lstStyle/>
                    <a:p>
                      <a:pPr algn="l"/>
                      <a:r>
                        <a:rPr sz="1000" b="0">
                          <a:solidFill>
                            <a:srgbClr val="222222"/>
                          </a:solidFill>
                        </a:rPr>
                        <a:t>43 min 38</a:t>
                      </a:r>
                    </a:p>
                  </a:txBody>
                  <a:tcPr anchor="ctr" marL="54864" marR="54864" marT="18288" marB="18288">
                    <a:solidFill>
                      <a:srgbClr val="EAF1F8"/>
                    </a:solidFill>
                  </a:tcPr>
                </a:tc>
                <a:tc>
                  <a:txBody>
                    <a:bodyPr wrap="square"/>
                    <a:lstStyle/>
                    <a:p>
                      <a:pPr algn="l"/>
                      <a:r>
                        <a:rPr sz="1000" b="0">
                          <a:solidFill>
                            <a:srgbClr val="222222"/>
                          </a:solidFill>
                        </a:rPr>
                        <a:t/>
                      </a:r>
                    </a:p>
                  </a:txBody>
                  <a:tcPr anchor="ctr" marL="54864" marR="54864" marT="18288" marB="18288">
                    <a:solidFill>
                      <a:srgbClr val="EAF1F8"/>
                    </a:solidFill>
                  </a:tcPr>
                </a:tc>
              </a:tr>
              <a:tr h="310896">
                <a:tc>
                  <a:txBody>
                    <a:bodyPr wrap="square"/>
                    <a:lstStyle/>
                    <a:p>
                      <a:pPr algn="l"/>
                      <a:r>
                        <a:rPr sz="1000" b="0">
                          <a:solidFill>
                            <a:srgbClr val="222222"/>
                          </a:solidFill>
                        </a:rPr>
                        <a:t>Multi-pass V1</a:t>
                      </a:r>
                    </a:p>
                  </a:txBody>
                  <a:tcPr anchor="ctr" marL="54864" marR="54864" marT="18288" marB="18288">
                    <a:solidFill>
                      <a:srgbClr val="FFFFFF"/>
                    </a:solidFill>
                  </a:tcPr>
                </a:tc>
                <a:tc>
                  <a:txBody>
                    <a:bodyPr wrap="square"/>
                    <a:lstStyle/>
                    <a:p>
                      <a:pPr algn="l"/>
                      <a:r>
                        <a:rPr sz="1000" b="0">
                          <a:solidFill>
                            <a:srgbClr val="222222"/>
                          </a:solidFill>
                        </a:rPr>
                        <a:t>idem</a:t>
                      </a:r>
                    </a:p>
                  </a:txBody>
                  <a:tcPr anchor="ctr" marL="54864" marR="54864" marT="18288" marB="18288">
                    <a:solidFill>
                      <a:srgbClr val="FFFFFF"/>
                    </a:solidFill>
                  </a:tcPr>
                </a:tc>
                <a:tc>
                  <a:txBody>
                    <a:bodyPr wrap="square"/>
                    <a:lstStyle/>
                    <a:p>
                      <a:pPr algn="l"/>
                      <a:r>
                        <a:rPr sz="1000" b="0">
                          <a:solidFill>
                            <a:srgbClr val="222222"/>
                          </a:solidFill>
                        </a:rPr>
                        <a:t>LFM2.5-1.2B</a:t>
                      </a:r>
                    </a:p>
                  </a:txBody>
                  <a:tcPr anchor="ctr" marL="54864" marR="54864" marT="18288" marB="18288">
                    <a:solidFill>
                      <a:srgbClr val="FFFFFF"/>
                    </a:solidFill>
                  </a:tcPr>
                </a:tc>
                <a:tc>
                  <a:txBody>
                    <a:bodyPr wrap="square"/>
                    <a:lstStyle/>
                    <a:p>
                      <a:pPr algn="l"/>
                      <a:r>
                        <a:rPr sz="1000" b="0">
                          <a:solidFill>
                            <a:srgbClr val="222222"/>
                          </a:solidFill>
                        </a:rPr>
                        <a:t>18 min 14</a:t>
                      </a:r>
                    </a:p>
                  </a:txBody>
                  <a:tcPr anchor="ctr" marL="54864" marR="54864" marT="18288" marB="18288">
                    <a:solidFill>
                      <a:srgbClr val="FFFFFF"/>
                    </a:solidFill>
                  </a:tcPr>
                </a:tc>
                <a:tc>
                  <a:txBody>
                    <a:bodyPr wrap="square"/>
                    <a:lstStyle/>
                    <a:p>
                      <a:pPr algn="l"/>
                      <a:r>
                        <a:rPr sz="1000" b="1">
                          <a:solidFill>
                            <a:srgbClr val="B02A2A"/>
                          </a:solidFill>
                        </a:rPr>
                        <a:t>rapport quasi vide</a:t>
                      </a:r>
                    </a:p>
                  </a:txBody>
                  <a:tcPr anchor="ctr" marL="54864" marR="54864" marT="18288" marB="18288">
                    <a:solidFill>
                      <a:srgbClr val="FFFFFF"/>
                    </a:solidFill>
                  </a:tcPr>
                </a:tc>
              </a:tr>
              <a:tr h="310896">
                <a:tc>
                  <a:txBody>
                    <a:bodyPr wrap="square"/>
                    <a:lstStyle/>
                    <a:p>
                      <a:pPr algn="l"/>
                      <a:r>
                        <a:rPr sz="1000" b="0">
                          <a:solidFill>
                            <a:srgbClr val="222222"/>
                          </a:solidFill>
                        </a:rPr>
                        <a:t>3-calls</a:t>
                      </a:r>
                    </a:p>
                  </a:txBody>
                  <a:tcPr anchor="ctr" marL="54864" marR="54864" marT="18288" marB="18288">
                    <a:solidFill>
                      <a:srgbClr val="EAF1F8"/>
                    </a:solidFill>
                  </a:tcPr>
                </a:tc>
                <a:tc>
                  <a:txBody>
                    <a:bodyPr wrap="square"/>
                    <a:lstStyle/>
                    <a:p>
                      <a:pPr algn="l"/>
                      <a:r>
                        <a:rPr sz="1000" b="0">
                          <a:solidFill>
                            <a:srgbClr val="222222"/>
                          </a:solidFill>
                        </a:rPr>
                        <a:t>0 chunking, 3 appels (ctx 32k)</a:t>
                      </a:r>
                    </a:p>
                  </a:txBody>
                  <a:tcPr anchor="ctr" marL="54864" marR="54864" marT="18288" marB="18288">
                    <a:solidFill>
                      <a:srgbClr val="EAF1F8"/>
                    </a:solidFill>
                  </a:tcPr>
                </a:tc>
                <a:tc>
                  <a:txBody>
                    <a:bodyPr wrap="square"/>
                    <a:lstStyle/>
                    <a:p>
                      <a:pPr algn="l"/>
                      <a:r>
                        <a:rPr sz="1000" b="0">
                          <a:solidFill>
                            <a:srgbClr val="222222"/>
                          </a:solidFill>
                        </a:rPr>
                        <a:t>LFM Extract+Transcript</a:t>
                      </a:r>
                    </a:p>
                  </a:txBody>
                  <a:tcPr anchor="ctr" marL="54864" marR="54864" marT="18288" marB="18288">
                    <a:solidFill>
                      <a:srgbClr val="EAF1F8"/>
                    </a:solidFill>
                  </a:tcPr>
                </a:tc>
                <a:tc>
                  <a:txBody>
                    <a:bodyPr wrap="square"/>
                    <a:lstStyle/>
                    <a:p>
                      <a:pPr algn="l"/>
                      <a:r>
                        <a:rPr sz="1000" b="0">
                          <a:solidFill>
                            <a:srgbClr val="222222"/>
                          </a:solidFill>
                        </a:rPr>
                        <a:t>6 min 10</a:t>
                      </a:r>
                    </a:p>
                  </a:txBody>
                  <a:tcPr anchor="ctr" marL="54864" marR="54864" marT="18288" marB="18288">
                    <a:solidFill>
                      <a:srgbClr val="EAF1F8"/>
                    </a:solidFill>
                  </a:tcPr>
                </a:tc>
                <a:tc>
                  <a:txBody>
                    <a:bodyPr wrap="square"/>
                    <a:lstStyle/>
                    <a:p>
                      <a:pPr algn="l"/>
                      <a:r>
                        <a:rPr sz="1000" b="0">
                          <a:solidFill>
                            <a:srgbClr val="222222"/>
                          </a:solidFill>
                        </a:rPr>
                        <a:t>le plus rapide</a:t>
                      </a:r>
                    </a:p>
                  </a:txBody>
                  <a:tcPr anchor="ctr" marL="54864" marR="54864" marT="18288" marB="18288">
                    <a:solidFill>
                      <a:srgbClr val="EAF1F8"/>
                    </a:solidFill>
                  </a:tcPr>
                </a:tc>
              </a:tr>
              <a:tr h="310896">
                <a:tc>
                  <a:txBody>
                    <a:bodyPr wrap="square"/>
                    <a:lstStyle/>
                    <a:p>
                      <a:pPr algn="l"/>
                      <a:r>
                        <a:rPr sz="1000" b="0">
                          <a:solidFill>
                            <a:srgbClr val="222222"/>
                          </a:solidFill>
                        </a:rPr>
                        <a:t>one-shot</a:t>
                      </a:r>
                    </a:p>
                  </a:txBody>
                  <a:tcPr anchor="ctr" marL="54864" marR="54864" marT="18288" marB="18288">
                    <a:solidFill>
                      <a:srgbClr val="FFFFFF"/>
                    </a:solidFill>
                  </a:tcPr>
                </a:tc>
                <a:tc>
                  <a:txBody>
                    <a:bodyPr wrap="square"/>
                    <a:lstStyle/>
                    <a:p>
                      <a:pPr algn="l"/>
                      <a:r>
                        <a:rPr sz="1000" b="0">
                          <a:solidFill>
                            <a:srgbClr val="222222"/>
                          </a:solidFill>
                        </a:rPr>
                        <a:t>tout en 1 appel</a:t>
                      </a:r>
                    </a:p>
                  </a:txBody>
                  <a:tcPr anchor="ctr" marL="54864" marR="54864" marT="18288" marB="18288">
                    <a:solidFill>
                      <a:srgbClr val="FFFFFF"/>
                    </a:solidFill>
                  </a:tcPr>
                </a:tc>
                <a:tc>
                  <a:txBody>
                    <a:bodyPr wrap="square"/>
                    <a:lstStyle/>
                    <a:p>
                      <a:pPr algn="l"/>
                      <a:r>
                        <a:rPr sz="1000" b="0">
                          <a:solidFill>
                            <a:srgbClr val="222222"/>
                          </a:solidFill>
                        </a:rPr>
                        <a:t>LFM2-2.6B</a:t>
                      </a:r>
                    </a:p>
                  </a:txBody>
                  <a:tcPr anchor="ctr" marL="54864" marR="54864" marT="18288" marB="18288">
                    <a:solidFill>
                      <a:srgbClr val="FFFFFF"/>
                    </a:solidFill>
                  </a:tcPr>
                </a:tc>
                <a:tc>
                  <a:txBody>
                    <a:bodyPr wrap="square"/>
                    <a:lstStyle/>
                    <a:p>
                      <a:pPr algn="l"/>
                      <a:r>
                        <a:rPr sz="1000" b="0">
                          <a:solidFill>
                            <a:srgbClr val="222222"/>
                          </a:solidFill>
                        </a:rPr>
                        <a:t>29 min 09</a:t>
                      </a:r>
                    </a:p>
                  </a:txBody>
                  <a:tcPr anchor="ctr" marL="54864" marR="54864" marT="18288" marB="18288">
                    <a:solidFill>
                      <a:srgbClr val="FFFFFF"/>
                    </a:solidFill>
                  </a:tcPr>
                </a:tc>
                <a:tc>
                  <a:txBody>
                    <a:bodyPr wrap="square"/>
                    <a:lstStyle/>
                    <a:p>
                      <a:pPr algn="l"/>
                      <a:r>
                        <a:rPr sz="1000" b="0">
                          <a:solidFill>
                            <a:srgbClr val="222222"/>
                          </a:solidFill>
                        </a:rPr>
                        <a:t/>
                      </a:r>
                    </a:p>
                  </a:txBody>
                  <a:tcPr anchor="ctr" marL="54864" marR="54864" marT="18288" marB="18288">
                    <a:solidFill>
                      <a:srgbClr val="FFFFFF"/>
                    </a:solidFill>
                  </a:tcPr>
                </a:tc>
              </a:tr>
              <a:tr h="310896">
                <a:tc>
                  <a:txBody>
                    <a:bodyPr wrap="square"/>
                    <a:lstStyle/>
                    <a:p>
                      <a:pPr algn="l"/>
                      <a:r>
                        <a:rPr sz="1000" b="0">
                          <a:solidFill>
                            <a:srgbClr val="222222"/>
                          </a:solidFill>
                        </a:rPr>
                        <a:t>one-shot</a:t>
                      </a:r>
                    </a:p>
                  </a:txBody>
                  <a:tcPr anchor="ctr" marL="54864" marR="54864" marT="18288" marB="18288">
                    <a:solidFill>
                      <a:srgbClr val="EAF1F8"/>
                    </a:solidFill>
                  </a:tcPr>
                </a:tc>
                <a:tc>
                  <a:txBody>
                    <a:bodyPr wrap="square"/>
                    <a:lstStyle/>
                    <a:p>
                      <a:pPr algn="l"/>
                      <a:r>
                        <a:rPr sz="1000" b="0">
                          <a:solidFill>
                            <a:srgbClr val="222222"/>
                          </a:solidFill>
                        </a:rPr>
                        <a:t>tout en 1 appel</a:t>
                      </a:r>
                    </a:p>
                  </a:txBody>
                  <a:tcPr anchor="ctr" marL="54864" marR="54864" marT="18288" marB="18288">
                    <a:solidFill>
                      <a:srgbClr val="EAF1F8"/>
                    </a:solidFill>
                  </a:tcPr>
                </a:tc>
                <a:tc>
                  <a:txBody>
                    <a:bodyPr wrap="square"/>
                    <a:lstStyle/>
                    <a:p>
                      <a:pPr algn="l"/>
                      <a:r>
                        <a:rPr sz="1000" b="0">
                          <a:solidFill>
                            <a:srgbClr val="222222"/>
                          </a:solidFill>
                        </a:rPr>
                        <a:t>LFM2.5-1.2B</a:t>
                      </a:r>
                    </a:p>
                  </a:txBody>
                  <a:tcPr anchor="ctr" marL="54864" marR="54864" marT="18288" marB="18288">
                    <a:solidFill>
                      <a:srgbClr val="EAF1F8"/>
                    </a:solidFill>
                  </a:tcPr>
                </a:tc>
                <a:tc>
                  <a:txBody>
                    <a:bodyPr wrap="square"/>
                    <a:lstStyle/>
                    <a:p>
                      <a:pPr algn="l"/>
                      <a:r>
                        <a:rPr sz="1000" b="0">
                          <a:solidFill>
                            <a:srgbClr val="222222"/>
                          </a:solidFill>
                        </a:rPr>
                        <a:t>4 min 17</a:t>
                      </a:r>
                    </a:p>
                  </a:txBody>
                  <a:tcPr anchor="ctr" marL="54864" marR="54864" marT="18288" marB="18288">
                    <a:solidFill>
                      <a:srgbClr val="EAF1F8"/>
                    </a:solidFill>
                  </a:tcPr>
                </a:tc>
                <a:tc>
                  <a:txBody>
                    <a:bodyPr wrap="square"/>
                    <a:lstStyle/>
                    <a:p>
                      <a:pPr algn="l"/>
                      <a:r>
                        <a:rPr sz="1000" b="0">
                          <a:solidFill>
                            <a:srgbClr val="222222"/>
                          </a:solidFill>
                        </a:rPr>
                        <a:t>1 509 car. (court)</a:t>
                      </a:r>
                    </a:p>
                  </a:txBody>
                  <a:tcPr anchor="ctr" marL="54864" marR="54864" marT="18288" marB="18288">
                    <a:solidFill>
                      <a:srgbClr val="EAF1F8"/>
                    </a:solidFill>
                  </a:tcPr>
                </a:tc>
              </a:tr>
            </a:tbl>
          </a:graphicData>
        </a:graphic>
      </p:graphicFrame>
      <p:sp>
        <p:nvSpPr>
          <p:cNvPr id="4" name="Rounded Rectangle 3"/>
          <p:cNvSpPr/>
          <p:nvPr/>
        </p:nvSpPr>
        <p:spPr>
          <a:xfrm>
            <a:off x="457200" y="4846320"/>
            <a:ext cx="11274552" cy="1097280"/>
          </a:xfrm>
          <a:prstGeom prst="roundRect">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200">
                <a:solidFill>
                  <a:srgbClr val="1F4E79"/>
                </a:solidFill>
              </a:rPr>
              <a:t>Verdict  </a:t>
            </a:r>
            <a:r>
              <a:rPr sz="1200">
                <a:solidFill>
                  <a:srgbClr val="222222"/>
                </a:solidFill>
              </a:rPr>
              <a:t>Les approches sans découpage sont spectaculairement rapides mais produisent des CR trop courts ou incomplets sur 1 h. Le découpage par frontières reste le meilleur compromis exhaustivité / fiabilité.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00"/>
          <a:lstStyle/>
          <a:p>
            <a:pPr algn="ctr"/>
            <a:r>
              <a:rPr sz="2800" b="1">
                <a:solidFill>
                  <a:srgbClr val="9DC3E6"/>
                </a:solidFill>
              </a:rPr>
              <a:t>Partie 2</a:t>
            </a:r>
          </a:p>
          <a:p>
            <a:r>
              <a:rPr sz="4000" b="1">
                <a:solidFill>
                  <a:srgbClr val="FFFFFF"/>
                </a:solidFill>
              </a:rPr>
              <a:t>Les architectures</a:t>
            </a:r>
          </a:p>
          <a:p>
            <a:pPr>
              <a:spcBef>
                <a:spcPts val="1000"/>
              </a:spcBef>
            </a:pPr>
            <a:r>
              <a:rPr sz="1600">
                <a:solidFill>
                  <a:srgbClr val="D6E4F0"/>
                </a:solidFill>
              </a:rPr>
              <a:t>Extraction (assemblage déterministe) puis refonte agentique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2.A  Architecture extraction + assemblage déterministe</a:t>
            </a:r>
          </a:p>
        </p:txBody>
      </p:sp>
      <p:sp>
        <p:nvSpPr>
          <p:cNvPr id="3" name="TextBox 2"/>
          <p:cNvSpPr txBox="1"/>
          <p:nvPr/>
        </p:nvSpPr>
        <p:spPr>
          <a:xfrm>
            <a:off x="457200" y="1005840"/>
            <a:ext cx="11274552" cy="548640"/>
          </a:xfrm>
          <a:prstGeom prst="rect">
            <a:avLst/>
          </a:prstGeom>
          <a:noFill/>
        </p:spPr>
        <p:txBody>
          <a:bodyPr wrap="square">
            <a:spAutoFit/>
          </a:bodyPr>
          <a:lstStyle/>
          <a:p>
            <a:r>
              <a:rPr sz="1300" i="0" b="0">
                <a:solidFill>
                  <a:srgbClr val="222222"/>
                </a:solidFill>
              </a:rPr>
              <a:t>Par chunk : résumé JSON + extraction JSON (few-shot négatifs), puis assemblage 100 % Python. Mesuré sur dicte_audio_3 (266 seg, 11 chunks).</a:t>
            </a:r>
          </a:p>
        </p:txBody>
      </p:sp>
      <p:graphicFrame>
        <p:nvGraphicFramePr>
          <p:cNvPr id="4" name="Table 3"/>
          <p:cNvGraphicFramePr>
            <a:graphicFrameLocks noGrp="1"/>
          </p:cNvGraphicFramePr>
          <p:nvPr/>
        </p:nvGraphicFramePr>
        <p:xfrm>
          <a:off x="457200" y="1691640"/>
          <a:ext cx="10058397" cy="1243584"/>
        </p:xfrm>
        <a:graphic>
          <a:graphicData uri="http://schemas.openxmlformats.org/drawingml/2006/table">
            <a:tbl>
              <a:tblPr>
                <a:tableStyleId>{5C22544A-7EE6-4342-B048-85BDC9FD1C3A}</a:tableStyleId>
              </a:tblPr>
              <a:tblGrid>
                <a:gridCol w="1938968"/>
                <a:gridCol w="1938968"/>
                <a:gridCol w="1696597"/>
                <a:gridCol w="1575412"/>
                <a:gridCol w="1454226"/>
                <a:gridCol w="1454226"/>
              </a:tblGrid>
              <a:tr h="310896">
                <a:tc>
                  <a:txBody>
                    <a:bodyPr wrap="square"/>
                    <a:lstStyle/>
                    <a:p>
                      <a:pPr algn="l"/>
                      <a:r>
                        <a:rPr sz="1050" b="1">
                          <a:solidFill>
                            <a:srgbClr val="FFFFFF"/>
                          </a:solidFill>
                        </a:rPr>
                        <a:t>Run</a:t>
                      </a:r>
                    </a:p>
                  </a:txBody>
                  <a:tcPr anchor="ctr" marL="54864" marR="54864" marT="18288" marB="18288">
                    <a:solidFill>
                      <a:srgbClr val="1F4E79"/>
                    </a:solidFill>
                  </a:tcPr>
                </a:tc>
                <a:tc>
                  <a:txBody>
                    <a:bodyPr wrap="square"/>
                    <a:lstStyle/>
                    <a:p>
                      <a:pPr algn="l"/>
                      <a:r>
                        <a:rPr sz="1050" b="1">
                          <a:solidFill>
                            <a:srgbClr val="FFFFFF"/>
                          </a:solidFill>
                        </a:rPr>
                        <a:t>Modèle</a:t>
                      </a:r>
                    </a:p>
                  </a:txBody>
                  <a:tcPr anchor="ctr" marL="54864" marR="54864" marT="18288" marB="18288">
                    <a:solidFill>
                      <a:srgbClr val="1F4E79"/>
                    </a:solidFill>
                  </a:tcPr>
                </a:tc>
                <a:tc>
                  <a:txBody>
                    <a:bodyPr wrap="square"/>
                    <a:lstStyle/>
                    <a:p>
                      <a:pPr algn="l"/>
                      <a:r>
                        <a:rPr sz="1050" b="1">
                          <a:solidFill>
                            <a:srgbClr val="FFFFFF"/>
                          </a:solidFill>
                        </a:rPr>
                        <a:t>Durée</a:t>
                      </a:r>
                    </a:p>
                  </a:txBody>
                  <a:tcPr anchor="ctr" marL="54864" marR="54864" marT="18288" marB="18288">
                    <a:solidFill>
                      <a:srgbClr val="1F4E79"/>
                    </a:solidFill>
                  </a:tcPr>
                </a:tc>
                <a:tc>
                  <a:txBody>
                    <a:bodyPr wrap="square"/>
                    <a:lstStyle/>
                    <a:p>
                      <a:pPr algn="l"/>
                      <a:r>
                        <a:rPr sz="1050" b="1">
                          <a:solidFill>
                            <a:srgbClr val="FFFFFF"/>
                          </a:solidFill>
                        </a:rPr>
                        <a:t>RAM pic</a:t>
                      </a:r>
                    </a:p>
                  </a:txBody>
                  <a:tcPr anchor="ctr" marL="54864" marR="54864" marT="18288" marB="18288">
                    <a:solidFill>
                      <a:srgbClr val="1F4E79"/>
                    </a:solidFill>
                  </a:tcPr>
                </a:tc>
                <a:tc>
                  <a:txBody>
                    <a:bodyPr wrap="square"/>
                    <a:lstStyle/>
                    <a:p>
                      <a:pPr algn="l"/>
                      <a:r>
                        <a:rPr sz="1050" b="1">
                          <a:solidFill>
                            <a:srgbClr val="FFFFFF"/>
                          </a:solidFill>
                        </a:rPr>
                        <a:t>Décisions</a:t>
                      </a:r>
                    </a:p>
                  </a:txBody>
                  <a:tcPr anchor="ctr" marL="54864" marR="54864" marT="18288" marB="18288">
                    <a:solidFill>
                      <a:srgbClr val="1F4E79"/>
                    </a:solidFill>
                  </a:tcPr>
                </a:tc>
                <a:tc>
                  <a:txBody>
                    <a:bodyPr wrap="square"/>
                    <a:lstStyle/>
                    <a:p>
                      <a:pPr algn="l"/>
                      <a:r>
                        <a:rPr sz="1050" b="1">
                          <a:solidFill>
                            <a:srgbClr val="FFFFFF"/>
                          </a:solidFill>
                        </a:rPr>
                        <a:t>Actions</a:t>
                      </a:r>
                    </a:p>
                  </a:txBody>
                  <a:tcPr anchor="ctr" marL="54864" marR="54864" marT="18288" marB="18288">
                    <a:solidFill>
                      <a:srgbClr val="1F4E79"/>
                    </a:solidFill>
                  </a:tcPr>
                </a:tc>
              </a:tr>
              <a:tr h="310896">
                <a:tc>
                  <a:txBody>
                    <a:bodyPr wrap="square"/>
                    <a:lstStyle/>
                    <a:p>
                      <a:pPr algn="l"/>
                      <a:r>
                        <a:rPr sz="1050" b="0">
                          <a:solidFill>
                            <a:srgbClr val="222222"/>
                          </a:solidFill>
                        </a:rPr>
                        <a:t>boundary (V3)</a:t>
                      </a:r>
                    </a:p>
                  </a:txBody>
                  <a:tcPr anchor="ctr" marL="54864" marR="54864" marT="18288" marB="18288">
                    <a:solidFill>
                      <a:srgbClr val="FFFFFF"/>
                    </a:solidFill>
                  </a:tcPr>
                </a:tc>
                <a:tc>
                  <a:txBody>
                    <a:bodyPr wrap="square"/>
                    <a:lstStyle/>
                    <a:p>
                      <a:pPr algn="l"/>
                      <a:r>
                        <a:rPr sz="1050" b="0">
                          <a:solidFill>
                            <a:srgbClr val="222222"/>
                          </a:solidFill>
                        </a:rPr>
                        <a:t>Ministral 3B</a:t>
                      </a:r>
                    </a:p>
                  </a:txBody>
                  <a:tcPr anchor="ctr" marL="54864" marR="54864" marT="18288" marB="18288">
                    <a:solidFill>
                      <a:srgbClr val="FFFFFF"/>
                    </a:solidFill>
                  </a:tcPr>
                </a:tc>
                <a:tc>
                  <a:txBody>
                    <a:bodyPr wrap="square"/>
                    <a:lstStyle/>
                    <a:p>
                      <a:pPr algn="l"/>
                      <a:r>
                        <a:rPr sz="1050" b="0">
                          <a:solidFill>
                            <a:srgbClr val="222222"/>
                          </a:solidFill>
                        </a:rPr>
                        <a:t>29 min 15</a:t>
                      </a:r>
                    </a:p>
                  </a:txBody>
                  <a:tcPr anchor="ctr" marL="54864" marR="54864" marT="18288" marB="18288">
                    <a:solidFill>
                      <a:srgbClr val="FFFFFF"/>
                    </a:solidFill>
                  </a:tcPr>
                </a:tc>
                <a:tc>
                  <a:txBody>
                    <a:bodyPr wrap="square"/>
                    <a:lstStyle/>
                    <a:p>
                      <a:pPr algn="l"/>
                      <a:r>
                        <a:rPr sz="1050" b="0">
                          <a:solidFill>
                            <a:srgbClr val="222222"/>
                          </a:solidFill>
                        </a:rPr>
                        <a:t>2 945 Mo</a:t>
                      </a:r>
                    </a:p>
                  </a:txBody>
                  <a:tcPr anchor="ctr" marL="54864" marR="54864" marT="18288" marB="18288">
                    <a:solidFill>
                      <a:srgbClr val="FFFFFF"/>
                    </a:solidFill>
                  </a:tcPr>
                </a:tc>
                <a:tc>
                  <a:txBody>
                    <a:bodyPr wrap="square"/>
                    <a:lstStyle/>
                    <a:p>
                      <a:pPr algn="l"/>
                      <a:r>
                        <a:rPr sz="1050" b="0">
                          <a:solidFill>
                            <a:srgbClr val="222222"/>
                          </a:solidFill>
                        </a:rPr>
                        <a:t>n.c.</a:t>
                      </a:r>
                    </a:p>
                  </a:txBody>
                  <a:tcPr anchor="ctr" marL="54864" marR="54864" marT="18288" marB="18288">
                    <a:solidFill>
                      <a:srgbClr val="FFFFFF"/>
                    </a:solidFill>
                  </a:tcPr>
                </a:tc>
                <a:tc>
                  <a:txBody>
                    <a:bodyPr wrap="square"/>
                    <a:lstStyle/>
                    <a:p>
                      <a:pPr algn="l"/>
                      <a:r>
                        <a:rPr sz="1050" b="0">
                          <a:solidFill>
                            <a:srgbClr val="222222"/>
                          </a:solidFill>
                        </a:rPr>
                        <a:t>n.c.</a:t>
                      </a:r>
                    </a:p>
                  </a:txBody>
                  <a:tcPr anchor="ctr" marL="54864" marR="54864" marT="18288" marB="18288">
                    <a:solidFill>
                      <a:srgbClr val="FFFFFF"/>
                    </a:solidFill>
                  </a:tcPr>
                </a:tc>
              </a:tr>
              <a:tr h="310896">
                <a:tc>
                  <a:txBody>
                    <a:bodyPr wrap="square"/>
                    <a:lstStyle/>
                    <a:p>
                      <a:pPr algn="l"/>
                      <a:r>
                        <a:rPr sz="1050" b="0">
                          <a:solidFill>
                            <a:srgbClr val="222222"/>
                          </a:solidFill>
                        </a:rPr>
                        <a:t>extraction (V4)</a:t>
                      </a:r>
                    </a:p>
                  </a:txBody>
                  <a:tcPr anchor="ctr" marL="54864" marR="54864" marT="18288" marB="18288">
                    <a:solidFill>
                      <a:srgbClr val="EAF1F8"/>
                    </a:solidFill>
                  </a:tcPr>
                </a:tc>
                <a:tc>
                  <a:txBody>
                    <a:bodyPr wrap="square"/>
                    <a:lstStyle/>
                    <a:p>
                      <a:pPr algn="l"/>
                      <a:r>
                        <a:rPr sz="1050" b="0">
                          <a:solidFill>
                            <a:srgbClr val="222222"/>
                          </a:solidFill>
                        </a:rPr>
                        <a:t>Ministral 3B</a:t>
                      </a:r>
                    </a:p>
                  </a:txBody>
                  <a:tcPr anchor="ctr" marL="54864" marR="54864" marT="18288" marB="18288">
                    <a:solidFill>
                      <a:srgbClr val="EAF1F8"/>
                    </a:solidFill>
                  </a:tcPr>
                </a:tc>
                <a:tc>
                  <a:txBody>
                    <a:bodyPr wrap="square"/>
                    <a:lstStyle/>
                    <a:p>
                      <a:pPr algn="l"/>
                      <a:r>
                        <a:rPr sz="1050" b="1">
                          <a:solidFill>
                            <a:srgbClr val="B02A2A"/>
                          </a:solidFill>
                        </a:rPr>
                        <a:t>51 min 52</a:t>
                      </a:r>
                    </a:p>
                  </a:txBody>
                  <a:tcPr anchor="ctr" marL="54864" marR="54864" marT="18288" marB="18288">
                    <a:solidFill>
                      <a:srgbClr val="EAF1F8"/>
                    </a:solidFill>
                  </a:tcPr>
                </a:tc>
                <a:tc>
                  <a:txBody>
                    <a:bodyPr wrap="square"/>
                    <a:lstStyle/>
                    <a:p>
                      <a:pPr algn="l"/>
                      <a:r>
                        <a:rPr sz="1050" b="0">
                          <a:solidFill>
                            <a:srgbClr val="222222"/>
                          </a:solidFill>
                        </a:rPr>
                        <a:t>5 825 Mo</a:t>
                      </a:r>
                    </a:p>
                  </a:txBody>
                  <a:tcPr anchor="ctr" marL="54864" marR="54864" marT="18288" marB="18288">
                    <a:solidFill>
                      <a:srgbClr val="EAF1F8"/>
                    </a:solidFill>
                  </a:tcPr>
                </a:tc>
                <a:tc>
                  <a:txBody>
                    <a:bodyPr wrap="square"/>
                    <a:lstStyle/>
                    <a:p>
                      <a:pPr algn="l"/>
                      <a:r>
                        <a:rPr sz="1050" b="0">
                          <a:solidFill>
                            <a:srgbClr val="222222"/>
                          </a:solidFill>
                        </a:rPr>
                        <a:t>0</a:t>
                      </a:r>
                    </a:p>
                  </a:txBody>
                  <a:tcPr anchor="ctr" marL="54864" marR="54864" marT="18288" marB="18288">
                    <a:solidFill>
                      <a:srgbClr val="EAF1F8"/>
                    </a:solidFill>
                  </a:tcPr>
                </a:tc>
                <a:tc>
                  <a:txBody>
                    <a:bodyPr wrap="square"/>
                    <a:lstStyle/>
                    <a:p>
                      <a:pPr algn="l"/>
                      <a:r>
                        <a:rPr sz="1050" b="0">
                          <a:solidFill>
                            <a:srgbClr val="222222"/>
                          </a:solidFill>
                        </a:rPr>
                        <a:t>0</a:t>
                      </a:r>
                    </a:p>
                  </a:txBody>
                  <a:tcPr anchor="ctr" marL="54864" marR="54864" marT="18288" marB="18288">
                    <a:solidFill>
                      <a:srgbClr val="EAF1F8"/>
                    </a:solidFill>
                  </a:tcPr>
                </a:tc>
              </a:tr>
              <a:tr h="310896">
                <a:tc>
                  <a:txBody>
                    <a:bodyPr wrap="square"/>
                    <a:lstStyle/>
                    <a:p>
                      <a:pPr algn="l"/>
                      <a:r>
                        <a:rPr sz="1050" b="0">
                          <a:solidFill>
                            <a:srgbClr val="222222"/>
                          </a:solidFill>
                        </a:rPr>
                        <a:t>extraction (V4)</a:t>
                      </a:r>
                    </a:p>
                  </a:txBody>
                  <a:tcPr anchor="ctr" marL="54864" marR="54864" marT="18288" marB="18288">
                    <a:solidFill>
                      <a:srgbClr val="FFFFFF"/>
                    </a:solidFill>
                  </a:tcPr>
                </a:tc>
                <a:tc>
                  <a:txBody>
                    <a:bodyPr wrap="square"/>
                    <a:lstStyle/>
                    <a:p>
                      <a:pPr algn="l"/>
                      <a:r>
                        <a:rPr sz="1050" b="0">
                          <a:solidFill>
                            <a:srgbClr val="222222"/>
                          </a:solidFill>
                        </a:rPr>
                        <a:t>Qwen2.5 3B</a:t>
                      </a:r>
                    </a:p>
                  </a:txBody>
                  <a:tcPr anchor="ctr" marL="54864" marR="54864" marT="18288" marB="18288">
                    <a:solidFill>
                      <a:srgbClr val="FFFFFF"/>
                    </a:solidFill>
                  </a:tcPr>
                </a:tc>
                <a:tc>
                  <a:txBody>
                    <a:bodyPr wrap="square"/>
                    <a:lstStyle/>
                    <a:p>
                      <a:pPr algn="l"/>
                      <a:r>
                        <a:rPr sz="1050" b="1">
                          <a:solidFill>
                            <a:srgbClr val="1E6B2F"/>
                          </a:solidFill>
                        </a:rPr>
                        <a:t>16 min 10</a:t>
                      </a:r>
                    </a:p>
                  </a:txBody>
                  <a:tcPr anchor="ctr" marL="54864" marR="54864" marT="18288" marB="18288">
                    <a:solidFill>
                      <a:srgbClr val="FFFFFF"/>
                    </a:solidFill>
                  </a:tcPr>
                </a:tc>
                <a:tc>
                  <a:txBody>
                    <a:bodyPr wrap="square"/>
                    <a:lstStyle/>
                    <a:p>
                      <a:pPr algn="l"/>
                      <a:r>
                        <a:rPr sz="1050" b="0">
                          <a:solidFill>
                            <a:srgbClr val="222222"/>
                          </a:solidFill>
                        </a:rPr>
                        <a:t>4 165 Mo</a:t>
                      </a:r>
                    </a:p>
                  </a:txBody>
                  <a:tcPr anchor="ctr" marL="54864" marR="54864" marT="18288" marB="18288">
                    <a:solidFill>
                      <a:srgbClr val="FFFFFF"/>
                    </a:solidFill>
                  </a:tcPr>
                </a:tc>
                <a:tc>
                  <a:txBody>
                    <a:bodyPr wrap="square"/>
                    <a:lstStyle/>
                    <a:p>
                      <a:pPr algn="l"/>
                      <a:r>
                        <a:rPr sz="1050" b="0">
                          <a:solidFill>
                            <a:srgbClr val="222222"/>
                          </a:solidFill>
                        </a:rPr>
                        <a:t>5</a:t>
                      </a:r>
                    </a:p>
                  </a:txBody>
                  <a:tcPr anchor="ctr" marL="54864" marR="54864" marT="18288" marB="18288">
                    <a:solidFill>
                      <a:srgbClr val="FFFFFF"/>
                    </a:solidFill>
                  </a:tcPr>
                </a:tc>
                <a:tc>
                  <a:txBody>
                    <a:bodyPr wrap="square"/>
                    <a:lstStyle/>
                    <a:p>
                      <a:pPr algn="l"/>
                      <a:r>
                        <a:rPr sz="1050" b="0">
                          <a:solidFill>
                            <a:srgbClr val="222222"/>
                          </a:solidFill>
                        </a:rPr>
                        <a:t>9</a:t>
                      </a:r>
                    </a:p>
                  </a:txBody>
                  <a:tcPr anchor="ctr" marL="54864" marR="54864" marT="18288" marB="18288">
                    <a:solidFill>
                      <a:srgbClr val="FFFFFF"/>
                    </a:solidFill>
                  </a:tcPr>
                </a:tc>
              </a:tr>
            </a:tbl>
          </a:graphicData>
        </a:graphic>
      </p:graphicFrame>
      <p:sp>
        <p:nvSpPr>
          <p:cNvPr id="5" name="Rounded Rectangle 4"/>
          <p:cNvSpPr/>
          <p:nvPr/>
        </p:nvSpPr>
        <p:spPr>
          <a:xfrm>
            <a:off x="457200" y="3383280"/>
            <a:ext cx="11274552" cy="731520"/>
          </a:xfrm>
          <a:prstGeom prst="round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200">
                <a:solidFill>
                  <a:srgbClr val="1E6B2F"/>
                </a:solidFill>
              </a:rPr>
              <a:t>Verdict  </a:t>
            </a:r>
            <a:r>
              <a:rPr sz="1200">
                <a:solidFill>
                  <a:srgbClr val="222222"/>
                </a:solidFill>
              </a:rPr>
              <a:t>Adopté (extraction JSON + assemblage déterministe), pour la fiabilité du format. Qwen2.5 3B est environ 3 fois plus rapide que Ministral 3B et ose extraire des items.</a:t>
            </a:r>
          </a:p>
        </p:txBody>
      </p:sp>
      <p:sp>
        <p:nvSpPr>
          <p:cNvPr id="6" name="Rounded Rectangle 5"/>
          <p:cNvSpPr/>
          <p:nvPr/>
        </p:nvSpPr>
        <p:spPr>
          <a:xfrm>
            <a:off x="457200" y="4206240"/>
            <a:ext cx="11274552" cy="13716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150">
                <a:solidFill>
                  <a:srgbClr val="8A6D00"/>
                </a:solidFill>
              </a:rPr>
              <a:t>Note  </a:t>
            </a:r>
            <a:r>
              <a:rPr sz="1150">
                <a:solidFill>
                  <a:srgbClr val="222222"/>
                </a:solidFill>
              </a:rPr>
              <a:t>Attention : quantité n'est pas qualité. Les 5 décisions de Qwen sont en réalité 2 récits d'un projet passé de Maya, 1 non-décision et 2 suggestions. Le 0 de Ministral est plus FIDÈLE (c'est une prise de contact sans décision). Extraire beaucoup peut vouloir dire halluciner beaucoup.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2.A  Même passage : Qwen invente des décisions, Ministral reste fidèle</a:t>
            </a:r>
          </a:p>
        </p:txBody>
      </p:sp>
      <p:sp>
        <p:nvSpPr>
          <p:cNvPr id="3" name="TextBox 2"/>
          <p:cNvSpPr txBox="1"/>
          <p:nvPr/>
        </p:nvSpPr>
        <p:spPr>
          <a:xfrm>
            <a:off x="457200" y="1005840"/>
            <a:ext cx="11274552" cy="548640"/>
          </a:xfrm>
          <a:prstGeom prst="rect">
            <a:avLst/>
          </a:prstGeom>
          <a:noFill/>
        </p:spPr>
        <p:txBody>
          <a:bodyPr wrap="square">
            <a:spAutoFit/>
          </a:bodyPr>
          <a:lstStyle/>
          <a:p>
            <a:r>
              <a:rPr sz="1200" i="0" b="0">
                <a:solidFill>
                  <a:srgbClr val="222222"/>
                </a:solidFill>
              </a:rPr>
              <a:t>L'outil PPT de Maya est un projet PASSÉ qu'elle raconte. Qwen le transforme en décisions de la réunion ; Ministral indique correctement qu'aucune décision n'a été prise.</a:t>
            </a:r>
          </a:p>
        </p:txBody>
      </p:sp>
      <p:sp>
        <p:nvSpPr>
          <p:cNvPr id="4" name="Rounded Rectangle 3"/>
          <p:cNvSpPr/>
          <p:nvPr/>
        </p:nvSpPr>
        <p:spPr>
          <a:xfrm>
            <a:off x="457200" y="1691640"/>
            <a:ext cx="5440680" cy="3108960"/>
          </a:xfrm>
          <a:prstGeom prst="roundRect">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b="1" sz="1300">
                <a:solidFill>
                  <a:srgbClr val="B02A2A"/>
                </a:solidFill>
              </a:rPr>
              <a:t>Qwen2.5 3B : fabrique des décisions</a:t>
            </a:r>
          </a:p>
          <a:p>
            <a:pPr>
              <a:spcBef>
                <a:spcPts val="400"/>
              </a:spcBef>
            </a:pPr>
            <a:r>
              <a:rPr sz="1050" i="1">
                <a:solidFill>
                  <a:srgbClr val="222222"/>
                </a:solidFill>
              </a:rPr>
              <a:t>« Décisions : Automatisation de la chaîne de traitement... ; Définition d'une structure préétablie pour le rapport. » Or ce sont des éléments d'un projet ANTÉRIEUR, pas des décisions prises en séance.</a:t>
            </a:r>
          </a:p>
          <a:p>
            <a:pPr>
              <a:spcBef>
                <a:spcPts val="400"/>
              </a:spcBef>
            </a:pPr>
            <a:r>
              <a:rPr sz="850">
                <a:solidFill>
                  <a:srgbClr val="2E75B6"/>
                </a:solidFill>
              </a:rPr>
              <a:t>Source : archi_extraction_v4_qwen2.5-3b.md</a:t>
            </a:r>
          </a:p>
        </p:txBody>
      </p:sp>
      <p:sp>
        <p:nvSpPr>
          <p:cNvPr id="5" name="Rounded Rectangle 4"/>
          <p:cNvSpPr/>
          <p:nvPr/>
        </p:nvSpPr>
        <p:spPr>
          <a:xfrm>
            <a:off x="6291072" y="1691640"/>
            <a:ext cx="5440680" cy="3108960"/>
          </a:xfrm>
          <a:prstGeom prst="round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b="1" sz="1300">
                <a:solidFill>
                  <a:srgbClr val="1E6B2F"/>
                </a:solidFill>
              </a:rPr>
              <a:t>Ministral 3B : reste fidèle</a:t>
            </a:r>
          </a:p>
          <a:p>
            <a:pPr>
              <a:spcBef>
                <a:spcPts val="400"/>
              </a:spcBef>
            </a:pPr>
            <a:r>
              <a:rPr sz="1050" i="1">
                <a:solidFill>
                  <a:srgbClr val="222222"/>
                </a:solidFill>
              </a:rPr>
              <a:t>« ... Aucune décision prise concernant la validation ou l'extension de ces éléments. » (synthèse : « Si aucune décision claire n'a été prise pour orienter une mission... »)</a:t>
            </a:r>
          </a:p>
          <a:p>
            <a:pPr>
              <a:spcBef>
                <a:spcPts val="400"/>
              </a:spcBef>
            </a:pPr>
            <a:r>
              <a:rPr sz="850">
                <a:solidFill>
                  <a:srgbClr val="2E75B6"/>
                </a:solidFill>
              </a:rPr>
              <a:t>Source : archi_extraction_v4_ministral3b.md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2.A  Modèles évalués (≤ 7B, CPU)</a:t>
            </a:r>
          </a:p>
        </p:txBody>
      </p:sp>
      <p:graphicFrame>
        <p:nvGraphicFramePr>
          <p:cNvPr id="3" name="Table 2"/>
          <p:cNvGraphicFramePr>
            <a:graphicFrameLocks noGrp="1"/>
          </p:cNvGraphicFramePr>
          <p:nvPr/>
        </p:nvGraphicFramePr>
        <p:xfrm>
          <a:off x="457200" y="1097280"/>
          <a:ext cx="9143998" cy="2487168"/>
        </p:xfrm>
        <a:graphic>
          <a:graphicData uri="http://schemas.openxmlformats.org/drawingml/2006/table">
            <a:tbl>
              <a:tblPr>
                <a:tableStyleId>{5C22544A-7EE6-4342-B048-85BDC9FD1C3A}</a:tableStyleId>
              </a:tblPr>
              <a:tblGrid>
                <a:gridCol w="3345365"/>
                <a:gridCol w="2453268"/>
                <a:gridCol w="1784195"/>
                <a:gridCol w="1561170"/>
              </a:tblGrid>
              <a:tr h="310896">
                <a:tc>
                  <a:txBody>
                    <a:bodyPr wrap="square"/>
                    <a:lstStyle/>
                    <a:p>
                      <a:pPr algn="l"/>
                      <a:r>
                        <a:rPr sz="1100" b="1">
                          <a:solidFill>
                            <a:srgbClr val="FFFFFF"/>
                          </a:solidFill>
                        </a:rPr>
                        <a:t>Modèle</a:t>
                      </a:r>
                    </a:p>
                  </a:txBody>
                  <a:tcPr anchor="ctr" marL="54864" marR="54864" marT="18288" marB="18288">
                    <a:solidFill>
                      <a:srgbClr val="1F4E79"/>
                    </a:solidFill>
                  </a:tcPr>
                </a:tc>
                <a:tc>
                  <a:txBody>
                    <a:bodyPr wrap="square"/>
                    <a:lstStyle/>
                    <a:p>
                      <a:pPr algn="l"/>
                      <a:r>
                        <a:rPr sz="1100" b="1">
                          <a:solidFill>
                            <a:srgbClr val="FFFFFF"/>
                          </a:solidFill>
                        </a:rPr>
                        <a:t>Famille</a:t>
                      </a:r>
                    </a:p>
                  </a:txBody>
                  <a:tcPr anchor="ctr" marL="54864" marR="54864" marT="18288" marB="18288">
                    <a:solidFill>
                      <a:srgbClr val="1F4E79"/>
                    </a:solidFill>
                  </a:tcPr>
                </a:tc>
                <a:tc>
                  <a:txBody>
                    <a:bodyPr wrap="square"/>
                    <a:lstStyle/>
                    <a:p>
                      <a:pPr algn="l"/>
                      <a:r>
                        <a:rPr sz="1100" b="1">
                          <a:solidFill>
                            <a:srgbClr val="FFFFFF"/>
                          </a:solidFill>
                        </a:rPr>
                        <a:t>Quantization</a:t>
                      </a:r>
                    </a:p>
                  </a:txBody>
                  <a:tcPr anchor="ctr" marL="54864" marR="54864" marT="18288" marB="18288">
                    <a:solidFill>
                      <a:srgbClr val="1F4E79"/>
                    </a:solidFill>
                  </a:tcPr>
                </a:tc>
                <a:tc>
                  <a:txBody>
                    <a:bodyPr wrap="square"/>
                    <a:lstStyle/>
                    <a:p>
                      <a:pPr algn="l"/>
                      <a:r>
                        <a:rPr sz="1100" b="1">
                          <a:solidFill>
                            <a:srgbClr val="FFFFFF"/>
                          </a:solidFill>
                        </a:rPr>
                        <a:t>Taille</a:t>
                      </a:r>
                    </a:p>
                  </a:txBody>
                  <a:tcPr anchor="ctr" marL="54864" marR="54864" marT="18288" marB="18288">
                    <a:solidFill>
                      <a:srgbClr val="1F4E79"/>
                    </a:solidFill>
                  </a:tcPr>
                </a:tc>
              </a:tr>
              <a:tr h="310896">
                <a:tc>
                  <a:txBody>
                    <a:bodyPr wrap="square"/>
                    <a:lstStyle/>
                    <a:p>
                      <a:pPr algn="l"/>
                      <a:r>
                        <a:rPr sz="1100" b="0">
                          <a:solidFill>
                            <a:srgbClr val="222222"/>
                          </a:solidFill>
                        </a:rPr>
                        <a:t>Ministral-3-3B-Instruct-2512</a:t>
                      </a:r>
                    </a:p>
                  </a:txBody>
                  <a:tcPr anchor="ctr" marL="54864" marR="54864" marT="18288" marB="18288">
                    <a:solidFill>
                      <a:srgbClr val="FFFFFF"/>
                    </a:solidFill>
                  </a:tcPr>
                </a:tc>
                <a:tc>
                  <a:txBody>
                    <a:bodyPr wrap="square"/>
                    <a:lstStyle/>
                    <a:p>
                      <a:pPr algn="l"/>
                      <a:r>
                        <a:rPr sz="1100" b="0">
                          <a:solidFill>
                            <a:srgbClr val="222222"/>
                          </a:solidFill>
                        </a:rPr>
                        <a:t>Mistral 3B</a:t>
                      </a:r>
                    </a:p>
                  </a:txBody>
                  <a:tcPr anchor="ctr" marL="54864" marR="54864" marT="18288" marB="18288">
                    <a:solidFill>
                      <a:srgbClr val="FFFFFF"/>
                    </a:solidFill>
                  </a:tcPr>
                </a:tc>
                <a:tc>
                  <a:txBody>
                    <a:bodyPr wrap="square"/>
                    <a:lstStyle/>
                    <a:p>
                      <a:pPr algn="l"/>
                      <a:r>
                        <a:rPr sz="1100" b="0">
                          <a:solidFill>
                            <a:srgbClr val="222222"/>
                          </a:solidFill>
                        </a:rPr>
                        <a:t>Q4_K_M</a:t>
                      </a:r>
                    </a:p>
                  </a:txBody>
                  <a:tcPr anchor="ctr" marL="54864" marR="54864" marT="18288" marB="18288">
                    <a:solidFill>
                      <a:srgbClr val="FFFFFF"/>
                    </a:solidFill>
                  </a:tcPr>
                </a:tc>
                <a:tc>
                  <a:txBody>
                    <a:bodyPr wrap="square"/>
                    <a:lstStyle/>
                    <a:p>
                      <a:pPr algn="l"/>
                      <a:r>
                        <a:rPr sz="1100" b="0">
                          <a:solidFill>
                            <a:srgbClr val="222222"/>
                          </a:solidFill>
                        </a:rPr>
                        <a:t>~1,9 Go</a:t>
                      </a:r>
                    </a:p>
                  </a:txBody>
                  <a:tcPr anchor="ctr" marL="54864" marR="54864" marT="18288" marB="18288">
                    <a:solidFill>
                      <a:srgbClr val="FFFFFF"/>
                    </a:solidFill>
                  </a:tcPr>
                </a:tc>
              </a:tr>
              <a:tr h="310896">
                <a:tc>
                  <a:txBody>
                    <a:bodyPr wrap="square"/>
                    <a:lstStyle/>
                    <a:p>
                      <a:pPr algn="l"/>
                      <a:r>
                        <a:rPr sz="1100" b="0">
                          <a:solidFill>
                            <a:srgbClr val="222222"/>
                          </a:solidFill>
                        </a:rPr>
                        <a:t>Mistral-7B-Instruct-v0.3</a:t>
                      </a:r>
                    </a:p>
                  </a:txBody>
                  <a:tcPr anchor="ctr" marL="54864" marR="54864" marT="18288" marB="18288">
                    <a:solidFill>
                      <a:srgbClr val="EAF1F8"/>
                    </a:solidFill>
                  </a:tcPr>
                </a:tc>
                <a:tc>
                  <a:txBody>
                    <a:bodyPr wrap="square"/>
                    <a:lstStyle/>
                    <a:p>
                      <a:pPr algn="l"/>
                      <a:r>
                        <a:rPr sz="1100" b="0">
                          <a:solidFill>
                            <a:srgbClr val="222222"/>
                          </a:solidFill>
                        </a:rPr>
                        <a:t>Mistral 7B</a:t>
                      </a:r>
                    </a:p>
                  </a:txBody>
                  <a:tcPr anchor="ctr" marL="54864" marR="54864" marT="18288" marB="18288">
                    <a:solidFill>
                      <a:srgbClr val="EAF1F8"/>
                    </a:solidFill>
                  </a:tcPr>
                </a:tc>
                <a:tc>
                  <a:txBody>
                    <a:bodyPr wrap="square"/>
                    <a:lstStyle/>
                    <a:p>
                      <a:pPr algn="l"/>
                      <a:r>
                        <a:rPr sz="1100" b="0">
                          <a:solidFill>
                            <a:srgbClr val="222222"/>
                          </a:solidFill>
                        </a:rPr>
                        <a:t>Q4_K_M</a:t>
                      </a:r>
                    </a:p>
                  </a:txBody>
                  <a:tcPr anchor="ctr" marL="54864" marR="54864" marT="18288" marB="18288">
                    <a:solidFill>
                      <a:srgbClr val="EAF1F8"/>
                    </a:solidFill>
                  </a:tcPr>
                </a:tc>
                <a:tc>
                  <a:txBody>
                    <a:bodyPr wrap="square"/>
                    <a:lstStyle/>
                    <a:p>
                      <a:pPr algn="l"/>
                      <a:r>
                        <a:rPr sz="1100" b="0">
                          <a:solidFill>
                            <a:srgbClr val="222222"/>
                          </a:solidFill>
                        </a:rPr>
                        <a:t>~4,1 Go</a:t>
                      </a:r>
                    </a:p>
                  </a:txBody>
                  <a:tcPr anchor="ctr" marL="54864" marR="54864" marT="18288" marB="18288">
                    <a:solidFill>
                      <a:srgbClr val="EAF1F8"/>
                    </a:solidFill>
                  </a:tcPr>
                </a:tc>
              </a:tr>
              <a:tr h="310896">
                <a:tc>
                  <a:txBody>
                    <a:bodyPr wrap="square"/>
                    <a:lstStyle/>
                    <a:p>
                      <a:pPr algn="l"/>
                      <a:r>
                        <a:rPr sz="1100" b="0">
                          <a:solidFill>
                            <a:srgbClr val="222222"/>
                          </a:solidFill>
                        </a:rPr>
                        <a:t>qwen2.5-3b-instruct</a:t>
                      </a:r>
                    </a:p>
                  </a:txBody>
                  <a:tcPr anchor="ctr" marL="54864" marR="54864" marT="18288" marB="18288">
                    <a:solidFill>
                      <a:srgbClr val="FFFFFF"/>
                    </a:solidFill>
                  </a:tcPr>
                </a:tc>
                <a:tc>
                  <a:txBody>
                    <a:bodyPr wrap="square"/>
                    <a:lstStyle/>
                    <a:p>
                      <a:pPr algn="l"/>
                      <a:r>
                        <a:rPr sz="1100" b="0">
                          <a:solidFill>
                            <a:srgbClr val="222222"/>
                          </a:solidFill>
                        </a:rPr>
                        <a:t>Qwen 2.5 3B</a:t>
                      </a:r>
                    </a:p>
                  </a:txBody>
                  <a:tcPr anchor="ctr" marL="54864" marR="54864" marT="18288" marB="18288">
                    <a:solidFill>
                      <a:srgbClr val="FFFFFF"/>
                    </a:solidFill>
                  </a:tcPr>
                </a:tc>
                <a:tc>
                  <a:txBody>
                    <a:bodyPr wrap="square"/>
                    <a:lstStyle/>
                    <a:p>
                      <a:pPr algn="l"/>
                      <a:r>
                        <a:rPr sz="1100" b="0">
                          <a:solidFill>
                            <a:srgbClr val="222222"/>
                          </a:solidFill>
                        </a:rPr>
                        <a:t>Q4_0</a:t>
                      </a:r>
                    </a:p>
                  </a:txBody>
                  <a:tcPr anchor="ctr" marL="54864" marR="54864" marT="18288" marB="18288">
                    <a:solidFill>
                      <a:srgbClr val="FFFFFF"/>
                    </a:solidFill>
                  </a:tcPr>
                </a:tc>
                <a:tc>
                  <a:txBody>
                    <a:bodyPr wrap="square"/>
                    <a:lstStyle/>
                    <a:p>
                      <a:pPr algn="l"/>
                      <a:r>
                        <a:rPr sz="1100" b="0">
                          <a:solidFill>
                            <a:srgbClr val="222222"/>
                          </a:solidFill>
                        </a:rPr>
                        <a:t>~1,9 Go</a:t>
                      </a:r>
                    </a:p>
                  </a:txBody>
                  <a:tcPr anchor="ctr" marL="54864" marR="54864" marT="18288" marB="18288">
                    <a:solidFill>
                      <a:srgbClr val="FFFFFF"/>
                    </a:solidFill>
                  </a:tcPr>
                </a:tc>
              </a:tr>
              <a:tr h="310896">
                <a:tc>
                  <a:txBody>
                    <a:bodyPr wrap="square"/>
                    <a:lstStyle/>
                    <a:p>
                      <a:pPr algn="l"/>
                      <a:r>
                        <a:rPr sz="1100" b="0">
                          <a:solidFill>
                            <a:srgbClr val="222222"/>
                          </a:solidFill>
                        </a:rPr>
                        <a:t>Qwen3-4B (thinking)</a:t>
                      </a:r>
                    </a:p>
                  </a:txBody>
                  <a:tcPr anchor="ctr" marL="54864" marR="54864" marT="18288" marB="18288">
                    <a:solidFill>
                      <a:srgbClr val="EAF1F8"/>
                    </a:solidFill>
                  </a:tcPr>
                </a:tc>
                <a:tc>
                  <a:txBody>
                    <a:bodyPr wrap="square"/>
                    <a:lstStyle/>
                    <a:p>
                      <a:pPr algn="l"/>
                      <a:r>
                        <a:rPr sz="1100" b="0">
                          <a:solidFill>
                            <a:srgbClr val="222222"/>
                          </a:solidFill>
                        </a:rPr>
                        <a:t>Qwen 3 4B</a:t>
                      </a:r>
                    </a:p>
                  </a:txBody>
                  <a:tcPr anchor="ctr" marL="54864" marR="54864" marT="18288" marB="18288">
                    <a:solidFill>
                      <a:srgbClr val="EAF1F8"/>
                    </a:solidFill>
                  </a:tcPr>
                </a:tc>
                <a:tc>
                  <a:txBody>
                    <a:bodyPr wrap="square"/>
                    <a:lstStyle/>
                    <a:p>
                      <a:pPr algn="l"/>
                      <a:r>
                        <a:rPr sz="1100" b="0">
                          <a:solidFill>
                            <a:srgbClr val="222222"/>
                          </a:solidFill>
                        </a:rPr>
                        <a:t>Q4_K_M</a:t>
                      </a:r>
                    </a:p>
                  </a:txBody>
                  <a:tcPr anchor="ctr" marL="54864" marR="54864" marT="18288" marB="18288">
                    <a:solidFill>
                      <a:srgbClr val="EAF1F8"/>
                    </a:solidFill>
                  </a:tcPr>
                </a:tc>
                <a:tc>
                  <a:txBody>
                    <a:bodyPr wrap="square"/>
                    <a:lstStyle/>
                    <a:p>
                      <a:pPr algn="l"/>
                      <a:r>
                        <a:rPr sz="1100" b="0">
                          <a:solidFill>
                            <a:srgbClr val="222222"/>
                          </a:solidFill>
                        </a:rPr>
                        <a:t>~2,5 Go</a:t>
                      </a:r>
                    </a:p>
                  </a:txBody>
                  <a:tcPr anchor="ctr" marL="54864" marR="54864" marT="18288" marB="18288">
                    <a:solidFill>
                      <a:srgbClr val="EAF1F8"/>
                    </a:solidFill>
                  </a:tcPr>
                </a:tc>
              </a:tr>
              <a:tr h="310896">
                <a:tc>
                  <a:txBody>
                    <a:bodyPr wrap="square"/>
                    <a:lstStyle/>
                    <a:p>
                      <a:pPr algn="l"/>
                      <a:r>
                        <a:rPr sz="1100" b="0">
                          <a:solidFill>
                            <a:srgbClr val="222222"/>
                          </a:solidFill>
                        </a:rPr>
                        <a:t>SmolLM3-3B</a:t>
                      </a:r>
                    </a:p>
                  </a:txBody>
                  <a:tcPr anchor="ctr" marL="54864" marR="54864" marT="18288" marB="18288">
                    <a:solidFill>
                      <a:srgbClr val="FFFFFF"/>
                    </a:solidFill>
                  </a:tcPr>
                </a:tc>
                <a:tc>
                  <a:txBody>
                    <a:bodyPr wrap="square"/>
                    <a:lstStyle/>
                    <a:p>
                      <a:pPr algn="l"/>
                      <a:r>
                        <a:rPr sz="1100" b="0">
                          <a:solidFill>
                            <a:srgbClr val="222222"/>
                          </a:solidFill>
                        </a:rPr>
                        <a:t>HuggingFace</a:t>
                      </a:r>
                    </a:p>
                  </a:txBody>
                  <a:tcPr anchor="ctr" marL="54864" marR="54864" marT="18288" marB="18288">
                    <a:solidFill>
                      <a:srgbClr val="FFFFFF"/>
                    </a:solidFill>
                  </a:tcPr>
                </a:tc>
                <a:tc>
                  <a:txBody>
                    <a:bodyPr wrap="square"/>
                    <a:lstStyle/>
                    <a:p>
                      <a:pPr algn="l"/>
                      <a:r>
                        <a:rPr sz="1100" b="0">
                          <a:solidFill>
                            <a:srgbClr val="222222"/>
                          </a:solidFill>
                        </a:rPr>
                        <a:t>Q4_K_M</a:t>
                      </a:r>
                    </a:p>
                  </a:txBody>
                  <a:tcPr anchor="ctr" marL="54864" marR="54864" marT="18288" marB="18288">
                    <a:solidFill>
                      <a:srgbClr val="FFFFFF"/>
                    </a:solidFill>
                  </a:tcPr>
                </a:tc>
                <a:tc>
                  <a:txBody>
                    <a:bodyPr wrap="square"/>
                    <a:lstStyle/>
                    <a:p>
                      <a:pPr algn="l"/>
                      <a:r>
                        <a:rPr sz="1100" b="0">
                          <a:solidFill>
                            <a:srgbClr val="222222"/>
                          </a:solidFill>
                        </a:rPr>
                        <a:t>~1,9 Go</a:t>
                      </a:r>
                    </a:p>
                  </a:txBody>
                  <a:tcPr anchor="ctr" marL="54864" marR="54864" marT="18288" marB="18288">
                    <a:solidFill>
                      <a:srgbClr val="FFFFFF"/>
                    </a:solidFill>
                  </a:tcPr>
                </a:tc>
              </a:tr>
              <a:tr h="310896">
                <a:tc>
                  <a:txBody>
                    <a:bodyPr wrap="square"/>
                    <a:lstStyle/>
                    <a:p>
                      <a:pPr algn="l"/>
                      <a:r>
                        <a:rPr sz="1100" b="0">
                          <a:solidFill>
                            <a:srgbClr val="222222"/>
                          </a:solidFill>
                        </a:rPr>
                        <a:t>LFM2.5-1.2B et LFM2-2.6B</a:t>
                      </a:r>
                    </a:p>
                  </a:txBody>
                  <a:tcPr anchor="ctr" marL="54864" marR="54864" marT="18288" marB="18288">
                    <a:solidFill>
                      <a:srgbClr val="EAF1F8"/>
                    </a:solidFill>
                  </a:tcPr>
                </a:tc>
                <a:tc>
                  <a:txBody>
                    <a:bodyPr wrap="square"/>
                    <a:lstStyle/>
                    <a:p>
                      <a:pPr algn="l"/>
                      <a:r>
                        <a:rPr sz="1100" b="0">
                          <a:solidFill>
                            <a:srgbClr val="222222"/>
                          </a:solidFill>
                        </a:rPr>
                        <a:t>Liquid</a:t>
                      </a:r>
                    </a:p>
                  </a:txBody>
                  <a:tcPr anchor="ctr" marL="54864" marR="54864" marT="18288" marB="18288">
                    <a:solidFill>
                      <a:srgbClr val="EAF1F8"/>
                    </a:solidFill>
                  </a:tcPr>
                </a:tc>
                <a:tc>
                  <a:txBody>
                    <a:bodyPr wrap="square"/>
                    <a:lstStyle/>
                    <a:p>
                      <a:pPr algn="l"/>
                      <a:r>
                        <a:rPr sz="1100" b="0">
                          <a:solidFill>
                            <a:srgbClr val="222222"/>
                          </a:solidFill>
                        </a:rPr>
                        <a:t>Q4 / Q6</a:t>
                      </a:r>
                    </a:p>
                  </a:txBody>
                  <a:tcPr anchor="ctr" marL="54864" marR="54864" marT="18288" marB="18288">
                    <a:solidFill>
                      <a:srgbClr val="EAF1F8"/>
                    </a:solidFill>
                  </a:tcPr>
                </a:tc>
                <a:tc>
                  <a:txBody>
                    <a:bodyPr wrap="square"/>
                    <a:lstStyle/>
                    <a:p>
                      <a:pPr algn="l"/>
                      <a:r>
                        <a:rPr sz="1100" b="0">
                          <a:solidFill>
                            <a:srgbClr val="222222"/>
                          </a:solidFill>
                        </a:rPr>
                        <a:t>0,66 à 2,0 Go</a:t>
                      </a:r>
                    </a:p>
                  </a:txBody>
                  <a:tcPr anchor="ctr" marL="54864" marR="54864" marT="18288" marB="18288">
                    <a:solidFill>
                      <a:srgbClr val="EAF1F8"/>
                    </a:solidFill>
                  </a:tcPr>
                </a:tc>
              </a:tr>
              <a:tr h="310896">
                <a:tc>
                  <a:txBody>
                    <a:bodyPr wrap="square"/>
                    <a:lstStyle/>
                    <a:p>
                      <a:pPr algn="l"/>
                      <a:r>
                        <a:rPr sz="1100" b="0">
                          <a:solidFill>
                            <a:srgbClr val="222222"/>
                          </a:solidFill>
                        </a:rPr>
                        <a:t>NuExtract-2.0-2B</a:t>
                      </a:r>
                    </a:p>
                  </a:txBody>
                  <a:tcPr anchor="ctr" marL="54864" marR="54864" marT="18288" marB="18288">
                    <a:solidFill>
                      <a:srgbClr val="FFFFFF"/>
                    </a:solidFill>
                  </a:tcPr>
                </a:tc>
                <a:tc>
                  <a:txBody>
                    <a:bodyPr wrap="square"/>
                    <a:lstStyle/>
                    <a:p>
                      <a:pPr algn="l"/>
                      <a:r>
                        <a:rPr sz="1100" b="0">
                          <a:solidFill>
                            <a:srgbClr val="222222"/>
                          </a:solidFill>
                        </a:rPr>
                        <a:t>Extraction structurée</a:t>
                      </a:r>
                    </a:p>
                  </a:txBody>
                  <a:tcPr anchor="ctr" marL="54864" marR="54864" marT="18288" marB="18288">
                    <a:solidFill>
                      <a:srgbClr val="FFFFFF"/>
                    </a:solidFill>
                  </a:tcPr>
                </a:tc>
                <a:tc>
                  <a:txBody>
                    <a:bodyPr wrap="square"/>
                    <a:lstStyle/>
                    <a:p>
                      <a:pPr algn="l"/>
                      <a:r>
                        <a:rPr sz="1100" b="0">
                          <a:solidFill>
                            <a:srgbClr val="222222"/>
                          </a:solidFill>
                        </a:rPr>
                        <a:t>Q4_K_M</a:t>
                      </a:r>
                    </a:p>
                  </a:txBody>
                  <a:tcPr anchor="ctr" marL="54864" marR="54864" marT="18288" marB="18288">
                    <a:solidFill>
                      <a:srgbClr val="FFFFFF"/>
                    </a:solidFill>
                  </a:tcPr>
                </a:tc>
                <a:tc>
                  <a:txBody>
                    <a:bodyPr wrap="square"/>
                    <a:lstStyle/>
                    <a:p>
                      <a:pPr algn="l"/>
                      <a:r>
                        <a:rPr sz="1100" b="0">
                          <a:solidFill>
                            <a:srgbClr val="222222"/>
                          </a:solidFill>
                        </a:rPr>
                        <a:t>~1,3 Go</a:t>
                      </a:r>
                    </a:p>
                  </a:txBody>
                  <a:tcPr anchor="ctr" marL="54864" marR="54864" marT="18288" marB="18288">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2.B  Refonte agentique : orchestrateur + workers</a:t>
            </a:r>
          </a:p>
        </p:txBody>
      </p:sp>
      <p:sp>
        <p:nvSpPr>
          <p:cNvPr id="3" name="TextBox 2"/>
          <p:cNvSpPr txBox="1"/>
          <p:nvPr/>
        </p:nvSpPr>
        <p:spPr>
          <a:xfrm>
            <a:off x="457200" y="1005840"/>
            <a:ext cx="11274552" cy="548640"/>
          </a:xfrm>
          <a:prstGeom prst="rect">
            <a:avLst/>
          </a:prstGeom>
          <a:noFill/>
        </p:spPr>
        <p:txBody>
          <a:bodyPr wrap="square">
            <a:spAutoFit/>
          </a:bodyPr>
          <a:lstStyle/>
          <a:p>
            <a:r>
              <a:rPr sz="1300" i="0" b="0">
                <a:solidFill>
                  <a:srgbClr val="222222"/>
                </a:solidFill>
              </a:rPr>
              <a:t>Limite de l'extraction : même structure de CR pour toutes les réunions. L'agentique adapte la structure au type de réunion via des agents spécialisés.</a:t>
            </a:r>
          </a:p>
        </p:txBody>
      </p:sp>
      <p:sp>
        <p:nvSpPr>
          <p:cNvPr id="4" name="TextBox 3"/>
          <p:cNvSpPr txBox="1"/>
          <p:nvPr/>
        </p:nvSpPr>
        <p:spPr>
          <a:xfrm>
            <a:off x="457200" y="1737360"/>
            <a:ext cx="11274552" cy="2743200"/>
          </a:xfrm>
          <a:prstGeom prst="rect">
            <a:avLst/>
          </a:prstGeom>
          <a:noFill/>
        </p:spPr>
        <p:txBody>
          <a:bodyPr wrap="square">
            <a:spAutoFit/>
          </a:bodyPr>
          <a:lstStyle/>
          <a:p>
            <a:pPr>
              <a:spcAft>
                <a:spcPts val="600"/>
              </a:spcAft>
            </a:pPr>
            <a:r>
              <a:rPr sz="1400">
                <a:solidFill>
                  <a:srgbClr val="2E75B6"/>
                </a:solidFill>
              </a:rPr>
              <a:t>•  </a:t>
            </a:r>
            <a:r>
              <a:rPr b="1" sz="1400">
                <a:solidFill>
                  <a:srgbClr val="222222"/>
                </a:solidFill>
              </a:rPr>
              <a:t>Agent CONTEXT BUILDER : </a:t>
            </a:r>
            <a:r>
              <a:rPr sz="1400">
                <a:solidFill>
                  <a:srgbClr val="222222"/>
                </a:solidFill>
              </a:rPr>
              <a:t>type de réunion (multi-hypothèses), objectif, synthèse globale.</a:t>
            </a:r>
          </a:p>
          <a:p>
            <a:pPr>
              <a:spcAft>
                <a:spcPts val="600"/>
              </a:spcAft>
            </a:pPr>
            <a:r>
              <a:rPr sz="1400">
                <a:solidFill>
                  <a:srgbClr val="2E75B6"/>
                </a:solidFill>
              </a:rPr>
              <a:t>•  </a:t>
            </a:r>
            <a:r>
              <a:rPr b="1" sz="1400">
                <a:solidFill>
                  <a:srgbClr val="222222"/>
                </a:solidFill>
              </a:rPr>
              <a:t>Agent PLANNER : </a:t>
            </a:r>
            <a:r>
              <a:rPr sz="1400">
                <a:solidFill>
                  <a:srgbClr val="222222"/>
                </a:solidFill>
              </a:rPr>
              <a:t>conçoit la structure (les sections).</a:t>
            </a:r>
          </a:p>
          <a:p>
            <a:pPr>
              <a:spcAft>
                <a:spcPts val="600"/>
              </a:spcAft>
            </a:pPr>
            <a:r>
              <a:rPr sz="1400">
                <a:solidFill>
                  <a:srgbClr val="2E75B6"/>
                </a:solidFill>
              </a:rPr>
              <a:t>•  </a:t>
            </a:r>
            <a:r>
              <a:rPr b="1" sz="1400">
                <a:solidFill>
                  <a:srgbClr val="222222"/>
                </a:solidFill>
              </a:rPr>
              <a:t>Agent CONTENT DESIGNER : </a:t>
            </a:r>
            <a:r>
              <a:rPr sz="1400">
                <a:solidFill>
                  <a:srgbClr val="222222"/>
                </a:solidFill>
              </a:rPr>
              <a:t>pour chaque section, choisit les chunks et rédige le brief.</a:t>
            </a:r>
          </a:p>
          <a:p>
            <a:pPr>
              <a:spcAft>
                <a:spcPts val="600"/>
              </a:spcAft>
            </a:pPr>
            <a:r>
              <a:rPr sz="1400">
                <a:solidFill>
                  <a:srgbClr val="2E75B6"/>
                </a:solidFill>
              </a:rPr>
              <a:t>•  </a:t>
            </a:r>
            <a:r>
              <a:rPr b="1" sz="1400">
                <a:solidFill>
                  <a:srgbClr val="222222"/>
                </a:solidFill>
              </a:rPr>
              <a:t>Agents WORKERS : </a:t>
            </a:r>
            <a:r>
              <a:rPr sz="1400">
                <a:solidFill>
                  <a:srgbClr val="222222"/>
                </a:solidFill>
              </a:rPr>
              <a:t>rédigent chaque section (narratif, puces, tableaux) à partir du texte brut.</a:t>
            </a:r>
          </a:p>
          <a:p>
            <a:pPr>
              <a:spcAft>
                <a:spcPts val="600"/>
              </a:spcAft>
            </a:pPr>
            <a:r>
              <a:rPr sz="1400">
                <a:solidFill>
                  <a:srgbClr val="2E75B6"/>
                </a:solidFill>
              </a:rPr>
              <a:t>•  </a:t>
            </a:r>
            <a:r>
              <a:rPr b="1" sz="1400">
                <a:solidFill>
                  <a:srgbClr val="222222"/>
                </a:solidFill>
              </a:rPr>
              <a:t>Juges déterministes : </a:t>
            </a:r>
            <a:r>
              <a:rPr sz="1400">
                <a:solidFill>
                  <a:srgbClr val="222222"/>
                </a:solidFill>
              </a:rPr>
              <a:t>décisions et actions, puis assemblage Markdown 100 % Python.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2.B  Évolution version par version (V1 à V10)</a:t>
            </a:r>
          </a:p>
        </p:txBody>
      </p:sp>
      <p:graphicFrame>
        <p:nvGraphicFramePr>
          <p:cNvPr id="3" name="Table 2"/>
          <p:cNvGraphicFramePr>
            <a:graphicFrameLocks noGrp="1"/>
          </p:cNvGraphicFramePr>
          <p:nvPr/>
        </p:nvGraphicFramePr>
        <p:xfrm>
          <a:off x="457200" y="1051560"/>
          <a:ext cx="11274550" cy="3118104"/>
        </p:xfrm>
        <a:graphic>
          <a:graphicData uri="http://schemas.openxmlformats.org/drawingml/2006/table">
            <a:tbl>
              <a:tblPr>
                <a:tableStyleId>{5C22544A-7EE6-4342-B048-85BDC9FD1C3A}</a:tableStyleId>
              </a:tblPr>
              <a:tblGrid>
                <a:gridCol w="687472"/>
                <a:gridCol w="2337407"/>
                <a:gridCol w="824967"/>
                <a:gridCol w="1649934"/>
                <a:gridCol w="5774770"/>
              </a:tblGrid>
              <a:tr h="283464">
                <a:tc>
                  <a:txBody>
                    <a:bodyPr wrap="square"/>
                    <a:lstStyle/>
                    <a:p>
                      <a:pPr algn="l"/>
                      <a:r>
                        <a:rPr sz="950" b="1">
                          <a:solidFill>
                            <a:srgbClr val="FFFFFF"/>
                          </a:solidFill>
                        </a:rPr>
                        <a:t>V</a:t>
                      </a:r>
                    </a:p>
                  </a:txBody>
                  <a:tcPr anchor="ctr" marL="54864" marR="54864" marT="18288" marB="18288">
                    <a:solidFill>
                      <a:srgbClr val="1F4E79"/>
                    </a:solidFill>
                  </a:tcPr>
                </a:tc>
                <a:tc>
                  <a:txBody>
                    <a:bodyPr wrap="square"/>
                    <a:lstStyle/>
                    <a:p>
                      <a:pPr algn="l"/>
                      <a:r>
                        <a:rPr sz="950" b="1">
                          <a:solidFill>
                            <a:srgbClr val="FFFFFF"/>
                          </a:solidFill>
                        </a:rPr>
                        <a:t>Modèle(s)</a:t>
                      </a:r>
                    </a:p>
                  </a:txBody>
                  <a:tcPr anchor="ctr" marL="54864" marR="54864" marT="18288" marB="18288">
                    <a:solidFill>
                      <a:srgbClr val="1F4E79"/>
                    </a:solidFill>
                  </a:tcPr>
                </a:tc>
                <a:tc>
                  <a:txBody>
                    <a:bodyPr wrap="square"/>
                    <a:lstStyle/>
                    <a:p>
                      <a:pPr algn="l"/>
                      <a:r>
                        <a:rPr sz="950" b="1">
                          <a:solidFill>
                            <a:srgbClr val="FFFFFF"/>
                          </a:solidFill>
                        </a:rPr>
                        <a:t>Sect.</a:t>
                      </a:r>
                    </a:p>
                  </a:txBody>
                  <a:tcPr anchor="ctr" marL="54864" marR="54864" marT="18288" marB="18288">
                    <a:solidFill>
                      <a:srgbClr val="1F4E79"/>
                    </a:solidFill>
                  </a:tcPr>
                </a:tc>
                <a:tc>
                  <a:txBody>
                    <a:bodyPr wrap="square"/>
                    <a:lstStyle/>
                    <a:p>
                      <a:pPr algn="l"/>
                      <a:r>
                        <a:rPr sz="950" b="1">
                          <a:solidFill>
                            <a:srgbClr val="FFFFFF"/>
                          </a:solidFill>
                        </a:rPr>
                        <a:t>Durée</a:t>
                      </a:r>
                    </a:p>
                  </a:txBody>
                  <a:tcPr anchor="ctr" marL="54864" marR="54864" marT="18288" marB="18288">
                    <a:solidFill>
                      <a:srgbClr val="1F4E79"/>
                    </a:solidFill>
                  </a:tcPr>
                </a:tc>
                <a:tc>
                  <a:txBody>
                    <a:bodyPr wrap="square"/>
                    <a:lstStyle/>
                    <a:p>
                      <a:pPr algn="l"/>
                      <a:r>
                        <a:rPr sz="950" b="1">
                          <a:solidFill>
                            <a:srgbClr val="FFFFFF"/>
                          </a:solidFill>
                        </a:rPr>
                        <a:t>Résultat clé, ce qu'elle corrigeait</a:t>
                      </a:r>
                    </a:p>
                  </a:txBody>
                  <a:tcPr anchor="ctr" marL="54864" marR="54864" marT="18288" marB="18288">
                    <a:solidFill>
                      <a:srgbClr val="1F4E79"/>
                    </a:solidFill>
                  </a:tcPr>
                </a:tc>
              </a:tr>
              <a:tr h="283464">
                <a:tc>
                  <a:txBody>
                    <a:bodyPr wrap="square"/>
                    <a:lstStyle/>
                    <a:p>
                      <a:pPr algn="l"/>
                      <a:r>
                        <a:rPr sz="950" b="0">
                          <a:solidFill>
                            <a:srgbClr val="222222"/>
                          </a:solidFill>
                        </a:rPr>
                        <a:t>V1</a:t>
                      </a:r>
                    </a:p>
                  </a:txBody>
                  <a:tcPr anchor="ctr" marL="54864" marR="54864" marT="18288" marB="18288">
                    <a:solidFill>
                      <a:srgbClr val="FFFFFF"/>
                    </a:solidFill>
                  </a:tcPr>
                </a:tc>
                <a:tc>
                  <a:txBody>
                    <a:bodyPr wrap="square"/>
                    <a:lstStyle/>
                    <a:p>
                      <a:pPr algn="l"/>
                      <a:r>
                        <a:rPr sz="950" b="0">
                          <a:solidFill>
                            <a:srgbClr val="222222"/>
                          </a:solidFill>
                        </a:rPr>
                        <a:t>Ministral 3B</a:t>
                      </a:r>
                    </a:p>
                  </a:txBody>
                  <a:tcPr anchor="ctr" marL="54864" marR="54864" marT="18288" marB="18288">
                    <a:solidFill>
                      <a:srgbClr val="FFFFFF"/>
                    </a:solidFill>
                  </a:tcPr>
                </a:tc>
                <a:tc>
                  <a:txBody>
                    <a:bodyPr wrap="square"/>
                    <a:lstStyle/>
                    <a:p>
                      <a:pPr algn="l"/>
                      <a:r>
                        <a:rPr sz="950" b="0">
                          <a:solidFill>
                            <a:srgbClr val="222222"/>
                          </a:solidFill>
                        </a:rPr>
                        <a:t>3</a:t>
                      </a:r>
                    </a:p>
                  </a:txBody>
                  <a:tcPr anchor="ctr" marL="54864" marR="54864" marT="18288" marB="18288">
                    <a:solidFill>
                      <a:srgbClr val="FFFFFF"/>
                    </a:solidFill>
                  </a:tcPr>
                </a:tc>
                <a:tc>
                  <a:txBody>
                    <a:bodyPr wrap="square"/>
                    <a:lstStyle/>
                    <a:p>
                      <a:pPr algn="l"/>
                      <a:r>
                        <a:rPr sz="950" b="0">
                          <a:solidFill>
                            <a:srgbClr val="222222"/>
                          </a:solidFill>
                        </a:rPr>
                        <a:t>20 min</a:t>
                      </a:r>
                    </a:p>
                  </a:txBody>
                  <a:tcPr anchor="ctr" marL="54864" marR="54864" marT="18288" marB="18288">
                    <a:solidFill>
                      <a:srgbClr val="FFFFFF"/>
                    </a:solidFill>
                  </a:tcPr>
                </a:tc>
                <a:tc>
                  <a:txBody>
                    <a:bodyPr wrap="square"/>
                    <a:lstStyle/>
                    <a:p>
                      <a:pPr algn="l"/>
                      <a:r>
                        <a:rPr sz="950" b="0">
                          <a:solidFill>
                            <a:srgbClr val="222222"/>
                          </a:solidFill>
                        </a:rPr>
                        <a:t>1er jet : orchestrateur et workers</a:t>
                      </a:r>
                    </a:p>
                  </a:txBody>
                  <a:tcPr anchor="ctr" marL="54864" marR="54864" marT="18288" marB="18288">
                    <a:solidFill>
                      <a:srgbClr val="FFFFFF"/>
                    </a:solidFill>
                  </a:tcPr>
                </a:tc>
              </a:tr>
              <a:tr h="283464">
                <a:tc>
                  <a:txBody>
                    <a:bodyPr wrap="square"/>
                    <a:lstStyle/>
                    <a:p>
                      <a:pPr algn="l"/>
                      <a:r>
                        <a:rPr sz="950" b="0">
                          <a:solidFill>
                            <a:srgbClr val="222222"/>
                          </a:solidFill>
                        </a:rPr>
                        <a:t>V2</a:t>
                      </a:r>
                    </a:p>
                  </a:txBody>
                  <a:tcPr anchor="ctr" marL="54864" marR="54864" marT="18288" marB="18288">
                    <a:solidFill>
                      <a:srgbClr val="EAF1F8"/>
                    </a:solidFill>
                  </a:tcPr>
                </a:tc>
                <a:tc>
                  <a:txBody>
                    <a:bodyPr wrap="square"/>
                    <a:lstStyle/>
                    <a:p>
                      <a:pPr algn="l"/>
                      <a:r>
                        <a:rPr sz="950" b="0">
                          <a:solidFill>
                            <a:srgbClr val="222222"/>
                          </a:solidFill>
                        </a:rPr>
                        <a:t>Ministral 3B</a:t>
                      </a:r>
                    </a:p>
                  </a:txBody>
                  <a:tcPr anchor="ctr" marL="54864" marR="54864" marT="18288" marB="18288">
                    <a:solidFill>
                      <a:srgbClr val="EAF1F8"/>
                    </a:solidFill>
                  </a:tcPr>
                </a:tc>
                <a:tc>
                  <a:txBody>
                    <a:bodyPr wrap="square"/>
                    <a:lstStyle/>
                    <a:p>
                      <a:pPr algn="l"/>
                      <a:r>
                        <a:rPr sz="950" b="0">
                          <a:solidFill>
                            <a:srgbClr val="222222"/>
                          </a:solidFill>
                        </a:rPr>
                        <a:t>3</a:t>
                      </a:r>
                    </a:p>
                  </a:txBody>
                  <a:tcPr anchor="ctr" marL="54864" marR="54864" marT="18288" marB="18288">
                    <a:solidFill>
                      <a:srgbClr val="EAF1F8"/>
                    </a:solidFill>
                  </a:tcPr>
                </a:tc>
                <a:tc>
                  <a:txBody>
                    <a:bodyPr wrap="square"/>
                    <a:lstStyle/>
                    <a:p>
                      <a:pPr algn="l"/>
                      <a:r>
                        <a:rPr sz="950" b="0">
                          <a:solidFill>
                            <a:srgbClr val="222222"/>
                          </a:solidFill>
                        </a:rPr>
                        <a:t>26 min</a:t>
                      </a:r>
                    </a:p>
                  </a:txBody>
                  <a:tcPr anchor="ctr" marL="54864" marR="54864" marT="18288" marB="18288">
                    <a:solidFill>
                      <a:srgbClr val="EAF1F8"/>
                    </a:solidFill>
                  </a:tcPr>
                </a:tc>
                <a:tc>
                  <a:txBody>
                    <a:bodyPr wrap="square"/>
                    <a:lstStyle/>
                    <a:p>
                      <a:pPr algn="l"/>
                      <a:r>
                        <a:rPr sz="950" b="0">
                          <a:solidFill>
                            <a:srgbClr val="222222"/>
                          </a:solidFill>
                        </a:rPr>
                        <a:t>multi-agents ; bug texte brut</a:t>
                      </a:r>
                    </a:p>
                  </a:txBody>
                  <a:tcPr anchor="ctr" marL="54864" marR="54864" marT="18288" marB="18288">
                    <a:solidFill>
                      <a:srgbClr val="EAF1F8"/>
                    </a:solidFill>
                  </a:tcPr>
                </a:tc>
              </a:tr>
              <a:tr h="283464">
                <a:tc>
                  <a:txBody>
                    <a:bodyPr wrap="square"/>
                    <a:lstStyle/>
                    <a:p>
                      <a:pPr algn="l"/>
                      <a:r>
                        <a:rPr sz="950" b="0">
                          <a:solidFill>
                            <a:srgbClr val="222222"/>
                          </a:solidFill>
                        </a:rPr>
                        <a:t>V3</a:t>
                      </a:r>
                    </a:p>
                  </a:txBody>
                  <a:tcPr anchor="ctr" marL="54864" marR="54864" marT="18288" marB="18288">
                    <a:solidFill>
                      <a:srgbClr val="FFFFFF"/>
                    </a:solidFill>
                  </a:tcPr>
                </a:tc>
                <a:tc>
                  <a:txBody>
                    <a:bodyPr wrap="square"/>
                    <a:lstStyle/>
                    <a:p>
                      <a:pPr algn="l"/>
                      <a:r>
                        <a:rPr sz="950" b="0">
                          <a:solidFill>
                            <a:srgbClr val="222222"/>
                          </a:solidFill>
                        </a:rPr>
                        <a:t>Ministral 3B</a:t>
                      </a:r>
                    </a:p>
                  </a:txBody>
                  <a:tcPr anchor="ctr" marL="54864" marR="54864" marT="18288" marB="18288">
                    <a:solidFill>
                      <a:srgbClr val="FFFFFF"/>
                    </a:solidFill>
                  </a:tcPr>
                </a:tc>
                <a:tc>
                  <a:txBody>
                    <a:bodyPr wrap="square"/>
                    <a:lstStyle/>
                    <a:p>
                      <a:pPr algn="l"/>
                      <a:r>
                        <a:rPr sz="950" b="0">
                          <a:solidFill>
                            <a:srgbClr val="222222"/>
                          </a:solidFill>
                        </a:rPr>
                        <a:t>4</a:t>
                      </a:r>
                    </a:p>
                  </a:txBody>
                  <a:tcPr anchor="ctr" marL="54864" marR="54864" marT="18288" marB="18288">
                    <a:solidFill>
                      <a:srgbClr val="FFFFFF"/>
                    </a:solidFill>
                  </a:tcPr>
                </a:tc>
                <a:tc>
                  <a:txBody>
                    <a:bodyPr wrap="square"/>
                    <a:lstStyle/>
                    <a:p>
                      <a:pPr algn="l"/>
                      <a:r>
                        <a:rPr sz="950" b="0">
                          <a:solidFill>
                            <a:srgbClr val="222222"/>
                          </a:solidFill>
                        </a:rPr>
                        <a:t>76 min</a:t>
                      </a:r>
                    </a:p>
                  </a:txBody>
                  <a:tcPr anchor="ctr" marL="54864" marR="54864" marT="18288" marB="18288">
                    <a:solidFill>
                      <a:srgbClr val="FFFFFF"/>
                    </a:solidFill>
                  </a:tcPr>
                </a:tc>
                <a:tc>
                  <a:txBody>
                    <a:bodyPr wrap="square"/>
                    <a:lstStyle/>
                    <a:p>
                      <a:pPr algn="l"/>
                      <a:r>
                        <a:rPr sz="950" b="0">
                          <a:solidFill>
                            <a:srgbClr val="222222"/>
                          </a:solidFill>
                        </a:rPr>
                        <a:t>texte brut OK ; tour de table mal placé</a:t>
                      </a:r>
                    </a:p>
                  </a:txBody>
                  <a:tcPr anchor="ctr" marL="54864" marR="54864" marT="18288" marB="18288">
                    <a:solidFill>
                      <a:srgbClr val="FFFFFF"/>
                    </a:solidFill>
                  </a:tcPr>
                </a:tc>
              </a:tr>
              <a:tr h="283464">
                <a:tc>
                  <a:txBody>
                    <a:bodyPr wrap="square"/>
                    <a:lstStyle/>
                    <a:p>
                      <a:pPr algn="l"/>
                      <a:r>
                        <a:rPr sz="950" b="0">
                          <a:solidFill>
                            <a:srgbClr val="222222"/>
                          </a:solidFill>
                        </a:rPr>
                        <a:t>V4</a:t>
                      </a:r>
                    </a:p>
                  </a:txBody>
                  <a:tcPr anchor="ctr" marL="54864" marR="54864" marT="18288" marB="18288">
                    <a:solidFill>
                      <a:srgbClr val="EAF1F8"/>
                    </a:solidFill>
                  </a:tcPr>
                </a:tc>
                <a:tc>
                  <a:txBody>
                    <a:bodyPr wrap="square"/>
                    <a:lstStyle/>
                    <a:p>
                      <a:pPr algn="l"/>
                      <a:r>
                        <a:rPr sz="950" b="0">
                          <a:solidFill>
                            <a:srgbClr val="222222"/>
                          </a:solidFill>
                        </a:rPr>
                        <a:t>Ministral 3B</a:t>
                      </a:r>
                    </a:p>
                  </a:txBody>
                  <a:tcPr anchor="ctr" marL="54864" marR="54864" marT="18288" marB="18288">
                    <a:solidFill>
                      <a:srgbClr val="EAF1F8"/>
                    </a:solidFill>
                  </a:tcPr>
                </a:tc>
                <a:tc>
                  <a:txBody>
                    <a:bodyPr wrap="square"/>
                    <a:lstStyle/>
                    <a:p>
                      <a:pPr algn="l"/>
                      <a:r>
                        <a:rPr sz="950" b="0">
                          <a:solidFill>
                            <a:srgbClr val="222222"/>
                          </a:solidFill>
                        </a:rPr>
                        <a:t>4</a:t>
                      </a:r>
                    </a:p>
                  </a:txBody>
                  <a:tcPr anchor="ctr" marL="54864" marR="54864" marT="18288" marB="18288">
                    <a:solidFill>
                      <a:srgbClr val="EAF1F8"/>
                    </a:solidFill>
                  </a:tcPr>
                </a:tc>
                <a:tc>
                  <a:txBody>
                    <a:bodyPr wrap="square"/>
                    <a:lstStyle/>
                    <a:p>
                      <a:pPr algn="l"/>
                      <a:r>
                        <a:rPr sz="950" b="0">
                          <a:solidFill>
                            <a:srgbClr val="222222"/>
                          </a:solidFill>
                        </a:rPr>
                        <a:t>69 min</a:t>
                      </a:r>
                    </a:p>
                  </a:txBody>
                  <a:tcPr anchor="ctr" marL="54864" marR="54864" marT="18288" marB="18288">
                    <a:solidFill>
                      <a:srgbClr val="EAF1F8"/>
                    </a:solidFill>
                  </a:tcPr>
                </a:tc>
                <a:tc>
                  <a:txBody>
                    <a:bodyPr wrap="square"/>
                    <a:lstStyle/>
                    <a:p>
                      <a:pPr algn="l"/>
                      <a:r>
                        <a:rPr sz="950" b="0">
                          <a:solidFill>
                            <a:srgbClr val="222222"/>
                          </a:solidFill>
                        </a:rPr>
                        <a:t>tables décisions/actions ; speaker mapping</a:t>
                      </a:r>
                    </a:p>
                  </a:txBody>
                  <a:tcPr anchor="ctr" marL="54864" marR="54864" marT="18288" marB="18288">
                    <a:solidFill>
                      <a:srgbClr val="EAF1F8"/>
                    </a:solidFill>
                  </a:tcPr>
                </a:tc>
              </a:tr>
              <a:tr h="283464">
                <a:tc>
                  <a:txBody>
                    <a:bodyPr wrap="square"/>
                    <a:lstStyle/>
                    <a:p>
                      <a:pPr algn="l"/>
                      <a:r>
                        <a:rPr sz="950" b="0">
                          <a:solidFill>
                            <a:srgbClr val="222222"/>
                          </a:solidFill>
                        </a:rPr>
                        <a:t>V5</a:t>
                      </a:r>
                    </a:p>
                  </a:txBody>
                  <a:tcPr anchor="ctr" marL="54864" marR="54864" marT="18288" marB="18288">
                    <a:solidFill>
                      <a:srgbClr val="FFFFFF"/>
                    </a:solidFill>
                  </a:tcPr>
                </a:tc>
                <a:tc>
                  <a:txBody>
                    <a:bodyPr wrap="square"/>
                    <a:lstStyle/>
                    <a:p>
                      <a:pPr algn="l"/>
                      <a:r>
                        <a:rPr sz="950" b="0">
                          <a:solidFill>
                            <a:srgbClr val="222222"/>
                          </a:solidFill>
                        </a:rPr>
                        <a:t>Qwen7B+draft</a:t>
                      </a:r>
                    </a:p>
                  </a:txBody>
                  <a:tcPr anchor="ctr" marL="54864" marR="54864" marT="18288" marB="18288">
                    <a:solidFill>
                      <a:srgbClr val="FFFFFF"/>
                    </a:solidFill>
                  </a:tcPr>
                </a:tc>
                <a:tc>
                  <a:txBody>
                    <a:bodyPr wrap="square"/>
                    <a:lstStyle/>
                    <a:p>
                      <a:pPr algn="l"/>
                      <a:r>
                        <a:rPr sz="950" b="0">
                          <a:solidFill>
                            <a:srgbClr val="222222"/>
                          </a:solidFill>
                        </a:rPr>
                        <a:t>10</a:t>
                      </a:r>
                    </a:p>
                  </a:txBody>
                  <a:tcPr anchor="ctr" marL="54864" marR="54864" marT="18288" marB="18288">
                    <a:solidFill>
                      <a:srgbClr val="FFFFFF"/>
                    </a:solidFill>
                  </a:tcPr>
                </a:tc>
                <a:tc>
                  <a:txBody>
                    <a:bodyPr wrap="square"/>
                    <a:lstStyle/>
                    <a:p>
                      <a:pPr algn="l"/>
                      <a:r>
                        <a:rPr sz="950" b="1">
                          <a:solidFill>
                            <a:srgbClr val="B02A2A"/>
                          </a:solidFill>
                        </a:rPr>
                        <a:t>incomplet</a:t>
                      </a:r>
                    </a:p>
                  </a:txBody>
                  <a:tcPr anchor="ctr" marL="54864" marR="54864" marT="18288" marB="18288">
                    <a:solidFill>
                      <a:srgbClr val="FFFFFF"/>
                    </a:solidFill>
                  </a:tcPr>
                </a:tc>
                <a:tc>
                  <a:txBody>
                    <a:bodyPr wrap="square"/>
                    <a:lstStyle/>
                    <a:p>
                      <a:pPr algn="l"/>
                      <a:r>
                        <a:rPr sz="950" b="0">
                          <a:solidFill>
                            <a:srgbClr val="222222"/>
                          </a:solidFill>
                        </a:rPr>
                        <a:t>test spec decoding, run interrompu</a:t>
                      </a:r>
                    </a:p>
                  </a:txBody>
                  <a:tcPr anchor="ctr" marL="54864" marR="54864" marT="18288" marB="18288">
                    <a:solidFill>
                      <a:srgbClr val="FFFFFF"/>
                    </a:solidFill>
                  </a:tcPr>
                </a:tc>
              </a:tr>
              <a:tr h="283464">
                <a:tc>
                  <a:txBody>
                    <a:bodyPr wrap="square"/>
                    <a:lstStyle/>
                    <a:p>
                      <a:pPr algn="l"/>
                      <a:r>
                        <a:rPr sz="950" b="0">
                          <a:solidFill>
                            <a:srgbClr val="222222"/>
                          </a:solidFill>
                        </a:rPr>
                        <a:t>V6</a:t>
                      </a:r>
                    </a:p>
                  </a:txBody>
                  <a:tcPr anchor="ctr" marL="54864" marR="54864" marT="18288" marB="18288">
                    <a:solidFill>
                      <a:srgbClr val="EAF1F8"/>
                    </a:solidFill>
                  </a:tcPr>
                </a:tc>
                <a:tc>
                  <a:txBody>
                    <a:bodyPr wrap="square"/>
                    <a:lstStyle/>
                    <a:p>
                      <a:pPr algn="l"/>
                      <a:r>
                        <a:rPr sz="950" b="0">
                          <a:solidFill>
                            <a:srgbClr val="222222"/>
                          </a:solidFill>
                        </a:rPr>
                        <a:t>Qwen 7B</a:t>
                      </a:r>
                    </a:p>
                  </a:txBody>
                  <a:tcPr anchor="ctr" marL="54864" marR="54864" marT="18288" marB="18288">
                    <a:solidFill>
                      <a:srgbClr val="EAF1F8"/>
                    </a:solidFill>
                  </a:tcPr>
                </a:tc>
                <a:tc>
                  <a:txBody>
                    <a:bodyPr wrap="square"/>
                    <a:lstStyle/>
                    <a:p>
                      <a:pPr algn="l"/>
                      <a:r>
                        <a:rPr sz="950" b="0">
                          <a:solidFill>
                            <a:srgbClr val="222222"/>
                          </a:solidFill>
                        </a:rPr>
                        <a:t>8</a:t>
                      </a:r>
                    </a:p>
                  </a:txBody>
                  <a:tcPr anchor="ctr" marL="54864" marR="54864" marT="18288" marB="18288">
                    <a:solidFill>
                      <a:srgbClr val="EAF1F8"/>
                    </a:solidFill>
                  </a:tcPr>
                </a:tc>
                <a:tc>
                  <a:txBody>
                    <a:bodyPr wrap="square"/>
                    <a:lstStyle/>
                    <a:p>
                      <a:pPr algn="l"/>
                      <a:r>
                        <a:rPr sz="950" b="0">
                          <a:solidFill>
                            <a:srgbClr val="222222"/>
                          </a:solidFill>
                        </a:rPr>
                        <a:t>146 min</a:t>
                      </a:r>
                    </a:p>
                  </a:txBody>
                  <a:tcPr anchor="ctr" marL="54864" marR="54864" marT="18288" marB="18288">
                    <a:solidFill>
                      <a:srgbClr val="EAF1F8"/>
                    </a:solidFill>
                  </a:tcPr>
                </a:tc>
                <a:tc>
                  <a:txBody>
                    <a:bodyPr wrap="square"/>
                    <a:lstStyle/>
                    <a:p>
                      <a:pPr algn="l"/>
                      <a:r>
                        <a:rPr sz="950" b="0">
                          <a:solidFill>
                            <a:srgbClr val="222222"/>
                          </a:solidFill>
                        </a:rPr>
                        <a:t>prose en hausse mais détail PPT perdu</a:t>
                      </a:r>
                    </a:p>
                  </a:txBody>
                  <a:tcPr anchor="ctr" marL="54864" marR="54864" marT="18288" marB="18288">
                    <a:solidFill>
                      <a:srgbClr val="EAF1F8"/>
                    </a:solidFill>
                  </a:tcPr>
                </a:tc>
              </a:tr>
              <a:tr h="283464">
                <a:tc>
                  <a:txBody>
                    <a:bodyPr wrap="square"/>
                    <a:lstStyle/>
                    <a:p>
                      <a:pPr algn="l"/>
                      <a:r>
                        <a:rPr sz="950" b="0">
                          <a:solidFill>
                            <a:srgbClr val="222222"/>
                          </a:solidFill>
                        </a:rPr>
                        <a:t>V7</a:t>
                      </a:r>
                    </a:p>
                  </a:txBody>
                  <a:tcPr anchor="ctr" marL="54864" marR="54864" marT="18288" marB="18288">
                    <a:solidFill>
                      <a:srgbClr val="FFFFFF"/>
                    </a:solidFill>
                  </a:tcPr>
                </a:tc>
                <a:tc>
                  <a:txBody>
                    <a:bodyPr wrap="square"/>
                    <a:lstStyle/>
                    <a:p>
                      <a:pPr algn="l"/>
                      <a:r>
                        <a:rPr sz="950" b="0">
                          <a:solidFill>
                            <a:srgbClr val="222222"/>
                          </a:solidFill>
                        </a:rPr>
                        <a:t>Ministral 3B</a:t>
                      </a:r>
                    </a:p>
                  </a:txBody>
                  <a:tcPr anchor="ctr" marL="54864" marR="54864" marT="18288" marB="18288">
                    <a:solidFill>
                      <a:srgbClr val="FFFFFF"/>
                    </a:solidFill>
                  </a:tcPr>
                </a:tc>
                <a:tc>
                  <a:txBody>
                    <a:bodyPr wrap="square"/>
                    <a:lstStyle/>
                    <a:p>
                      <a:pPr algn="l"/>
                      <a:r>
                        <a:rPr sz="950" b="0">
                          <a:solidFill>
                            <a:srgbClr val="222222"/>
                          </a:solidFill>
                        </a:rPr>
                        <a:t>5</a:t>
                      </a:r>
                    </a:p>
                  </a:txBody>
                  <a:tcPr anchor="ctr" marL="54864" marR="54864" marT="18288" marB="18288">
                    <a:solidFill>
                      <a:srgbClr val="FFFFFF"/>
                    </a:solidFill>
                  </a:tcPr>
                </a:tc>
                <a:tc>
                  <a:txBody>
                    <a:bodyPr wrap="square"/>
                    <a:lstStyle/>
                    <a:p>
                      <a:pPr algn="l"/>
                      <a:r>
                        <a:rPr sz="950" b="0">
                          <a:solidFill>
                            <a:srgbClr val="222222"/>
                          </a:solidFill>
                        </a:rPr>
                        <a:t>182 min</a:t>
                      </a:r>
                    </a:p>
                  </a:txBody>
                  <a:tcPr anchor="ctr" marL="54864" marR="54864" marT="18288" marB="18288">
                    <a:solidFill>
                      <a:srgbClr val="FFFFFF"/>
                    </a:solidFill>
                  </a:tcPr>
                </a:tc>
                <a:tc>
                  <a:txBody>
                    <a:bodyPr wrap="square"/>
                    <a:lstStyle/>
                    <a:p>
                      <a:pPr algn="l"/>
                      <a:r>
                        <a:rPr sz="950" b="1">
                          <a:solidFill>
                            <a:srgbClr val="B02A2A"/>
                          </a:solidFill>
                        </a:rPr>
                        <a:t>worker planté (JSON vide), d'où robustesse</a:t>
                      </a:r>
                    </a:p>
                  </a:txBody>
                  <a:tcPr anchor="ctr" marL="54864" marR="54864" marT="18288" marB="18288">
                    <a:solidFill>
                      <a:srgbClr val="FFFFFF"/>
                    </a:solidFill>
                  </a:tcPr>
                </a:tc>
              </a:tr>
              <a:tr h="283464">
                <a:tc>
                  <a:txBody>
                    <a:bodyPr wrap="square"/>
                    <a:lstStyle/>
                    <a:p>
                      <a:pPr algn="l"/>
                      <a:r>
                        <a:rPr sz="950" b="0">
                          <a:solidFill>
                            <a:srgbClr val="222222"/>
                          </a:solidFill>
                        </a:rPr>
                        <a:t>V8</a:t>
                      </a:r>
                    </a:p>
                  </a:txBody>
                  <a:tcPr anchor="ctr" marL="54864" marR="54864" marT="18288" marB="18288">
                    <a:solidFill>
                      <a:srgbClr val="EAF1F8"/>
                    </a:solidFill>
                  </a:tcPr>
                </a:tc>
                <a:tc>
                  <a:txBody>
                    <a:bodyPr wrap="square"/>
                    <a:lstStyle/>
                    <a:p>
                      <a:pPr algn="l"/>
                      <a:r>
                        <a:rPr sz="950" b="0">
                          <a:solidFill>
                            <a:srgbClr val="222222"/>
                          </a:solidFill>
                        </a:rPr>
                        <a:t>Ministral 3B</a:t>
                      </a:r>
                    </a:p>
                  </a:txBody>
                  <a:tcPr anchor="ctr" marL="54864" marR="54864" marT="18288" marB="18288">
                    <a:solidFill>
                      <a:srgbClr val="EAF1F8"/>
                    </a:solidFill>
                  </a:tcPr>
                </a:tc>
                <a:tc>
                  <a:txBody>
                    <a:bodyPr wrap="square"/>
                    <a:lstStyle/>
                    <a:p>
                      <a:pPr algn="l"/>
                      <a:r>
                        <a:rPr sz="950" b="0">
                          <a:solidFill>
                            <a:srgbClr val="222222"/>
                          </a:solidFill>
                        </a:rPr>
                        <a:t>6</a:t>
                      </a:r>
                    </a:p>
                  </a:txBody>
                  <a:tcPr anchor="ctr" marL="54864" marR="54864" marT="18288" marB="18288">
                    <a:solidFill>
                      <a:srgbClr val="EAF1F8"/>
                    </a:solidFill>
                  </a:tcPr>
                </a:tc>
                <a:tc>
                  <a:txBody>
                    <a:bodyPr wrap="square"/>
                    <a:lstStyle/>
                    <a:p>
                      <a:pPr algn="l"/>
                      <a:r>
                        <a:rPr sz="950" b="0">
                          <a:solidFill>
                            <a:srgbClr val="222222"/>
                          </a:solidFill>
                        </a:rPr>
                        <a:t>125 min</a:t>
                      </a:r>
                    </a:p>
                  </a:txBody>
                  <a:tcPr anchor="ctr" marL="54864" marR="54864" marT="18288" marB="18288">
                    <a:solidFill>
                      <a:srgbClr val="EAF1F8"/>
                    </a:solidFill>
                  </a:tcPr>
                </a:tc>
                <a:tc>
                  <a:txBody>
                    <a:bodyPr wrap="square"/>
                    <a:lstStyle/>
                    <a:p>
                      <a:pPr algn="l"/>
                      <a:r>
                        <a:rPr sz="950" b="0">
                          <a:solidFill>
                            <a:srgbClr val="222222"/>
                          </a:solidFill>
                        </a:rPr>
                        <a:t>robustesse + juges few-shot ; extraction fraîche</a:t>
                      </a:r>
                    </a:p>
                  </a:txBody>
                  <a:tcPr anchor="ctr" marL="54864" marR="54864" marT="18288" marB="18288">
                    <a:solidFill>
                      <a:srgbClr val="EAF1F8"/>
                    </a:solidFill>
                  </a:tcPr>
                </a:tc>
              </a:tr>
              <a:tr h="283464">
                <a:tc>
                  <a:txBody>
                    <a:bodyPr wrap="square"/>
                    <a:lstStyle/>
                    <a:p>
                      <a:pPr algn="l"/>
                      <a:r>
                        <a:rPr sz="950" b="0">
                          <a:solidFill>
                            <a:srgbClr val="222222"/>
                          </a:solidFill>
                        </a:rPr>
                        <a:t>V9</a:t>
                      </a:r>
                    </a:p>
                  </a:txBody>
                  <a:tcPr anchor="ctr" marL="54864" marR="54864" marT="18288" marB="18288">
                    <a:solidFill>
                      <a:srgbClr val="FFFFFF"/>
                    </a:solidFill>
                  </a:tcPr>
                </a:tc>
                <a:tc>
                  <a:txBody>
                    <a:bodyPr wrap="square"/>
                    <a:lstStyle/>
                    <a:p>
                      <a:pPr algn="l"/>
                      <a:r>
                        <a:rPr sz="950" b="0">
                          <a:solidFill>
                            <a:srgbClr val="222222"/>
                          </a:solidFill>
                        </a:rPr>
                        <a:t>Hybride 7B+3B</a:t>
                      </a:r>
                    </a:p>
                  </a:txBody>
                  <a:tcPr anchor="ctr" marL="54864" marR="54864" marT="18288" marB="18288">
                    <a:solidFill>
                      <a:srgbClr val="FFFFFF"/>
                    </a:solidFill>
                  </a:tcPr>
                </a:tc>
                <a:tc>
                  <a:txBody>
                    <a:bodyPr wrap="square"/>
                    <a:lstStyle/>
                    <a:p>
                      <a:pPr algn="l"/>
                      <a:r>
                        <a:rPr sz="950" b="0">
                          <a:solidFill>
                            <a:srgbClr val="222222"/>
                          </a:solidFill>
                        </a:rPr>
                        <a:t>7</a:t>
                      </a:r>
                    </a:p>
                  </a:txBody>
                  <a:tcPr anchor="ctr" marL="54864" marR="54864" marT="18288" marB="18288">
                    <a:solidFill>
                      <a:srgbClr val="FFFFFF"/>
                    </a:solidFill>
                  </a:tcPr>
                </a:tc>
                <a:tc>
                  <a:txBody>
                    <a:bodyPr wrap="square"/>
                    <a:lstStyle/>
                    <a:p>
                      <a:pPr algn="l"/>
                      <a:r>
                        <a:rPr sz="950" b="0">
                          <a:solidFill>
                            <a:srgbClr val="222222"/>
                          </a:solidFill>
                        </a:rPr>
                        <a:t>112 min</a:t>
                      </a:r>
                    </a:p>
                  </a:txBody>
                  <a:tcPr anchor="ctr" marL="54864" marR="54864" marT="18288" marB="18288">
                    <a:solidFill>
                      <a:srgbClr val="FFFFFF"/>
                    </a:solidFill>
                  </a:tcPr>
                </a:tc>
                <a:tc>
                  <a:txBody>
                    <a:bodyPr wrap="square"/>
                    <a:lstStyle/>
                    <a:p>
                      <a:pPr algn="l"/>
                      <a:r>
                        <a:rPr sz="950" b="0">
                          <a:solidFill>
                            <a:srgbClr val="222222"/>
                          </a:solidFill>
                        </a:rPr>
                        <a:t>routage par agent (contexte 7B, reste 3B)</a:t>
                      </a:r>
                    </a:p>
                  </a:txBody>
                  <a:tcPr anchor="ctr" marL="54864" marR="54864" marT="18288" marB="18288">
                    <a:solidFill>
                      <a:srgbClr val="FFFFFF"/>
                    </a:solidFill>
                  </a:tcPr>
                </a:tc>
              </a:tr>
              <a:tr h="283464">
                <a:tc>
                  <a:txBody>
                    <a:bodyPr wrap="square"/>
                    <a:lstStyle/>
                    <a:p>
                      <a:pPr algn="l"/>
                      <a:r>
                        <a:rPr sz="950" b="0">
                          <a:solidFill>
                            <a:srgbClr val="222222"/>
                          </a:solidFill>
                        </a:rPr>
                        <a:t>V10</a:t>
                      </a:r>
                    </a:p>
                  </a:txBody>
                  <a:tcPr anchor="ctr" marL="54864" marR="54864" marT="18288" marB="18288">
                    <a:solidFill>
                      <a:srgbClr val="EAF1F8"/>
                    </a:solidFill>
                  </a:tcPr>
                </a:tc>
                <a:tc>
                  <a:txBody>
                    <a:bodyPr wrap="square"/>
                    <a:lstStyle/>
                    <a:p>
                      <a:pPr algn="l"/>
                      <a:r>
                        <a:rPr sz="950" b="0">
                          <a:solidFill>
                            <a:srgbClr val="222222"/>
                          </a:solidFill>
                        </a:rPr>
                        <a:t>Qwen 3B sans diar.</a:t>
                      </a:r>
                    </a:p>
                  </a:txBody>
                  <a:tcPr anchor="ctr" marL="54864" marR="54864" marT="18288" marB="18288">
                    <a:solidFill>
                      <a:srgbClr val="EAF1F8"/>
                    </a:solidFill>
                  </a:tcPr>
                </a:tc>
                <a:tc>
                  <a:txBody>
                    <a:bodyPr wrap="square"/>
                    <a:lstStyle/>
                    <a:p>
                      <a:pPr algn="l"/>
                      <a:r>
                        <a:rPr sz="950" b="0">
                          <a:solidFill>
                            <a:srgbClr val="222222"/>
                          </a:solidFill>
                        </a:rPr>
                        <a:t>10</a:t>
                      </a:r>
                    </a:p>
                  </a:txBody>
                  <a:tcPr anchor="ctr" marL="54864" marR="54864" marT="18288" marB="18288">
                    <a:solidFill>
                      <a:srgbClr val="EAF1F8"/>
                    </a:solidFill>
                  </a:tcPr>
                </a:tc>
                <a:tc>
                  <a:txBody>
                    <a:bodyPr wrap="square"/>
                    <a:lstStyle/>
                    <a:p>
                      <a:pPr algn="l"/>
                      <a:r>
                        <a:rPr sz="950" b="0">
                          <a:solidFill>
                            <a:srgbClr val="222222"/>
                          </a:solidFill>
                        </a:rPr>
                        <a:t>134 min</a:t>
                      </a:r>
                    </a:p>
                  </a:txBody>
                  <a:tcPr anchor="ctr" marL="54864" marR="54864" marT="18288" marB="18288">
                    <a:solidFill>
                      <a:srgbClr val="EAF1F8"/>
                    </a:solidFill>
                  </a:tcPr>
                </a:tc>
                <a:tc>
                  <a:txBody>
                    <a:bodyPr wrap="square"/>
                    <a:lstStyle/>
                    <a:p>
                      <a:pPr algn="l"/>
                      <a:r>
                        <a:rPr sz="950" b="0">
                          <a:solidFill>
                            <a:srgbClr val="222222"/>
                          </a:solidFill>
                        </a:rPr>
                        <a:t>tout-Qwen, transcript sans diarisation</a:t>
                      </a:r>
                    </a:p>
                  </a:txBody>
                  <a:tcPr anchor="ctr" marL="54864" marR="54864" marT="18288" marB="18288">
                    <a:solidFill>
                      <a:srgbClr val="EAF1F8"/>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2.B  Côte à côte : Ministral 3B (V8) vs Qwen 7B (V6)</a:t>
            </a:r>
          </a:p>
        </p:txBody>
      </p:sp>
      <p:sp>
        <p:nvSpPr>
          <p:cNvPr id="3" name="TextBox 2"/>
          <p:cNvSpPr txBox="1"/>
          <p:nvPr/>
        </p:nvSpPr>
        <p:spPr>
          <a:xfrm>
            <a:off x="457200" y="1005840"/>
            <a:ext cx="11274552" cy="548640"/>
          </a:xfrm>
          <a:prstGeom prst="rect">
            <a:avLst/>
          </a:prstGeom>
          <a:noFill/>
        </p:spPr>
        <p:txBody>
          <a:bodyPr wrap="square">
            <a:spAutoFit/>
          </a:bodyPr>
          <a:lstStyle/>
          <a:p>
            <a:r>
              <a:rPr sz="1200" i="0" b="0">
                <a:solidFill>
                  <a:srgbClr val="222222"/>
                </a:solidFill>
              </a:rPr>
              <a:t>Même section. Le 7B cadre mieux globalement mais perd le détail concret ; le 3B retient l'outil Power et les fichiers PPT.</a:t>
            </a:r>
          </a:p>
        </p:txBody>
      </p:sp>
      <p:sp>
        <p:nvSpPr>
          <p:cNvPr id="4" name="Rounded Rectangle 3"/>
          <p:cNvSpPr/>
          <p:nvPr/>
        </p:nvSpPr>
        <p:spPr>
          <a:xfrm>
            <a:off x="457200" y="1600200"/>
            <a:ext cx="5440680" cy="3017520"/>
          </a:xfrm>
          <a:prstGeom prst="round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b="1" sz="1300">
                <a:solidFill>
                  <a:srgbClr val="1E6B2F"/>
                </a:solidFill>
              </a:rPr>
              <a:t>Ministral 3B (V8) : détail conservé</a:t>
            </a:r>
          </a:p>
          <a:p>
            <a:pPr>
              <a:spcBef>
                <a:spcPts val="400"/>
              </a:spcBef>
            </a:pPr>
            <a:r>
              <a:rPr sz="1050" i="1">
                <a:solidFill>
                  <a:srgbClr val="222222"/>
                </a:solidFill>
              </a:rPr>
              <a:t>« ... automatiser la rédaction de rapports métiers... L'équipe utilisait déjà un outil interne nommé Power... résultats stockés en fichiers PPT contenant principalement des graphiques et peu de texte... »</a:t>
            </a:r>
          </a:p>
          <a:p>
            <a:pPr>
              <a:spcBef>
                <a:spcPts val="400"/>
              </a:spcBef>
            </a:pPr>
            <a:r>
              <a:rPr sz="850">
                <a:solidFill>
                  <a:srgbClr val="2E75B6"/>
                </a:solidFill>
              </a:rPr>
              <a:t>Source : agentique_v8_ministral3b.md</a:t>
            </a:r>
          </a:p>
        </p:txBody>
      </p:sp>
      <p:sp>
        <p:nvSpPr>
          <p:cNvPr id="5" name="Rounded Rectangle 4"/>
          <p:cNvSpPr/>
          <p:nvPr/>
        </p:nvSpPr>
        <p:spPr>
          <a:xfrm>
            <a:off x="6291072" y="1600200"/>
            <a:ext cx="5440680" cy="3017520"/>
          </a:xfrm>
          <a:prstGeom prst="roundRect">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b="1" sz="1300">
                <a:solidFill>
                  <a:srgbClr val="B02A2A"/>
                </a:solidFill>
              </a:rPr>
              <a:t>Qwen 7B (V6) : générique, détail perdu</a:t>
            </a:r>
          </a:p>
          <a:p>
            <a:pPr>
              <a:spcBef>
                <a:spcPts val="400"/>
              </a:spcBef>
            </a:pPr>
            <a:r>
              <a:rPr sz="1050" i="1">
                <a:solidFill>
                  <a:srgbClr val="222222"/>
                </a:solidFill>
              </a:rPr>
              <a:t>« ... présentation des rôles et expertises... Ensuite Maya SAHRAOUI a présenté ses méthodes pour automatiser la rédaction de rapports à partir d'études PowerPoint. »</a:t>
            </a:r>
          </a:p>
          <a:p>
            <a:pPr>
              <a:spcBef>
                <a:spcPts val="400"/>
              </a:spcBef>
            </a:pPr>
            <a:r>
              <a:rPr sz="850">
                <a:solidFill>
                  <a:srgbClr val="2E75B6"/>
                </a:solidFill>
              </a:rPr>
              <a:t>Source : agentique_v6_qwen7b.md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2.B  Défauts (même réunion) : pourquoi ces versions sont écartées</a:t>
            </a:r>
          </a:p>
        </p:txBody>
      </p:sp>
      <p:sp>
        <p:nvSpPr>
          <p:cNvPr id="3" name="TextBox 2"/>
          <p:cNvSpPr txBox="1"/>
          <p:nvPr/>
        </p:nvSpPr>
        <p:spPr>
          <a:xfrm>
            <a:off x="457200" y="960120"/>
            <a:ext cx="11274552" cy="548640"/>
          </a:xfrm>
          <a:prstGeom prst="rect">
            <a:avLst/>
          </a:prstGeom>
          <a:noFill/>
        </p:spPr>
        <p:txBody>
          <a:bodyPr wrap="square">
            <a:spAutoFit/>
          </a:bodyPr>
          <a:lstStyle/>
          <a:p>
            <a:r>
              <a:rPr sz="1200" i="0" b="1">
                <a:solidFill>
                  <a:srgbClr val="222222"/>
                </a:solidFill>
              </a:rPr>
              <a:t>V10 (tout-Qwen, sans diarisation) : décisions fabriquées + fuite d'un exemple du prompt.</a:t>
            </a:r>
          </a:p>
        </p:txBody>
      </p:sp>
      <p:sp>
        <p:nvSpPr>
          <p:cNvPr id="4" name="Rectangle 3"/>
          <p:cNvSpPr/>
          <p:nvPr/>
        </p:nvSpPr>
        <p:spPr>
          <a:xfrm>
            <a:off x="457200" y="1417320"/>
            <a:ext cx="11274552" cy="1600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r>
              <a:rPr sz="1000" i="1">
                <a:solidFill>
                  <a:srgbClr val="222222"/>
                </a:solidFill>
              </a:rPr>
              <a:t>| 1 | on décide de faire des connaissances | On décide de faire des connaissances |</a:t>
            </a:r>
          </a:p>
          <a:p>
            <a:r>
              <a:rPr sz="1000" i="1">
                <a:solidFill>
                  <a:srgbClr val="222222"/>
                </a:solidFill>
              </a:rPr>
              <a:t>| 2 | on décide de gagner en souveraineté  | On décide de gagner en souveraineté |</a:t>
            </a:r>
          </a:p>
          <a:p>
            <a:r>
              <a:rPr sz="1000" i="1">
                <a:solidFill>
                  <a:srgbClr val="222222"/>
                </a:solidFill>
              </a:rPr>
              <a:t>Plan d'action : | 1 | S'occuper de la doc, vendredi | Alice | vendredi |  (Alice vient du prompt)</a:t>
            </a:r>
          </a:p>
          <a:p>
            <a:r>
              <a:rPr sz="850">
                <a:solidFill>
                  <a:srgbClr val="2E75B6"/>
                </a:solidFill>
              </a:rPr>
              <a:t>Extrait de : agentique_v10_qwen3b_sans-diarisation.md</a:t>
            </a:r>
          </a:p>
        </p:txBody>
      </p:sp>
      <p:sp>
        <p:nvSpPr>
          <p:cNvPr id="5" name="TextBox 4"/>
          <p:cNvSpPr txBox="1"/>
          <p:nvPr/>
        </p:nvSpPr>
        <p:spPr>
          <a:xfrm>
            <a:off x="457200" y="3200400"/>
            <a:ext cx="11274552" cy="548640"/>
          </a:xfrm>
          <a:prstGeom prst="rect">
            <a:avLst/>
          </a:prstGeom>
          <a:noFill/>
        </p:spPr>
        <p:txBody>
          <a:bodyPr wrap="square">
            <a:spAutoFit/>
          </a:bodyPr>
          <a:lstStyle/>
          <a:p>
            <a:r>
              <a:rPr sz="1200" i="0" b="1">
                <a:solidFill>
                  <a:srgbClr val="222222"/>
                </a:solidFill>
              </a:rPr>
              <a:t>V7 (Ministral 3B) : un worker renvoie un JSON vide, section perdue. Déclencheur des garde-fous (timeout, retry, fallback déterministe).</a:t>
            </a:r>
          </a:p>
        </p:txBody>
      </p:sp>
      <p:sp>
        <p:nvSpPr>
          <p:cNvPr id="6" name="Rectangle 5"/>
          <p:cNvSpPr/>
          <p:nvPr/>
        </p:nvSpPr>
        <p:spPr>
          <a:xfrm>
            <a:off x="457200" y="3657600"/>
            <a:ext cx="11274552" cy="1005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r>
              <a:rPr sz="1000" i="1">
                <a:solidFill>
                  <a:srgbClr val="222222"/>
                </a:solidFill>
              </a:rPr>
              <a:t>## 5. Plan d'action</a:t>
            </a:r>
          </a:p>
          <a:p>
            <a:r>
              <a:rPr sz="1000" i="1">
                <a:solidFill>
                  <a:srgbClr val="222222"/>
                </a:solidFill>
              </a:rPr>
              <a:t>_Section non rendue (Expecting value: line 1 column 1 (char 0))._</a:t>
            </a:r>
          </a:p>
          <a:p>
            <a:r>
              <a:rPr sz="850">
                <a:solidFill>
                  <a:srgbClr val="2E75B6"/>
                </a:solidFill>
              </a:rPr>
              <a:t>Extrait de : agentique_v7_ministral3b.md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2.B  V9 : routage hybride par agent</a:t>
            </a:r>
          </a:p>
        </p:txBody>
      </p:sp>
      <p:sp>
        <p:nvSpPr>
          <p:cNvPr id="3" name="TextBox 2"/>
          <p:cNvSpPr txBox="1"/>
          <p:nvPr/>
        </p:nvSpPr>
        <p:spPr>
          <a:xfrm>
            <a:off x="457200" y="1005840"/>
            <a:ext cx="11274552" cy="548640"/>
          </a:xfrm>
          <a:prstGeom prst="rect">
            <a:avLst/>
          </a:prstGeom>
          <a:noFill/>
        </p:spPr>
        <p:txBody>
          <a:bodyPr wrap="square">
            <a:spAutoFit/>
          </a:bodyPr>
          <a:lstStyle/>
          <a:p>
            <a:r>
              <a:rPr sz="1300" i="0" b="0">
                <a:solidFill>
                  <a:srgbClr val="222222"/>
                </a:solidFill>
              </a:rPr>
              <a:t>Le 7B n'est meilleur que sur le cadrage global (Context Builder) et la fluidité ; le 3B suffit et est plus rapide ailleurs. V9 met un modèle différent par phase.</a:t>
            </a:r>
          </a:p>
        </p:txBody>
      </p:sp>
      <p:graphicFrame>
        <p:nvGraphicFramePr>
          <p:cNvPr id="4" name="Table 3"/>
          <p:cNvGraphicFramePr>
            <a:graphicFrameLocks noGrp="1"/>
          </p:cNvGraphicFramePr>
          <p:nvPr/>
        </p:nvGraphicFramePr>
        <p:xfrm>
          <a:off x="457200" y="1783080"/>
          <a:ext cx="7315199" cy="2176272"/>
        </p:xfrm>
        <a:graphic>
          <a:graphicData uri="http://schemas.openxmlformats.org/drawingml/2006/table">
            <a:tbl>
              <a:tblPr>
                <a:tableStyleId>{5C22544A-7EE6-4342-B048-85BDC9FD1C3A}</a:tableStyleId>
              </a:tblPr>
              <a:tblGrid>
                <a:gridCol w="3135085"/>
                <a:gridCol w="2090057"/>
                <a:gridCol w="2090057"/>
              </a:tblGrid>
              <a:tr h="310896">
                <a:tc>
                  <a:txBody>
                    <a:bodyPr wrap="square"/>
                    <a:lstStyle/>
                    <a:p>
                      <a:pPr algn="l"/>
                      <a:r>
                        <a:rPr sz="1100" b="1">
                          <a:solidFill>
                            <a:srgbClr val="FFFFFF"/>
                          </a:solidFill>
                        </a:rPr>
                        <a:t>Phase</a:t>
                      </a:r>
                    </a:p>
                  </a:txBody>
                  <a:tcPr anchor="ctr" marL="54864" marR="54864" marT="18288" marB="18288">
                    <a:solidFill>
                      <a:srgbClr val="1F4E79"/>
                    </a:solidFill>
                  </a:tcPr>
                </a:tc>
                <a:tc>
                  <a:txBody>
                    <a:bodyPr wrap="square"/>
                    <a:lstStyle/>
                    <a:p>
                      <a:pPr algn="l"/>
                      <a:r>
                        <a:rPr sz="1100" b="1">
                          <a:solidFill>
                            <a:srgbClr val="FFFFFF"/>
                          </a:solidFill>
                        </a:rPr>
                        <a:t>Modèle</a:t>
                      </a:r>
                    </a:p>
                  </a:txBody>
                  <a:tcPr anchor="ctr" marL="54864" marR="54864" marT="18288" marB="18288">
                    <a:solidFill>
                      <a:srgbClr val="1F4E79"/>
                    </a:solidFill>
                  </a:tcPr>
                </a:tc>
                <a:tc>
                  <a:txBody>
                    <a:bodyPr wrap="square"/>
                    <a:lstStyle/>
                    <a:p>
                      <a:pPr algn="l"/>
                      <a:r>
                        <a:rPr sz="1100" b="1">
                          <a:solidFill>
                            <a:srgbClr val="FFFFFF"/>
                          </a:solidFill>
                        </a:rPr>
                        <a:t>Durée</a:t>
                      </a:r>
                    </a:p>
                  </a:txBody>
                  <a:tcPr anchor="ctr" marL="54864" marR="54864" marT="18288" marB="18288">
                    <a:solidFill>
                      <a:srgbClr val="1F4E79"/>
                    </a:solidFill>
                  </a:tcPr>
                </a:tc>
              </a:tr>
              <a:tr h="310896">
                <a:tc>
                  <a:txBody>
                    <a:bodyPr wrap="square"/>
                    <a:lstStyle/>
                    <a:p>
                      <a:pPr algn="l"/>
                      <a:r>
                        <a:rPr sz="1100" b="0">
                          <a:solidFill>
                            <a:srgbClr val="222222"/>
                          </a:solidFill>
                        </a:rPr>
                        <a:t>Context Builder</a:t>
                      </a:r>
                    </a:p>
                  </a:txBody>
                  <a:tcPr anchor="ctr" marL="54864" marR="54864" marT="18288" marB="18288">
                    <a:solidFill>
                      <a:srgbClr val="FFFFFF"/>
                    </a:solidFill>
                  </a:tcPr>
                </a:tc>
                <a:tc>
                  <a:txBody>
                    <a:bodyPr wrap="square"/>
                    <a:lstStyle/>
                    <a:p>
                      <a:pPr algn="l"/>
                      <a:r>
                        <a:rPr sz="1100" b="0">
                          <a:solidFill>
                            <a:srgbClr val="222222"/>
                          </a:solidFill>
                        </a:rPr>
                        <a:t>Qwen 7B</a:t>
                      </a:r>
                    </a:p>
                  </a:txBody>
                  <a:tcPr anchor="ctr" marL="54864" marR="54864" marT="18288" marB="18288">
                    <a:solidFill>
                      <a:srgbClr val="FFFFFF"/>
                    </a:solidFill>
                  </a:tcPr>
                </a:tc>
                <a:tc>
                  <a:txBody>
                    <a:bodyPr wrap="square"/>
                    <a:lstStyle/>
                    <a:p>
                      <a:pPr algn="l"/>
                      <a:r>
                        <a:rPr sz="1100" b="0">
                          <a:solidFill>
                            <a:srgbClr val="222222"/>
                          </a:solidFill>
                        </a:rPr>
                        <a:t>837 s</a:t>
                      </a:r>
                    </a:p>
                  </a:txBody>
                  <a:tcPr anchor="ctr" marL="54864" marR="54864" marT="18288" marB="18288">
                    <a:solidFill>
                      <a:srgbClr val="FFFFFF"/>
                    </a:solidFill>
                  </a:tcPr>
                </a:tc>
              </a:tr>
              <a:tr h="310896">
                <a:tc>
                  <a:txBody>
                    <a:bodyPr wrap="square"/>
                    <a:lstStyle/>
                    <a:p>
                      <a:pPr algn="l"/>
                      <a:r>
                        <a:rPr sz="1100" b="0">
                          <a:solidFill>
                            <a:srgbClr val="222222"/>
                          </a:solidFill>
                        </a:rPr>
                        <a:t>Planner</a:t>
                      </a:r>
                    </a:p>
                  </a:txBody>
                  <a:tcPr anchor="ctr" marL="54864" marR="54864" marT="18288" marB="18288">
                    <a:solidFill>
                      <a:srgbClr val="EAF1F8"/>
                    </a:solidFill>
                  </a:tcPr>
                </a:tc>
                <a:tc>
                  <a:txBody>
                    <a:bodyPr wrap="square"/>
                    <a:lstStyle/>
                    <a:p>
                      <a:pPr algn="l"/>
                      <a:r>
                        <a:rPr sz="1100" b="0">
                          <a:solidFill>
                            <a:srgbClr val="222222"/>
                          </a:solidFill>
                        </a:rPr>
                        <a:t>Ministral 3B</a:t>
                      </a:r>
                    </a:p>
                  </a:txBody>
                  <a:tcPr anchor="ctr" marL="54864" marR="54864" marT="18288" marB="18288">
                    <a:solidFill>
                      <a:srgbClr val="EAF1F8"/>
                    </a:solidFill>
                  </a:tcPr>
                </a:tc>
                <a:tc>
                  <a:txBody>
                    <a:bodyPr wrap="square"/>
                    <a:lstStyle/>
                    <a:p>
                      <a:pPr algn="l"/>
                      <a:r>
                        <a:rPr sz="1100" b="0">
                          <a:solidFill>
                            <a:srgbClr val="222222"/>
                          </a:solidFill>
                        </a:rPr>
                        <a:t>629 s</a:t>
                      </a:r>
                    </a:p>
                  </a:txBody>
                  <a:tcPr anchor="ctr" marL="54864" marR="54864" marT="18288" marB="18288">
                    <a:solidFill>
                      <a:srgbClr val="EAF1F8"/>
                    </a:solidFill>
                  </a:tcPr>
                </a:tc>
              </a:tr>
              <a:tr h="310896">
                <a:tc>
                  <a:txBody>
                    <a:bodyPr wrap="square"/>
                    <a:lstStyle/>
                    <a:p>
                      <a:pPr algn="l"/>
                      <a:r>
                        <a:rPr sz="1100" b="0">
                          <a:solidFill>
                            <a:srgbClr val="222222"/>
                          </a:solidFill>
                        </a:rPr>
                        <a:t>Content Designers</a:t>
                      </a:r>
                    </a:p>
                  </a:txBody>
                  <a:tcPr anchor="ctr" marL="54864" marR="54864" marT="18288" marB="18288">
                    <a:solidFill>
                      <a:srgbClr val="FFFFFF"/>
                    </a:solidFill>
                  </a:tcPr>
                </a:tc>
                <a:tc>
                  <a:txBody>
                    <a:bodyPr wrap="square"/>
                    <a:lstStyle/>
                    <a:p>
                      <a:pPr algn="l"/>
                      <a:r>
                        <a:rPr sz="1100" b="0">
                          <a:solidFill>
                            <a:srgbClr val="222222"/>
                          </a:solidFill>
                        </a:rPr>
                        <a:t>Ministral 3B</a:t>
                      </a:r>
                    </a:p>
                  </a:txBody>
                  <a:tcPr anchor="ctr" marL="54864" marR="54864" marT="18288" marB="18288">
                    <a:solidFill>
                      <a:srgbClr val="FFFFFF"/>
                    </a:solidFill>
                  </a:tcPr>
                </a:tc>
                <a:tc>
                  <a:txBody>
                    <a:bodyPr wrap="square"/>
                    <a:lstStyle/>
                    <a:p>
                      <a:pPr algn="l"/>
                      <a:r>
                        <a:rPr sz="1100" b="0">
                          <a:solidFill>
                            <a:srgbClr val="222222"/>
                          </a:solidFill>
                        </a:rPr>
                        <a:t>3 147 s</a:t>
                      </a:r>
                    </a:p>
                  </a:txBody>
                  <a:tcPr anchor="ctr" marL="54864" marR="54864" marT="18288" marB="18288">
                    <a:solidFill>
                      <a:srgbClr val="FFFFFF"/>
                    </a:solidFill>
                  </a:tcPr>
                </a:tc>
              </a:tr>
              <a:tr h="310896">
                <a:tc>
                  <a:txBody>
                    <a:bodyPr wrap="square"/>
                    <a:lstStyle/>
                    <a:p>
                      <a:pPr algn="l"/>
                      <a:r>
                        <a:rPr sz="1100" b="0">
                          <a:solidFill>
                            <a:srgbClr val="222222"/>
                          </a:solidFill>
                        </a:rPr>
                        <a:t>Workers</a:t>
                      </a:r>
                    </a:p>
                  </a:txBody>
                  <a:tcPr anchor="ctr" marL="54864" marR="54864" marT="18288" marB="18288">
                    <a:solidFill>
                      <a:srgbClr val="EAF1F8"/>
                    </a:solidFill>
                  </a:tcPr>
                </a:tc>
                <a:tc>
                  <a:txBody>
                    <a:bodyPr wrap="square"/>
                    <a:lstStyle/>
                    <a:p>
                      <a:pPr algn="l"/>
                      <a:r>
                        <a:rPr sz="1100" b="0">
                          <a:solidFill>
                            <a:srgbClr val="222222"/>
                          </a:solidFill>
                        </a:rPr>
                        <a:t>Ministral 3B</a:t>
                      </a:r>
                    </a:p>
                  </a:txBody>
                  <a:tcPr anchor="ctr" marL="54864" marR="54864" marT="18288" marB="18288">
                    <a:solidFill>
                      <a:srgbClr val="EAF1F8"/>
                    </a:solidFill>
                  </a:tcPr>
                </a:tc>
                <a:tc>
                  <a:txBody>
                    <a:bodyPr wrap="square"/>
                    <a:lstStyle/>
                    <a:p>
                      <a:pPr algn="l"/>
                      <a:r>
                        <a:rPr sz="1100" b="0">
                          <a:solidFill>
                            <a:srgbClr val="222222"/>
                          </a:solidFill>
                        </a:rPr>
                        <a:t>2 040 s</a:t>
                      </a:r>
                    </a:p>
                  </a:txBody>
                  <a:tcPr anchor="ctr" marL="54864" marR="54864" marT="18288" marB="18288">
                    <a:solidFill>
                      <a:srgbClr val="EAF1F8"/>
                    </a:solidFill>
                  </a:tcPr>
                </a:tc>
              </a:tr>
              <a:tr h="310896">
                <a:tc>
                  <a:txBody>
                    <a:bodyPr wrap="square"/>
                    <a:lstStyle/>
                    <a:p>
                      <a:pPr algn="l"/>
                      <a:r>
                        <a:rPr sz="1100" b="0">
                          <a:solidFill>
                            <a:srgbClr val="222222"/>
                          </a:solidFill>
                        </a:rPr>
                        <a:t>Swaps de modèle (coût)</a:t>
                      </a:r>
                    </a:p>
                  </a:txBody>
                  <a:tcPr anchor="ctr" marL="54864" marR="54864" marT="18288" marB="18288">
                    <a:solidFill>
                      <a:srgbClr val="FFFFFF"/>
                    </a:solidFill>
                  </a:tcPr>
                </a:tc>
                <a:tc>
                  <a:txBody>
                    <a:bodyPr wrap="square"/>
                    <a:lstStyle/>
                    <a:p>
                      <a:pPr algn="l"/>
                      <a:r>
                        <a:rPr sz="1100" b="0">
                          <a:solidFill>
                            <a:srgbClr val="222222"/>
                          </a:solidFill>
                        </a:rPr>
                        <a:t>n.c.</a:t>
                      </a:r>
                    </a:p>
                  </a:txBody>
                  <a:tcPr anchor="ctr" marL="54864" marR="54864" marT="18288" marB="18288">
                    <a:solidFill>
                      <a:srgbClr val="FFFFFF"/>
                    </a:solidFill>
                  </a:tcPr>
                </a:tc>
                <a:tc>
                  <a:txBody>
                    <a:bodyPr wrap="square"/>
                    <a:lstStyle/>
                    <a:p>
                      <a:pPr algn="l"/>
                      <a:r>
                        <a:rPr sz="1100" b="0">
                          <a:solidFill>
                            <a:srgbClr val="222222"/>
                          </a:solidFill>
                        </a:rPr>
                        <a:t>8,1 s</a:t>
                      </a:r>
                    </a:p>
                  </a:txBody>
                  <a:tcPr anchor="ctr" marL="54864" marR="54864" marT="18288" marB="18288">
                    <a:solidFill>
                      <a:srgbClr val="FFFFFF"/>
                    </a:solidFill>
                  </a:tcPr>
                </a:tc>
              </a:tr>
              <a:tr h="310896">
                <a:tc>
                  <a:txBody>
                    <a:bodyPr wrap="square"/>
                    <a:lstStyle/>
                    <a:p>
                      <a:pPr algn="l"/>
                      <a:r>
                        <a:rPr sz="1100" b="0">
                          <a:solidFill>
                            <a:srgbClr val="222222"/>
                          </a:solidFill>
                        </a:rPr>
                        <a:t>Total</a:t>
                      </a:r>
                    </a:p>
                  </a:txBody>
                  <a:tcPr anchor="ctr" marL="54864" marR="54864" marT="18288" marB="18288">
                    <a:solidFill>
                      <a:srgbClr val="EAF1F8"/>
                    </a:solidFill>
                  </a:tcPr>
                </a:tc>
                <a:tc>
                  <a:txBody>
                    <a:bodyPr wrap="square"/>
                    <a:lstStyle/>
                    <a:p>
                      <a:pPr algn="l"/>
                      <a:r>
                        <a:rPr sz="1100" b="0">
                          <a:solidFill>
                            <a:srgbClr val="222222"/>
                          </a:solidFill>
                        </a:rPr>
                        <a:t>n.c.</a:t>
                      </a:r>
                    </a:p>
                  </a:txBody>
                  <a:tcPr anchor="ctr" marL="54864" marR="54864" marT="18288" marB="18288">
                    <a:solidFill>
                      <a:srgbClr val="EAF1F8"/>
                    </a:solidFill>
                  </a:tcPr>
                </a:tc>
                <a:tc>
                  <a:txBody>
                    <a:bodyPr wrap="square"/>
                    <a:lstStyle/>
                    <a:p>
                      <a:pPr algn="l"/>
                      <a:r>
                        <a:rPr sz="1100" b="0">
                          <a:solidFill>
                            <a:srgbClr val="222222"/>
                          </a:solidFill>
                        </a:rPr>
                        <a:t>112 min (6 701 s)</a:t>
                      </a:r>
                    </a:p>
                  </a:txBody>
                  <a:tcPr anchor="ctr" marL="54864" marR="54864" marT="18288" marB="18288">
                    <a:solidFill>
                      <a:srgbClr val="EAF1F8"/>
                    </a:solidFill>
                  </a:tcPr>
                </a:tc>
              </a:tr>
            </a:tbl>
          </a:graphicData>
        </a:graphic>
      </p:graphicFrame>
      <p:sp>
        <p:nvSpPr>
          <p:cNvPr id="5" name="Rounded Rectangle 4"/>
          <p:cNvSpPr/>
          <p:nvPr/>
        </p:nvSpPr>
        <p:spPr>
          <a:xfrm>
            <a:off x="457200" y="4846320"/>
            <a:ext cx="11274552" cy="914400"/>
          </a:xfrm>
          <a:prstGeom prst="round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200">
                <a:solidFill>
                  <a:srgbClr val="1E6B2F"/>
                </a:solidFill>
              </a:rPr>
              <a:t>Verdict  </a:t>
            </a:r>
            <a:r>
              <a:rPr sz="1200">
                <a:solidFill>
                  <a:srgbClr val="222222"/>
                </a:solidFill>
              </a:rPr>
              <a:t>Prometteur (travail en cours). Le routage fonctionne (swap environ 8 s, négligeable) : qualité du 7B sur le cadrage et vitesse du 3B sur le reste.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00"/>
          <a:lstStyle/>
          <a:p>
            <a:pPr algn="ctr"/>
            <a:r>
              <a:rPr sz="2800" b="1">
                <a:solidFill>
                  <a:srgbClr val="9DC3E6"/>
                </a:solidFill>
              </a:rPr>
              <a:t>Partie 3</a:t>
            </a:r>
          </a:p>
          <a:p>
            <a:r>
              <a:rPr sz="4000" b="1">
                <a:solidFill>
                  <a:srgbClr val="FFFFFF"/>
                </a:solidFill>
              </a:rPr>
              <a:t>Les optimisations</a:t>
            </a:r>
          </a:p>
          <a:p>
            <a:pPr>
              <a:spcBef>
                <a:spcPts val="1000"/>
              </a:spcBef>
            </a:pPr>
            <a:r>
              <a:rPr sz="1600">
                <a:solidFill>
                  <a:srgbClr val="D6E4F0"/>
                </a:solidFill>
              </a:rPr>
              <a:t>Tout ce qui a été testé pour la vitesse et la qualité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3.1 et 3.2  Baseline, puis plan d'action perchunk</a:t>
            </a:r>
          </a:p>
        </p:txBody>
      </p:sp>
      <p:sp>
        <p:nvSpPr>
          <p:cNvPr id="3" name="TextBox 2"/>
          <p:cNvSpPr txBox="1"/>
          <p:nvPr/>
        </p:nvSpPr>
        <p:spPr>
          <a:xfrm>
            <a:off x="457200" y="1005840"/>
            <a:ext cx="5486400" cy="548640"/>
          </a:xfrm>
          <a:prstGeom prst="rect">
            <a:avLst/>
          </a:prstGeom>
          <a:noFill/>
        </p:spPr>
        <p:txBody>
          <a:bodyPr wrap="square">
            <a:spAutoFit/>
          </a:bodyPr>
          <a:lstStyle/>
          <a:p>
            <a:r>
              <a:rPr sz="1200" i="0" b="0">
                <a:solidFill>
                  <a:srgbClr val="222222"/>
                </a:solidFill>
              </a:rPr>
              <a:t>Baseline (prompts verbeux) : 64 min 44, 8 appels LLM. Objectif des expériences : réduire ce temps sans perdre en qualité.</a:t>
            </a:r>
          </a:p>
        </p:txBody>
      </p:sp>
      <p:graphicFrame>
        <p:nvGraphicFramePr>
          <p:cNvPr id="4" name="Table 3"/>
          <p:cNvGraphicFramePr>
            <a:graphicFrameLocks noGrp="1"/>
          </p:cNvGraphicFramePr>
          <p:nvPr/>
        </p:nvGraphicFramePr>
        <p:xfrm>
          <a:off x="457200" y="1828800"/>
          <a:ext cx="11274549" cy="932688"/>
        </p:xfrm>
        <a:graphic>
          <a:graphicData uri="http://schemas.openxmlformats.org/drawingml/2006/table">
            <a:tbl>
              <a:tblPr>
                <a:tableStyleId>{5C22544A-7EE6-4342-B048-85BDC9FD1C3A}</a:tableStyleId>
              </a:tblPr>
              <a:tblGrid>
                <a:gridCol w="2952858"/>
                <a:gridCol w="2147533"/>
                <a:gridCol w="2147533"/>
                <a:gridCol w="4026625"/>
              </a:tblGrid>
              <a:tr h="310896">
                <a:tc>
                  <a:txBody>
                    <a:bodyPr wrap="square"/>
                    <a:lstStyle/>
                    <a:p>
                      <a:pPr algn="l"/>
                      <a:r>
                        <a:rPr sz="1100" b="1">
                          <a:solidFill>
                            <a:srgbClr val="FFFFFF"/>
                          </a:solidFill>
                        </a:rPr>
                        <a:t>Mode (plan d'action)</a:t>
                      </a:r>
                    </a:p>
                  </a:txBody>
                  <a:tcPr anchor="ctr" marL="54864" marR="54864" marT="18288" marB="18288">
                    <a:solidFill>
                      <a:srgbClr val="1F4E79"/>
                    </a:solidFill>
                  </a:tcPr>
                </a:tc>
                <a:tc>
                  <a:txBody>
                    <a:bodyPr wrap="square"/>
                    <a:lstStyle/>
                    <a:p>
                      <a:pPr algn="l"/>
                      <a:r>
                        <a:rPr sz="1100" b="1">
                          <a:solidFill>
                            <a:srgbClr val="FFFFFF"/>
                          </a:solidFill>
                        </a:rPr>
                        <a:t>Durée</a:t>
                      </a:r>
                    </a:p>
                  </a:txBody>
                  <a:tcPr anchor="ctr" marL="54864" marR="54864" marT="18288" marB="18288">
                    <a:solidFill>
                      <a:srgbClr val="1F4E79"/>
                    </a:solidFill>
                  </a:tcPr>
                </a:tc>
                <a:tc>
                  <a:txBody>
                    <a:bodyPr wrap="square"/>
                    <a:lstStyle/>
                    <a:p>
                      <a:pPr algn="l"/>
                      <a:r>
                        <a:rPr sz="1100" b="1">
                          <a:solidFill>
                            <a:srgbClr val="FFFFFF"/>
                          </a:solidFill>
                        </a:rPr>
                        <a:t>Appels LLM</a:t>
                      </a:r>
                    </a:p>
                  </a:txBody>
                  <a:tcPr anchor="ctr" marL="54864" marR="54864" marT="18288" marB="18288">
                    <a:solidFill>
                      <a:srgbClr val="1F4E79"/>
                    </a:solidFill>
                  </a:tcPr>
                </a:tc>
                <a:tc>
                  <a:txBody>
                    <a:bodyPr wrap="square"/>
                    <a:lstStyle/>
                    <a:p>
                      <a:pPr algn="l"/>
                      <a:r>
                        <a:rPr sz="1100" b="1">
                          <a:solidFill>
                            <a:srgbClr val="FFFFFF"/>
                          </a:solidFill>
                        </a:rPr>
                        <a:t>Items de plan extraits</a:t>
                      </a:r>
                    </a:p>
                  </a:txBody>
                  <a:tcPr anchor="ctr" marL="54864" marR="54864" marT="18288" marB="18288">
                    <a:solidFill>
                      <a:srgbClr val="1F4E79"/>
                    </a:solidFill>
                  </a:tcPr>
                </a:tc>
              </a:tr>
              <a:tr h="310896">
                <a:tc>
                  <a:txBody>
                    <a:bodyPr wrap="square"/>
                    <a:lstStyle/>
                    <a:p>
                      <a:pPr algn="l"/>
                      <a:r>
                        <a:rPr sz="1100" b="0">
                          <a:solidFill>
                            <a:srgbClr val="222222"/>
                          </a:solidFill>
                        </a:rPr>
                        <a:t>legacy (1 appel final)</a:t>
                      </a:r>
                    </a:p>
                  </a:txBody>
                  <a:tcPr anchor="ctr" marL="54864" marR="54864" marT="18288" marB="18288">
                    <a:solidFill>
                      <a:srgbClr val="FFFFFF"/>
                    </a:solidFill>
                  </a:tcPr>
                </a:tc>
                <a:tc>
                  <a:txBody>
                    <a:bodyPr wrap="square"/>
                    <a:lstStyle/>
                    <a:p>
                      <a:pPr algn="l"/>
                      <a:r>
                        <a:rPr sz="1100" b="0">
                          <a:solidFill>
                            <a:srgbClr val="222222"/>
                          </a:solidFill>
                        </a:rPr>
                        <a:t>35 min 47</a:t>
                      </a:r>
                    </a:p>
                  </a:txBody>
                  <a:tcPr anchor="ctr" marL="54864" marR="54864" marT="18288" marB="18288">
                    <a:solidFill>
                      <a:srgbClr val="FFFFFF"/>
                    </a:solidFill>
                  </a:tcPr>
                </a:tc>
                <a:tc>
                  <a:txBody>
                    <a:bodyPr wrap="square"/>
                    <a:lstStyle/>
                    <a:p>
                      <a:pPr algn="l"/>
                      <a:r>
                        <a:rPr sz="1100" b="0">
                          <a:solidFill>
                            <a:srgbClr val="222222"/>
                          </a:solidFill>
                        </a:rPr>
                        <a:t>16 (2/chunk)</a:t>
                      </a:r>
                    </a:p>
                  </a:txBody>
                  <a:tcPr anchor="ctr" marL="54864" marR="54864" marT="18288" marB="18288">
                    <a:solidFill>
                      <a:srgbClr val="FFFFFF"/>
                    </a:solidFill>
                  </a:tcPr>
                </a:tc>
                <a:tc>
                  <a:txBody>
                    <a:bodyPr wrap="square"/>
                    <a:lstStyle/>
                    <a:p>
                      <a:pPr algn="l"/>
                      <a:r>
                        <a:rPr sz="1100" b="1">
                          <a:solidFill>
                            <a:srgbClr val="B02A2A"/>
                          </a:solidFill>
                        </a:rPr>
                        <a:t>4</a:t>
                      </a:r>
                    </a:p>
                  </a:txBody>
                  <a:tcPr anchor="ctr" marL="54864" marR="54864" marT="18288" marB="18288">
                    <a:solidFill>
                      <a:srgbClr val="FFFFFF"/>
                    </a:solidFill>
                  </a:tcPr>
                </a:tc>
              </a:tr>
              <a:tr h="310896">
                <a:tc>
                  <a:txBody>
                    <a:bodyPr wrap="square"/>
                    <a:lstStyle/>
                    <a:p>
                      <a:pPr algn="l"/>
                      <a:r>
                        <a:rPr sz="1100" b="0">
                          <a:solidFill>
                            <a:srgbClr val="222222"/>
                          </a:solidFill>
                        </a:rPr>
                        <a:t>perchunk (par chunk)</a:t>
                      </a:r>
                    </a:p>
                  </a:txBody>
                  <a:tcPr anchor="ctr" marL="54864" marR="54864" marT="18288" marB="18288">
                    <a:solidFill>
                      <a:srgbClr val="EAF1F8"/>
                    </a:solidFill>
                  </a:tcPr>
                </a:tc>
                <a:tc>
                  <a:txBody>
                    <a:bodyPr wrap="square"/>
                    <a:lstStyle/>
                    <a:p>
                      <a:pPr algn="l"/>
                      <a:r>
                        <a:rPr sz="1100" b="0">
                          <a:solidFill>
                            <a:srgbClr val="222222"/>
                          </a:solidFill>
                        </a:rPr>
                        <a:t>40 min 33</a:t>
                      </a:r>
                    </a:p>
                  </a:txBody>
                  <a:tcPr anchor="ctr" marL="54864" marR="54864" marT="18288" marB="18288">
                    <a:solidFill>
                      <a:srgbClr val="EAF1F8"/>
                    </a:solidFill>
                  </a:tcPr>
                </a:tc>
                <a:tc>
                  <a:txBody>
                    <a:bodyPr wrap="square"/>
                    <a:lstStyle/>
                    <a:p>
                      <a:pPr algn="l"/>
                      <a:r>
                        <a:rPr sz="1100" b="0">
                          <a:solidFill>
                            <a:srgbClr val="222222"/>
                          </a:solidFill>
                        </a:rPr>
                        <a:t>29 (4/chunk)</a:t>
                      </a:r>
                    </a:p>
                  </a:txBody>
                  <a:tcPr anchor="ctr" marL="54864" marR="54864" marT="18288" marB="18288">
                    <a:solidFill>
                      <a:srgbClr val="EAF1F8"/>
                    </a:solidFill>
                  </a:tcPr>
                </a:tc>
                <a:tc>
                  <a:txBody>
                    <a:bodyPr wrap="square"/>
                    <a:lstStyle/>
                    <a:p>
                      <a:pPr algn="l"/>
                      <a:r>
                        <a:rPr sz="1100" b="1">
                          <a:solidFill>
                            <a:srgbClr val="1E6B2F"/>
                          </a:solidFill>
                        </a:rPr>
                        <a:t>17 (9 engagements + 8 suggestions)</a:t>
                      </a:r>
                    </a:p>
                  </a:txBody>
                  <a:tcPr anchor="ctr" marL="54864" marR="54864" marT="18288" marB="18288">
                    <a:solidFill>
                      <a:srgbClr val="EAF1F8"/>
                    </a:solidFill>
                  </a:tcPr>
                </a:tc>
              </a:tr>
            </a:tbl>
          </a:graphicData>
        </a:graphic>
      </p:graphicFrame>
      <p:sp>
        <p:nvSpPr>
          <p:cNvPr id="5" name="Rounded Rectangle 4"/>
          <p:cNvSpPr/>
          <p:nvPr/>
        </p:nvSpPr>
        <p:spPr>
          <a:xfrm>
            <a:off x="457200" y="3383280"/>
            <a:ext cx="11274552" cy="914400"/>
          </a:xfrm>
          <a:prstGeom prst="round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200">
                <a:solidFill>
                  <a:srgbClr val="1E6B2F"/>
                </a:solidFill>
              </a:rPr>
              <a:t>Verdict  </a:t>
            </a:r>
            <a:r>
              <a:rPr sz="1200">
                <a:solidFill>
                  <a:srgbClr val="222222"/>
                </a:solidFill>
              </a:rPr>
              <a:t>Adopté (perchunk). Plus lent d'environ 5 min mais extrait 17 items au lieu de 4, et l'assemblage final ne coûte plus d'appel LLM. Répond au reproche pas d'action prise.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3.3  Flash Attention : ON vs OFF</a:t>
            </a:r>
          </a:p>
        </p:txBody>
      </p:sp>
      <p:graphicFrame>
        <p:nvGraphicFramePr>
          <p:cNvPr id="3" name="Table 2"/>
          <p:cNvGraphicFramePr>
            <a:graphicFrameLocks noGrp="1"/>
          </p:cNvGraphicFramePr>
          <p:nvPr/>
        </p:nvGraphicFramePr>
        <p:xfrm>
          <a:off x="457200" y="1051560"/>
          <a:ext cx="11274549" cy="932688"/>
        </p:xfrm>
        <a:graphic>
          <a:graphicData uri="http://schemas.openxmlformats.org/drawingml/2006/table">
            <a:tbl>
              <a:tblPr>
                <a:tableStyleId>{5C22544A-7EE6-4342-B048-85BDC9FD1C3A}</a:tableStyleId>
              </a:tblPr>
              <a:tblGrid>
                <a:gridCol w="2952858"/>
                <a:gridCol w="3221300"/>
                <a:gridCol w="2415975"/>
                <a:gridCol w="1342208"/>
                <a:gridCol w="1342208"/>
              </a:tblGrid>
              <a:tr h="310896">
                <a:tc>
                  <a:txBody>
                    <a:bodyPr wrap="square"/>
                    <a:lstStyle/>
                    <a:p>
                      <a:pPr algn="l"/>
                      <a:r>
                        <a:rPr sz="1100" b="1">
                          <a:solidFill>
                            <a:srgbClr val="FFFFFF"/>
                          </a:solidFill>
                        </a:rPr>
                        <a:t>Configuration</a:t>
                      </a:r>
                    </a:p>
                  </a:txBody>
                  <a:tcPr anchor="ctr" marL="54864" marR="54864" marT="18288" marB="18288">
                    <a:solidFill>
                      <a:srgbClr val="1F4E79"/>
                    </a:solidFill>
                  </a:tcPr>
                </a:tc>
                <a:tc>
                  <a:txBody>
                    <a:bodyPr wrap="square"/>
                    <a:lstStyle/>
                    <a:p>
                      <a:pPr algn="l"/>
                      <a:r>
                        <a:rPr sz="1100" b="1">
                          <a:solidFill>
                            <a:srgbClr val="FFFFFF"/>
                          </a:solidFill>
                        </a:rPr>
                        <a:t>Durée</a:t>
                      </a:r>
                    </a:p>
                  </a:txBody>
                  <a:tcPr anchor="ctr" marL="54864" marR="54864" marT="18288" marB="18288">
                    <a:solidFill>
                      <a:srgbClr val="1F4E79"/>
                    </a:solidFill>
                  </a:tcPr>
                </a:tc>
                <a:tc>
                  <a:txBody>
                    <a:bodyPr wrap="square"/>
                    <a:lstStyle/>
                    <a:p>
                      <a:pPr algn="l"/>
                      <a:r>
                        <a:rPr sz="1100" b="1">
                          <a:solidFill>
                            <a:srgbClr val="FFFFFF"/>
                          </a:solidFill>
                        </a:rPr>
                        <a:t>RAM serveur pic</a:t>
                      </a:r>
                    </a:p>
                  </a:txBody>
                  <a:tcPr anchor="ctr" marL="54864" marR="54864" marT="18288" marB="18288">
                    <a:solidFill>
                      <a:srgbClr val="1F4E79"/>
                    </a:solidFill>
                  </a:tcPr>
                </a:tc>
                <a:tc>
                  <a:txBody>
                    <a:bodyPr wrap="square"/>
                    <a:lstStyle/>
                    <a:p>
                      <a:pPr algn="l"/>
                      <a:r>
                        <a:rPr sz="1100" b="1">
                          <a:solidFill>
                            <a:srgbClr val="FFFFFF"/>
                          </a:solidFill>
                        </a:rPr>
                        <a:t>Chunks</a:t>
                      </a:r>
                    </a:p>
                  </a:txBody>
                  <a:tcPr anchor="ctr" marL="54864" marR="54864" marT="18288" marB="18288">
                    <a:solidFill>
                      <a:srgbClr val="1F4E79"/>
                    </a:solidFill>
                  </a:tcPr>
                </a:tc>
                <a:tc>
                  <a:txBody>
                    <a:bodyPr wrap="square"/>
                    <a:lstStyle/>
                    <a:p>
                      <a:pPr algn="l"/>
                      <a:r>
                        <a:rPr sz="1100" b="1">
                          <a:solidFill>
                            <a:srgbClr val="FFFFFF"/>
                          </a:solidFill>
                        </a:rPr>
                        <a:t>Appels</a:t>
                      </a:r>
                    </a:p>
                  </a:txBody>
                  <a:tcPr anchor="ctr" marL="54864" marR="54864" marT="18288" marB="18288">
                    <a:solidFill>
                      <a:srgbClr val="1F4E79"/>
                    </a:solidFill>
                  </a:tcPr>
                </a:tc>
              </a:tr>
              <a:tr h="310896">
                <a:tc>
                  <a:txBody>
                    <a:bodyPr wrap="square"/>
                    <a:lstStyle/>
                    <a:p>
                      <a:pPr algn="l"/>
                      <a:r>
                        <a:rPr sz="1100" b="0">
                          <a:solidFill>
                            <a:srgbClr val="222222"/>
                          </a:solidFill>
                        </a:rPr>
                        <a:t>Flash Attention ON</a:t>
                      </a:r>
                    </a:p>
                  </a:txBody>
                  <a:tcPr anchor="ctr" marL="54864" marR="54864" marT="18288" marB="18288">
                    <a:solidFill>
                      <a:srgbClr val="FFFFFF"/>
                    </a:solidFill>
                  </a:tcPr>
                </a:tc>
                <a:tc>
                  <a:txBody>
                    <a:bodyPr wrap="square"/>
                    <a:lstStyle/>
                    <a:p>
                      <a:pPr algn="l"/>
                      <a:r>
                        <a:rPr sz="1100" b="1">
                          <a:solidFill>
                            <a:srgbClr val="1E6B2F"/>
                          </a:solidFill>
                        </a:rPr>
                        <a:t>25 min 14 (1 513,8 s)</a:t>
                      </a:r>
                    </a:p>
                  </a:txBody>
                  <a:tcPr anchor="ctr" marL="54864" marR="54864" marT="18288" marB="18288">
                    <a:solidFill>
                      <a:srgbClr val="FFFFFF"/>
                    </a:solidFill>
                  </a:tcPr>
                </a:tc>
                <a:tc>
                  <a:txBody>
                    <a:bodyPr wrap="square"/>
                    <a:lstStyle/>
                    <a:p>
                      <a:pPr algn="l"/>
                      <a:r>
                        <a:rPr sz="1100" b="0">
                          <a:solidFill>
                            <a:srgbClr val="222222"/>
                          </a:solidFill>
                        </a:rPr>
                        <a:t>4 557 Mo</a:t>
                      </a:r>
                    </a:p>
                  </a:txBody>
                  <a:tcPr anchor="ctr" marL="54864" marR="54864" marT="18288" marB="18288">
                    <a:solidFill>
                      <a:srgbClr val="FFFFFF"/>
                    </a:solidFill>
                  </a:tcPr>
                </a:tc>
                <a:tc>
                  <a:txBody>
                    <a:bodyPr wrap="square"/>
                    <a:lstStyle/>
                    <a:p>
                      <a:pPr algn="l"/>
                      <a:r>
                        <a:rPr sz="1100" b="0">
                          <a:solidFill>
                            <a:srgbClr val="222222"/>
                          </a:solidFill>
                        </a:rPr>
                        <a:t>10</a:t>
                      </a:r>
                    </a:p>
                  </a:txBody>
                  <a:tcPr anchor="ctr" marL="54864" marR="54864" marT="18288" marB="18288">
                    <a:solidFill>
                      <a:srgbClr val="FFFFFF"/>
                    </a:solidFill>
                  </a:tcPr>
                </a:tc>
                <a:tc>
                  <a:txBody>
                    <a:bodyPr wrap="square"/>
                    <a:lstStyle/>
                    <a:p>
                      <a:pPr algn="l"/>
                      <a:r>
                        <a:rPr sz="1100" b="0">
                          <a:solidFill>
                            <a:srgbClr val="222222"/>
                          </a:solidFill>
                        </a:rPr>
                        <a:t>31</a:t>
                      </a:r>
                    </a:p>
                  </a:txBody>
                  <a:tcPr anchor="ctr" marL="54864" marR="54864" marT="18288" marB="18288">
                    <a:solidFill>
                      <a:srgbClr val="FFFFFF"/>
                    </a:solidFill>
                  </a:tcPr>
                </a:tc>
              </a:tr>
              <a:tr h="310896">
                <a:tc>
                  <a:txBody>
                    <a:bodyPr wrap="square"/>
                    <a:lstStyle/>
                    <a:p>
                      <a:pPr algn="l"/>
                      <a:r>
                        <a:rPr sz="1100" b="0">
                          <a:solidFill>
                            <a:srgbClr val="222222"/>
                          </a:solidFill>
                        </a:rPr>
                        <a:t>Flash Attention OFF</a:t>
                      </a:r>
                    </a:p>
                  </a:txBody>
                  <a:tcPr anchor="ctr" marL="54864" marR="54864" marT="18288" marB="18288">
                    <a:solidFill>
                      <a:srgbClr val="EAF1F8"/>
                    </a:solidFill>
                  </a:tcPr>
                </a:tc>
                <a:tc>
                  <a:txBody>
                    <a:bodyPr wrap="square"/>
                    <a:lstStyle/>
                    <a:p>
                      <a:pPr algn="l"/>
                      <a:r>
                        <a:rPr sz="1100" b="1">
                          <a:solidFill>
                            <a:srgbClr val="B02A2A"/>
                          </a:solidFill>
                        </a:rPr>
                        <a:t>33 min 29 (2 009,2 s)</a:t>
                      </a:r>
                    </a:p>
                  </a:txBody>
                  <a:tcPr anchor="ctr" marL="54864" marR="54864" marT="18288" marB="18288">
                    <a:solidFill>
                      <a:srgbClr val="EAF1F8"/>
                    </a:solidFill>
                  </a:tcPr>
                </a:tc>
                <a:tc>
                  <a:txBody>
                    <a:bodyPr wrap="square"/>
                    <a:lstStyle/>
                    <a:p>
                      <a:pPr algn="l"/>
                      <a:r>
                        <a:rPr sz="1100" b="0">
                          <a:solidFill>
                            <a:srgbClr val="222222"/>
                          </a:solidFill>
                        </a:rPr>
                        <a:t>5 467 Mo</a:t>
                      </a:r>
                    </a:p>
                  </a:txBody>
                  <a:tcPr anchor="ctr" marL="54864" marR="54864" marT="18288" marB="18288">
                    <a:solidFill>
                      <a:srgbClr val="EAF1F8"/>
                    </a:solidFill>
                  </a:tcPr>
                </a:tc>
                <a:tc>
                  <a:txBody>
                    <a:bodyPr wrap="square"/>
                    <a:lstStyle/>
                    <a:p>
                      <a:pPr algn="l"/>
                      <a:r>
                        <a:rPr sz="1100" b="0">
                          <a:solidFill>
                            <a:srgbClr val="222222"/>
                          </a:solidFill>
                        </a:rPr>
                        <a:t>7</a:t>
                      </a:r>
                    </a:p>
                  </a:txBody>
                  <a:tcPr anchor="ctr" marL="54864" marR="54864" marT="18288" marB="18288">
                    <a:solidFill>
                      <a:srgbClr val="EAF1F8"/>
                    </a:solidFill>
                  </a:tcPr>
                </a:tc>
                <a:tc>
                  <a:txBody>
                    <a:bodyPr wrap="square"/>
                    <a:lstStyle/>
                    <a:p>
                      <a:pPr algn="l"/>
                      <a:r>
                        <a:rPr sz="1100" b="0">
                          <a:solidFill>
                            <a:srgbClr val="222222"/>
                          </a:solidFill>
                        </a:rPr>
                        <a:t>22</a:t>
                      </a:r>
                    </a:p>
                  </a:txBody>
                  <a:tcPr anchor="ctr" marL="54864" marR="54864" marT="18288" marB="18288">
                    <a:solidFill>
                      <a:srgbClr val="EAF1F8"/>
                    </a:solidFill>
                  </a:tcPr>
                </a:tc>
              </a:tr>
            </a:tbl>
          </a:graphicData>
        </a:graphic>
      </p:graphicFrame>
      <p:sp>
        <p:nvSpPr>
          <p:cNvPr id="4" name="Rounded Rectangle 3"/>
          <p:cNvSpPr/>
          <p:nvPr/>
        </p:nvSpPr>
        <p:spPr>
          <a:xfrm>
            <a:off x="457200" y="2468880"/>
            <a:ext cx="11274552" cy="640080"/>
          </a:xfrm>
          <a:prstGeom prst="round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200">
                <a:solidFill>
                  <a:srgbClr val="1E6B2F"/>
                </a:solidFill>
              </a:rPr>
              <a:t>Verdict  </a:t>
            </a:r>
            <a:r>
              <a:rPr sz="1200">
                <a:solidFill>
                  <a:srgbClr val="222222"/>
                </a:solidFill>
              </a:rPr>
              <a:t>Adopté (ON). Plus rapide (environ -25 %) et moins de RAM pic.</a:t>
            </a:r>
          </a:p>
        </p:txBody>
      </p:sp>
      <p:sp>
        <p:nvSpPr>
          <p:cNvPr id="5" name="Rounded Rectangle 4"/>
          <p:cNvSpPr/>
          <p:nvPr/>
        </p:nvSpPr>
        <p:spPr>
          <a:xfrm>
            <a:off x="457200" y="3200400"/>
            <a:ext cx="11274552" cy="1554480"/>
          </a:xfrm>
          <a:prstGeom prst="roundRect">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150">
                <a:solidFill>
                  <a:srgbClr val="1F4E79"/>
                </a:solidFill>
              </a:rPr>
              <a:t>Analyse  </a:t>
            </a:r>
            <a:r>
              <a:rPr sz="1150">
                <a:solidFill>
                  <a:srgbClr val="222222"/>
                </a:solidFill>
              </a:rPr>
              <a:t>L'attention standard matérialise une matrice N×N qu'il faut écrire puis relire en mémoire (coûteux en bande passante, le vrai goulot). FlashAttention (Dao et al. 2022) la calcule par TUILES sans jamais la matérialiser (IO-aware) : moins d'accès mémoire, moins de RAM. Dans llama.cpp, l'activer fournit ce noyau fusionné ET débloque la quantification du cache KV.</a:t>
            </a:r>
          </a:p>
        </p:txBody>
      </p:sp>
      <p:sp>
        <p:nvSpPr>
          <p:cNvPr id="6" name="TextBox 5"/>
          <p:cNvSpPr txBox="1"/>
          <p:nvPr/>
        </p:nvSpPr>
        <p:spPr>
          <a:xfrm>
            <a:off x="457200" y="4846320"/>
            <a:ext cx="11274552" cy="457200"/>
          </a:xfrm>
          <a:prstGeom prst="rect">
            <a:avLst/>
          </a:prstGeom>
          <a:noFill/>
        </p:spPr>
        <p:txBody>
          <a:bodyPr wrap="square">
            <a:spAutoFit/>
          </a:bodyPr>
          <a:lstStyle/>
          <a:p>
            <a:r>
              <a:rPr b="1" sz="900">
                <a:solidFill>
                  <a:srgbClr val="555555"/>
                </a:solidFill>
              </a:rPr>
              <a:t>Source(s) : </a:t>
            </a:r>
            <a:r>
              <a:rPr sz="900" u="sng">
                <a:solidFill>
                  <a:srgbClr val="1F4E79"/>
                </a:solidFill>
                <a:hlinkClick r:id="rId2"/>
              </a:rPr>
              <a:t>FlashAttention, Dao et al., NeurIPS 2022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3.4  Cache KV quantifié (q8_0)</a:t>
            </a:r>
          </a:p>
        </p:txBody>
      </p:sp>
      <p:sp>
        <p:nvSpPr>
          <p:cNvPr id="3" name="Rounded Rectangle 2"/>
          <p:cNvSpPr/>
          <p:nvPr/>
        </p:nvSpPr>
        <p:spPr>
          <a:xfrm>
            <a:off x="457200" y="1051560"/>
            <a:ext cx="11274552" cy="640080"/>
          </a:xfrm>
          <a:prstGeom prst="round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200">
                <a:solidFill>
                  <a:srgbClr val="1E6B2F"/>
                </a:solidFill>
              </a:rPr>
              <a:t>Verdict  </a:t>
            </a:r>
            <a:r>
              <a:rPr sz="1200">
                <a:solidFill>
                  <a:srgbClr val="222222"/>
                </a:solidFill>
              </a:rPr>
              <a:t>Adopté. Allège la mémoire du cache sans dégradation observée de la sortie.</a:t>
            </a:r>
          </a:p>
        </p:txBody>
      </p:sp>
      <p:sp>
        <p:nvSpPr>
          <p:cNvPr id="4" name="Rounded Rectangle 3"/>
          <p:cNvSpPr/>
          <p:nvPr/>
        </p:nvSpPr>
        <p:spPr>
          <a:xfrm>
            <a:off x="457200" y="1828800"/>
            <a:ext cx="11274552" cy="1737360"/>
          </a:xfrm>
          <a:prstGeom prst="roundRect">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200">
                <a:solidFill>
                  <a:srgbClr val="1F4E79"/>
                </a:solidFill>
              </a:rPr>
              <a:t>Analyse  </a:t>
            </a:r>
            <a:r>
              <a:rPr sz="1200">
                <a:solidFill>
                  <a:srgbClr val="222222"/>
                </a:solidFill>
              </a:rPr>
              <a:t>Pendant la génération, le cache KV grossit avec le contexte et finit par dominer la mémoire ; or sur CPU le facteur limitant est la bande passante mémoire (relire ce cache à chaque token). Le quantifier en 8 bits (q8_0) divise environ par deux son empreinte et la bande passante nécessaire, avec une perte négligeable à 8 bits. C'est le constat général de la littérature sur la quantification du cache KV (KVQuant).</a:t>
            </a:r>
          </a:p>
        </p:txBody>
      </p:sp>
      <p:sp>
        <p:nvSpPr>
          <p:cNvPr id="5" name="TextBox 4"/>
          <p:cNvSpPr txBox="1"/>
          <p:nvPr/>
        </p:nvSpPr>
        <p:spPr>
          <a:xfrm>
            <a:off x="457200" y="3657600"/>
            <a:ext cx="11274552" cy="457200"/>
          </a:xfrm>
          <a:prstGeom prst="rect">
            <a:avLst/>
          </a:prstGeom>
          <a:noFill/>
        </p:spPr>
        <p:txBody>
          <a:bodyPr wrap="square">
            <a:spAutoFit/>
          </a:bodyPr>
          <a:lstStyle/>
          <a:p>
            <a:r>
              <a:rPr b="1" sz="900">
                <a:solidFill>
                  <a:srgbClr val="555555"/>
                </a:solidFill>
              </a:rPr>
              <a:t>Source(s) : </a:t>
            </a:r>
            <a:r>
              <a:rPr sz="900" u="sng">
                <a:solidFill>
                  <a:srgbClr val="1F4E79"/>
                </a:solidFill>
                <a:hlinkClick r:id="rId2"/>
              </a:rPr>
              <a:t>KVQuant, Hooper et al., NeurIPS 2024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3.5  Ordre du prompt document-first (réutilisation du cache KV)</a:t>
            </a:r>
          </a:p>
        </p:txBody>
      </p:sp>
      <p:sp>
        <p:nvSpPr>
          <p:cNvPr id="3" name="TextBox 2"/>
          <p:cNvSpPr txBox="1"/>
          <p:nvPr/>
        </p:nvSpPr>
        <p:spPr>
          <a:xfrm>
            <a:off x="457200" y="1005840"/>
            <a:ext cx="11274552" cy="548640"/>
          </a:xfrm>
          <a:prstGeom prst="rect">
            <a:avLst/>
          </a:prstGeom>
          <a:noFill/>
        </p:spPr>
        <p:txBody>
          <a:bodyPr wrap="square">
            <a:spAutoFit/>
          </a:bodyPr>
          <a:lstStyle/>
          <a:p>
            <a:r>
              <a:rPr sz="1200" i="0" b="0">
                <a:solidFill>
                  <a:srgbClr val="222222"/>
                </a:solidFill>
              </a:rPr>
              <a:t>Placer le texte du chunk AVANT les instructions. Son cache KV est calculé une fois puis réutilisé par les appels suivants du même chunk (preuve : chunk 9, run ik_v5).</a:t>
            </a:r>
          </a:p>
        </p:txBody>
      </p:sp>
      <p:graphicFrame>
        <p:nvGraphicFramePr>
          <p:cNvPr id="4" name="Table 3"/>
          <p:cNvGraphicFramePr>
            <a:graphicFrameLocks noGrp="1"/>
          </p:cNvGraphicFramePr>
          <p:nvPr/>
        </p:nvGraphicFramePr>
        <p:xfrm>
          <a:off x="457200" y="1783080"/>
          <a:ext cx="11274550" cy="932688"/>
        </p:xfrm>
        <a:graphic>
          <a:graphicData uri="http://schemas.openxmlformats.org/drawingml/2006/table">
            <a:tbl>
              <a:tblPr>
                <a:tableStyleId>{5C22544A-7EE6-4342-B048-85BDC9FD1C3A}</a:tableStyleId>
              </a:tblPr>
              <a:tblGrid>
                <a:gridCol w="2621988"/>
                <a:gridCol w="2359789"/>
                <a:gridCol w="2097591"/>
                <a:gridCol w="4195182"/>
              </a:tblGrid>
              <a:tr h="310896">
                <a:tc>
                  <a:txBody>
                    <a:bodyPr wrap="square"/>
                    <a:lstStyle/>
                    <a:p>
                      <a:pPr algn="l"/>
                      <a:r>
                        <a:rPr sz="1100" b="1">
                          <a:solidFill>
                            <a:srgbClr val="FFFFFF"/>
                          </a:solidFill>
                        </a:rPr>
                        <a:t>Appel sur le chunk</a:t>
                      </a:r>
                    </a:p>
                  </a:txBody>
                  <a:tcPr anchor="ctr" marL="54864" marR="54864" marT="18288" marB="18288">
                    <a:solidFill>
                      <a:srgbClr val="1F4E79"/>
                    </a:solidFill>
                  </a:tcPr>
                </a:tc>
                <a:tc>
                  <a:txBody>
                    <a:bodyPr wrap="square"/>
                    <a:lstStyle/>
                    <a:p>
                      <a:pPr algn="l"/>
                      <a:r>
                        <a:rPr sz="1100" b="1">
                          <a:solidFill>
                            <a:srgbClr val="FFFFFF"/>
                          </a:solidFill>
                        </a:rPr>
                        <a:t>Tokens à prefiller</a:t>
                      </a:r>
                    </a:p>
                  </a:txBody>
                  <a:tcPr anchor="ctr" marL="54864" marR="54864" marT="18288" marB="18288">
                    <a:solidFill>
                      <a:srgbClr val="1F4E79"/>
                    </a:solidFill>
                  </a:tcPr>
                </a:tc>
                <a:tc>
                  <a:txBody>
                    <a:bodyPr wrap="square"/>
                    <a:lstStyle/>
                    <a:p>
                      <a:pPr algn="l"/>
                      <a:r>
                        <a:rPr sz="1100" b="1">
                          <a:solidFill>
                            <a:srgbClr val="FFFFFF"/>
                          </a:solidFill>
                        </a:rPr>
                        <a:t>Temps de prefill</a:t>
                      </a:r>
                    </a:p>
                  </a:txBody>
                  <a:tcPr anchor="ctr" marL="54864" marR="54864" marT="18288" marB="18288">
                    <a:solidFill>
                      <a:srgbClr val="1F4E79"/>
                    </a:solidFill>
                  </a:tcPr>
                </a:tc>
                <a:tc>
                  <a:txBody>
                    <a:bodyPr wrap="square"/>
                    <a:lstStyle/>
                    <a:p>
                      <a:pPr algn="l"/>
                      <a:r>
                        <a:rPr sz="1100" b="1">
                          <a:solidFill>
                            <a:srgbClr val="FFFFFF"/>
                          </a:solidFill>
                        </a:rPr>
                        <a:t>Pourquoi</a:t>
                      </a:r>
                    </a:p>
                  </a:txBody>
                  <a:tcPr anchor="ctr" marL="54864" marR="54864" marT="18288" marB="18288">
                    <a:solidFill>
                      <a:srgbClr val="1F4E79"/>
                    </a:solidFill>
                  </a:tcPr>
                </a:tc>
              </a:tr>
              <a:tr h="310896">
                <a:tc>
                  <a:txBody>
                    <a:bodyPr wrap="square"/>
                    <a:lstStyle/>
                    <a:p>
                      <a:pPr algn="l"/>
                      <a:r>
                        <a:rPr sz="1100" b="0">
                          <a:solidFill>
                            <a:srgbClr val="222222"/>
                          </a:solidFill>
                        </a:rPr>
                        <a:t>1er, Résumé</a:t>
                      </a:r>
                    </a:p>
                  </a:txBody>
                  <a:tcPr anchor="ctr" marL="54864" marR="54864" marT="18288" marB="18288">
                    <a:solidFill>
                      <a:srgbClr val="FFFFFF"/>
                    </a:solidFill>
                  </a:tcPr>
                </a:tc>
                <a:tc>
                  <a:txBody>
                    <a:bodyPr wrap="square"/>
                    <a:lstStyle/>
                    <a:p>
                      <a:pPr algn="l"/>
                      <a:r>
                        <a:rPr sz="1100" b="0">
                          <a:solidFill>
                            <a:srgbClr val="222222"/>
                          </a:solidFill>
                        </a:rPr>
                        <a:t>1 394 tokens</a:t>
                      </a:r>
                    </a:p>
                  </a:txBody>
                  <a:tcPr anchor="ctr" marL="54864" marR="54864" marT="18288" marB="18288">
                    <a:solidFill>
                      <a:srgbClr val="FFFFFF"/>
                    </a:solidFill>
                  </a:tcPr>
                </a:tc>
                <a:tc>
                  <a:txBody>
                    <a:bodyPr wrap="square"/>
                    <a:lstStyle/>
                    <a:p>
                      <a:pPr algn="l"/>
                      <a:r>
                        <a:rPr sz="1100" b="1">
                          <a:solidFill>
                            <a:srgbClr val="B02A2A"/>
                          </a:solidFill>
                        </a:rPr>
                        <a:t>~45,5 s</a:t>
                      </a:r>
                    </a:p>
                  </a:txBody>
                  <a:tcPr anchor="ctr" marL="54864" marR="54864" marT="18288" marB="18288">
                    <a:solidFill>
                      <a:srgbClr val="FFFFFF"/>
                    </a:solidFill>
                  </a:tcPr>
                </a:tc>
                <a:tc>
                  <a:txBody>
                    <a:bodyPr wrap="square"/>
                    <a:lstStyle/>
                    <a:p>
                      <a:pPr algn="l"/>
                      <a:r>
                        <a:rPr sz="1100" b="0">
                          <a:solidFill>
                            <a:srgbClr val="222222"/>
                          </a:solidFill>
                        </a:rPr>
                        <a:t>charge tout le texte du chunk</a:t>
                      </a:r>
                    </a:p>
                  </a:txBody>
                  <a:tcPr anchor="ctr" marL="54864" marR="54864" marT="18288" marB="18288">
                    <a:solidFill>
                      <a:srgbClr val="FFFFFF"/>
                    </a:solidFill>
                  </a:tcPr>
                </a:tc>
              </a:tr>
              <a:tr h="310896">
                <a:tc>
                  <a:txBody>
                    <a:bodyPr wrap="square"/>
                    <a:lstStyle/>
                    <a:p>
                      <a:pPr algn="l"/>
                      <a:r>
                        <a:rPr sz="1100" b="0">
                          <a:solidFill>
                            <a:srgbClr val="222222"/>
                          </a:solidFill>
                        </a:rPr>
                        <a:t>2e, Extraction</a:t>
                      </a:r>
                    </a:p>
                  </a:txBody>
                  <a:tcPr anchor="ctr" marL="54864" marR="54864" marT="18288" marB="18288">
                    <a:solidFill>
                      <a:srgbClr val="EAF1F8"/>
                    </a:solidFill>
                  </a:tcPr>
                </a:tc>
                <a:tc>
                  <a:txBody>
                    <a:bodyPr wrap="square"/>
                    <a:lstStyle/>
                    <a:p>
                      <a:pPr algn="l"/>
                      <a:r>
                        <a:rPr sz="1100" b="0">
                          <a:solidFill>
                            <a:srgbClr val="222222"/>
                          </a:solidFill>
                        </a:rPr>
                        <a:t>220 tokens</a:t>
                      </a:r>
                    </a:p>
                  </a:txBody>
                  <a:tcPr anchor="ctr" marL="54864" marR="54864" marT="18288" marB="18288">
                    <a:solidFill>
                      <a:srgbClr val="EAF1F8"/>
                    </a:solidFill>
                  </a:tcPr>
                </a:tc>
                <a:tc>
                  <a:txBody>
                    <a:bodyPr wrap="square"/>
                    <a:lstStyle/>
                    <a:p>
                      <a:pPr algn="l"/>
                      <a:r>
                        <a:rPr sz="1100" b="1">
                          <a:solidFill>
                            <a:srgbClr val="1E6B2F"/>
                          </a:solidFill>
                        </a:rPr>
                        <a:t>~9,3 s</a:t>
                      </a:r>
                    </a:p>
                  </a:txBody>
                  <a:tcPr anchor="ctr" marL="54864" marR="54864" marT="18288" marB="18288">
                    <a:solidFill>
                      <a:srgbClr val="EAF1F8"/>
                    </a:solidFill>
                  </a:tcPr>
                </a:tc>
                <a:tc>
                  <a:txBody>
                    <a:bodyPr wrap="square"/>
                    <a:lstStyle/>
                    <a:p>
                      <a:pPr algn="l"/>
                      <a:r>
                        <a:rPr sz="1100" b="0">
                          <a:solidFill>
                            <a:srgbClr val="222222"/>
                          </a:solidFill>
                        </a:rPr>
                        <a:t>texte déjà en cache, traite juste les instructions</a:t>
                      </a:r>
                    </a:p>
                  </a:txBody>
                  <a:tcPr anchor="ctr" marL="54864" marR="54864" marT="18288" marB="18288">
                    <a:solidFill>
                      <a:srgbClr val="EAF1F8"/>
                    </a:solidFill>
                  </a:tcPr>
                </a:tc>
              </a:tr>
            </a:tbl>
          </a:graphicData>
        </a:graphic>
      </p:graphicFrame>
      <p:sp>
        <p:nvSpPr>
          <p:cNvPr id="5" name="Rounded Rectangle 4"/>
          <p:cNvSpPr/>
          <p:nvPr/>
        </p:nvSpPr>
        <p:spPr>
          <a:xfrm>
            <a:off x="457200" y="3291840"/>
            <a:ext cx="11274552" cy="1463040"/>
          </a:xfrm>
          <a:prstGeom prst="roundRect">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150">
                <a:solidFill>
                  <a:srgbClr val="1F4E79"/>
                </a:solidFill>
              </a:rPr>
              <a:t>Analyse  </a:t>
            </a:r>
            <a:r>
              <a:rPr sz="1150">
                <a:solidFill>
                  <a:srgbClr val="222222"/>
                </a:solidFill>
              </a:rPr>
              <a:t>L'attention est causale : le cache KV d'un token ne dépend que de ce qui le précède. Le document en tête devient un PRÉFIXE stable, calculé une fois puis réutilisé ; seul le suffixe d'instructions change. C'est la réutilisation par préfixe formalisée par Prompt Cache (Gim et al. 2024). Environ 6 fois moins de tokens au 2e appel ; qualité identique.</a:t>
            </a:r>
          </a:p>
        </p:txBody>
      </p:sp>
      <p:sp>
        <p:nvSpPr>
          <p:cNvPr id="6" name="TextBox 5"/>
          <p:cNvSpPr txBox="1"/>
          <p:nvPr/>
        </p:nvSpPr>
        <p:spPr>
          <a:xfrm>
            <a:off x="457200" y="4846320"/>
            <a:ext cx="11274552" cy="457200"/>
          </a:xfrm>
          <a:prstGeom prst="rect">
            <a:avLst/>
          </a:prstGeom>
          <a:noFill/>
        </p:spPr>
        <p:txBody>
          <a:bodyPr wrap="square">
            <a:spAutoFit/>
          </a:bodyPr>
          <a:lstStyle/>
          <a:p>
            <a:r>
              <a:rPr b="1" sz="900">
                <a:solidFill>
                  <a:srgbClr val="555555"/>
                </a:solidFill>
              </a:rPr>
              <a:t>Source(s) : </a:t>
            </a:r>
            <a:r>
              <a:rPr sz="900" u="sng">
                <a:solidFill>
                  <a:srgbClr val="1F4E79"/>
                </a:solidFill>
                <a:hlinkClick r:id="rId2"/>
              </a:rPr>
              <a:t>Prompt Cache, Gim et al., MLSys 2024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3.6  Backend ik_llama.cpp vs llama.cpp mainline</a:t>
            </a:r>
          </a:p>
        </p:txBody>
      </p:sp>
      <p:graphicFrame>
        <p:nvGraphicFramePr>
          <p:cNvPr id="3" name="Table 2"/>
          <p:cNvGraphicFramePr>
            <a:graphicFrameLocks noGrp="1"/>
          </p:cNvGraphicFramePr>
          <p:nvPr/>
        </p:nvGraphicFramePr>
        <p:xfrm>
          <a:off x="457200" y="1051560"/>
          <a:ext cx="11274550" cy="932688"/>
        </p:xfrm>
        <a:graphic>
          <a:graphicData uri="http://schemas.openxmlformats.org/drawingml/2006/table">
            <a:tbl>
              <a:tblPr>
                <a:tableStyleId>{5C22544A-7EE6-4342-B048-85BDC9FD1C3A}</a:tableStyleId>
              </a:tblPr>
              <a:tblGrid>
                <a:gridCol w="2415975"/>
                <a:gridCol w="3221300"/>
                <a:gridCol w="3221300"/>
                <a:gridCol w="2415975"/>
              </a:tblGrid>
              <a:tr h="310896">
                <a:tc>
                  <a:txBody>
                    <a:bodyPr wrap="square"/>
                    <a:lstStyle/>
                    <a:p>
                      <a:pPr algn="l"/>
                      <a:r>
                        <a:rPr sz="1100" b="1">
                          <a:solidFill>
                            <a:srgbClr val="FFFFFF"/>
                          </a:solidFill>
                        </a:rPr>
                        <a:t>Backend</a:t>
                      </a:r>
                    </a:p>
                  </a:txBody>
                  <a:tcPr anchor="ctr" marL="54864" marR="54864" marT="18288" marB="18288">
                    <a:solidFill>
                      <a:srgbClr val="1F4E79"/>
                    </a:solidFill>
                  </a:tcPr>
                </a:tc>
                <a:tc>
                  <a:txBody>
                    <a:bodyPr wrap="square"/>
                    <a:lstStyle/>
                    <a:p>
                      <a:pPr algn="l"/>
                      <a:r>
                        <a:rPr sz="1100" b="1">
                          <a:solidFill>
                            <a:srgbClr val="FFFFFF"/>
                          </a:solidFill>
                        </a:rPr>
                        <a:t>Durée</a:t>
                      </a:r>
                    </a:p>
                  </a:txBody>
                  <a:tcPr anchor="ctr" marL="54864" marR="54864" marT="18288" marB="18288">
                    <a:solidFill>
                      <a:srgbClr val="1F4E79"/>
                    </a:solidFill>
                  </a:tcPr>
                </a:tc>
                <a:tc>
                  <a:txBody>
                    <a:bodyPr wrap="square"/>
                    <a:lstStyle/>
                    <a:p>
                      <a:pPr algn="l"/>
                      <a:r>
                        <a:rPr sz="1100" b="1">
                          <a:solidFill>
                            <a:srgbClr val="FFFFFF"/>
                          </a:solidFill>
                        </a:rPr>
                        <a:t>RAM serveur (moy / pic)</a:t>
                      </a:r>
                    </a:p>
                  </a:txBody>
                  <a:tcPr anchor="ctr" marL="54864" marR="54864" marT="18288" marB="18288">
                    <a:solidFill>
                      <a:srgbClr val="1F4E79"/>
                    </a:solidFill>
                  </a:tcPr>
                </a:tc>
                <a:tc>
                  <a:txBody>
                    <a:bodyPr wrap="square"/>
                    <a:lstStyle/>
                    <a:p>
                      <a:pPr algn="l"/>
                      <a:r>
                        <a:rPr sz="1100" b="1">
                          <a:solidFill>
                            <a:srgbClr val="FFFFFF"/>
                          </a:solidFill>
                        </a:rPr>
                        <a:t>Décisions/Actions</a:t>
                      </a:r>
                    </a:p>
                  </a:txBody>
                  <a:tcPr anchor="ctr" marL="54864" marR="54864" marT="18288" marB="18288">
                    <a:solidFill>
                      <a:srgbClr val="1F4E79"/>
                    </a:solidFill>
                  </a:tcPr>
                </a:tc>
              </a:tr>
              <a:tr h="310896">
                <a:tc>
                  <a:txBody>
                    <a:bodyPr wrap="square"/>
                    <a:lstStyle/>
                    <a:p>
                      <a:pPr algn="l"/>
                      <a:r>
                        <a:rPr sz="1100" b="0">
                          <a:solidFill>
                            <a:srgbClr val="222222"/>
                          </a:solidFill>
                        </a:rPr>
                        <a:t>mainline et FA</a:t>
                      </a:r>
                    </a:p>
                  </a:txBody>
                  <a:tcPr anchor="ctr" marL="54864" marR="54864" marT="18288" marB="18288">
                    <a:solidFill>
                      <a:srgbClr val="FFFFFF"/>
                    </a:solidFill>
                  </a:tcPr>
                </a:tc>
                <a:tc>
                  <a:txBody>
                    <a:bodyPr wrap="square"/>
                    <a:lstStyle/>
                    <a:p>
                      <a:pPr algn="l"/>
                      <a:r>
                        <a:rPr sz="1100" b="0">
                          <a:solidFill>
                            <a:srgbClr val="222222"/>
                          </a:solidFill>
                        </a:rPr>
                        <a:t>25 min 14 (1 513,8 s)</a:t>
                      </a:r>
                    </a:p>
                  </a:txBody>
                  <a:tcPr anchor="ctr" marL="54864" marR="54864" marT="18288" marB="18288">
                    <a:solidFill>
                      <a:srgbClr val="FFFFFF"/>
                    </a:solidFill>
                  </a:tcPr>
                </a:tc>
                <a:tc>
                  <a:txBody>
                    <a:bodyPr wrap="square"/>
                    <a:lstStyle/>
                    <a:p>
                      <a:pPr algn="l"/>
                      <a:r>
                        <a:rPr sz="1100" b="0">
                          <a:solidFill>
                            <a:srgbClr val="222222"/>
                          </a:solidFill>
                        </a:rPr>
                        <a:t>4 250 / 4 557 Mo</a:t>
                      </a:r>
                    </a:p>
                  </a:txBody>
                  <a:tcPr anchor="ctr" marL="54864" marR="54864" marT="18288" marB="18288">
                    <a:solidFill>
                      <a:srgbClr val="FFFFFF"/>
                    </a:solidFill>
                  </a:tcPr>
                </a:tc>
                <a:tc>
                  <a:txBody>
                    <a:bodyPr wrap="square"/>
                    <a:lstStyle/>
                    <a:p>
                      <a:pPr algn="l"/>
                      <a:r>
                        <a:rPr sz="1100" b="0">
                          <a:solidFill>
                            <a:srgbClr val="222222"/>
                          </a:solidFill>
                        </a:rPr>
                        <a:t>0 / 6</a:t>
                      </a:r>
                    </a:p>
                  </a:txBody>
                  <a:tcPr anchor="ctr" marL="54864" marR="54864" marT="18288" marB="18288">
                    <a:solidFill>
                      <a:srgbClr val="FFFFFF"/>
                    </a:solidFill>
                  </a:tcPr>
                </a:tc>
              </a:tr>
              <a:tr h="310896">
                <a:tc>
                  <a:txBody>
                    <a:bodyPr wrap="square"/>
                    <a:lstStyle/>
                    <a:p>
                      <a:pPr algn="l"/>
                      <a:r>
                        <a:rPr sz="1100" b="0">
                          <a:solidFill>
                            <a:srgbClr val="222222"/>
                          </a:solidFill>
                        </a:rPr>
                        <a:t>ik_llama v5</a:t>
                      </a:r>
                    </a:p>
                  </a:txBody>
                  <a:tcPr anchor="ctr" marL="54864" marR="54864" marT="18288" marB="18288">
                    <a:solidFill>
                      <a:srgbClr val="EAF1F8"/>
                    </a:solidFill>
                  </a:tcPr>
                </a:tc>
                <a:tc>
                  <a:txBody>
                    <a:bodyPr wrap="square"/>
                    <a:lstStyle/>
                    <a:p>
                      <a:pPr algn="l"/>
                      <a:r>
                        <a:rPr sz="1100" b="1">
                          <a:solidFill>
                            <a:srgbClr val="1E6B2F"/>
                          </a:solidFill>
                        </a:rPr>
                        <a:t>22 min 41 (1 362,5 s)</a:t>
                      </a:r>
                    </a:p>
                  </a:txBody>
                  <a:tcPr anchor="ctr" marL="54864" marR="54864" marT="18288" marB="18288">
                    <a:solidFill>
                      <a:srgbClr val="EAF1F8"/>
                    </a:solidFill>
                  </a:tcPr>
                </a:tc>
                <a:tc>
                  <a:txBody>
                    <a:bodyPr wrap="square"/>
                    <a:lstStyle/>
                    <a:p>
                      <a:pPr algn="l"/>
                      <a:r>
                        <a:rPr sz="1100" b="1">
                          <a:solidFill>
                            <a:srgbClr val="1E6B2F"/>
                          </a:solidFill>
                        </a:rPr>
                        <a:t>2 597 / 3 128 Mo</a:t>
                      </a:r>
                    </a:p>
                  </a:txBody>
                  <a:tcPr anchor="ctr" marL="54864" marR="54864" marT="18288" marB="18288">
                    <a:solidFill>
                      <a:srgbClr val="EAF1F8"/>
                    </a:solidFill>
                  </a:tcPr>
                </a:tc>
                <a:tc>
                  <a:txBody>
                    <a:bodyPr wrap="square"/>
                    <a:lstStyle/>
                    <a:p>
                      <a:pPr algn="l"/>
                      <a:r>
                        <a:rPr sz="1100" b="0">
                          <a:solidFill>
                            <a:srgbClr val="222222"/>
                          </a:solidFill>
                        </a:rPr>
                        <a:t>3 / 9</a:t>
                      </a:r>
                    </a:p>
                  </a:txBody>
                  <a:tcPr anchor="ctr" marL="54864" marR="54864" marT="18288" marB="18288">
                    <a:solidFill>
                      <a:srgbClr val="EAF1F8"/>
                    </a:solidFill>
                  </a:tcPr>
                </a:tc>
              </a:tr>
            </a:tbl>
          </a:graphicData>
        </a:graphic>
      </p:graphicFrame>
      <p:sp>
        <p:nvSpPr>
          <p:cNvPr id="4" name="Rounded Rectangle 3"/>
          <p:cNvSpPr/>
          <p:nvPr/>
        </p:nvSpPr>
        <p:spPr>
          <a:xfrm>
            <a:off x="457200" y="2468880"/>
            <a:ext cx="11274552" cy="731520"/>
          </a:xfrm>
          <a:prstGeom prst="round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200">
                <a:solidFill>
                  <a:srgbClr val="1E6B2F"/>
                </a:solidFill>
              </a:rPr>
              <a:t>Verdict  </a:t>
            </a:r>
            <a:r>
              <a:rPr sz="1200">
                <a:solidFill>
                  <a:srgbClr val="222222"/>
                </a:solidFill>
              </a:rPr>
              <a:t>Prometteur. Plus rapide (environ -10 %) et surtout -1,4 Go de RAM pic. Mainline gardé en production pour la compatibilité.</a:t>
            </a:r>
          </a:p>
        </p:txBody>
      </p:sp>
      <p:sp>
        <p:nvSpPr>
          <p:cNvPr id="5" name="Rounded Rectangle 4"/>
          <p:cNvSpPr/>
          <p:nvPr/>
        </p:nvSpPr>
        <p:spPr>
          <a:xfrm>
            <a:off x="457200" y="3291840"/>
            <a:ext cx="11274552" cy="1463040"/>
          </a:xfrm>
          <a:prstGeom prst="roundRect">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150">
                <a:solidFill>
                  <a:srgbClr val="1F4E79"/>
                </a:solidFill>
              </a:rPr>
              <a:t>Analyse  </a:t>
            </a:r>
            <a:r>
              <a:rPr sz="1150">
                <a:solidFill>
                  <a:srgbClr val="222222"/>
                </a:solidFill>
              </a:rPr>
              <a:t>Fork de llama.cpp (par I. Kawrakow). Apporte des quantifications SOTA (familles IQ et K-quants améliorées, meilleure perplexité à bits égaux), des noyaux CPU SIMD plus rapides et un row-interleaved packing des poids (meilleure efficacité du cache processeur). Gains surtout visibles en CPU. Pas de publication académique : on cite le dépôt.</a:t>
            </a:r>
          </a:p>
        </p:txBody>
      </p:sp>
      <p:sp>
        <p:nvSpPr>
          <p:cNvPr id="6" name="TextBox 5"/>
          <p:cNvSpPr txBox="1"/>
          <p:nvPr/>
        </p:nvSpPr>
        <p:spPr>
          <a:xfrm>
            <a:off x="457200" y="4846320"/>
            <a:ext cx="11274552" cy="457200"/>
          </a:xfrm>
          <a:prstGeom prst="rect">
            <a:avLst/>
          </a:prstGeom>
          <a:noFill/>
        </p:spPr>
        <p:txBody>
          <a:bodyPr wrap="square">
            <a:spAutoFit/>
          </a:bodyPr>
          <a:lstStyle/>
          <a:p>
            <a:r>
              <a:rPr b="1" sz="900">
                <a:solidFill>
                  <a:srgbClr val="555555"/>
                </a:solidFill>
              </a:rPr>
              <a:t>Source(s) : </a:t>
            </a:r>
            <a:r>
              <a:rPr sz="900" u="sng">
                <a:solidFill>
                  <a:srgbClr val="1F4E79"/>
                </a:solidFill>
                <a:hlinkClick r:id="rId2"/>
              </a:rPr>
              <a:t>ik_llama.cpp, dépôt GitHub (ikawrakow)</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3.7  Speculative decoding (test dédié)</a:t>
            </a:r>
          </a:p>
        </p:txBody>
      </p:sp>
      <p:graphicFrame>
        <p:nvGraphicFramePr>
          <p:cNvPr id="3" name="Table 2"/>
          <p:cNvGraphicFramePr>
            <a:graphicFrameLocks noGrp="1"/>
          </p:cNvGraphicFramePr>
          <p:nvPr/>
        </p:nvGraphicFramePr>
        <p:xfrm>
          <a:off x="457200" y="1051560"/>
          <a:ext cx="9143998" cy="1243584"/>
        </p:xfrm>
        <a:graphic>
          <a:graphicData uri="http://schemas.openxmlformats.org/drawingml/2006/table">
            <a:tbl>
              <a:tblPr>
                <a:tableStyleId>{5C22544A-7EE6-4342-B048-85BDC9FD1C3A}</a:tableStyleId>
              </a:tblPr>
              <a:tblGrid>
                <a:gridCol w="3609473"/>
                <a:gridCol w="1925052"/>
                <a:gridCol w="1684421"/>
                <a:gridCol w="1925052"/>
              </a:tblGrid>
              <a:tr h="310896">
                <a:tc>
                  <a:txBody>
                    <a:bodyPr wrap="square"/>
                    <a:lstStyle/>
                    <a:p>
                      <a:pPr algn="l"/>
                      <a:r>
                        <a:rPr sz="1100" b="1">
                          <a:solidFill>
                            <a:srgbClr val="FFFFFF"/>
                          </a:solidFill>
                        </a:rPr>
                        <a:t>Configuration</a:t>
                      </a:r>
                    </a:p>
                  </a:txBody>
                  <a:tcPr anchor="ctr" marL="54864" marR="54864" marT="18288" marB="18288">
                    <a:solidFill>
                      <a:srgbClr val="1F4E79"/>
                    </a:solidFill>
                  </a:tcPr>
                </a:tc>
                <a:tc>
                  <a:txBody>
                    <a:bodyPr wrap="square"/>
                    <a:lstStyle/>
                    <a:p>
                      <a:pPr algn="l"/>
                      <a:r>
                        <a:rPr sz="1100" b="1">
                          <a:solidFill>
                            <a:srgbClr val="FFFFFF"/>
                          </a:solidFill>
                        </a:rPr>
                        <a:t>Décodage</a:t>
                      </a:r>
                    </a:p>
                  </a:txBody>
                  <a:tcPr anchor="ctr" marL="54864" marR="54864" marT="18288" marB="18288">
                    <a:solidFill>
                      <a:srgbClr val="1F4E79"/>
                    </a:solidFill>
                  </a:tcPr>
                </a:tc>
                <a:tc>
                  <a:txBody>
                    <a:bodyPr wrap="square"/>
                    <a:lstStyle/>
                    <a:p>
                      <a:pPr algn="l"/>
                      <a:r>
                        <a:rPr sz="1100" b="1">
                          <a:solidFill>
                            <a:srgbClr val="FFFFFF"/>
                          </a:solidFill>
                        </a:rPr>
                        <a:t>Temps mur</a:t>
                      </a:r>
                    </a:p>
                  </a:txBody>
                  <a:tcPr anchor="ctr" marL="54864" marR="54864" marT="18288" marB="18288">
                    <a:solidFill>
                      <a:srgbClr val="1F4E79"/>
                    </a:solidFill>
                  </a:tcPr>
                </a:tc>
                <a:tc>
                  <a:txBody>
                    <a:bodyPr wrap="square"/>
                    <a:lstStyle/>
                    <a:p>
                      <a:pPr algn="l"/>
                      <a:r>
                        <a:rPr sz="1100" b="1">
                          <a:solidFill>
                            <a:srgbClr val="FFFFFF"/>
                          </a:solidFill>
                        </a:rPr>
                        <a:t>Acceptance</a:t>
                      </a:r>
                    </a:p>
                  </a:txBody>
                  <a:tcPr anchor="ctr" marL="54864" marR="54864" marT="18288" marB="18288">
                    <a:solidFill>
                      <a:srgbClr val="1F4E79"/>
                    </a:solidFill>
                  </a:tcPr>
                </a:tc>
              </a:tr>
              <a:tr h="310896">
                <a:tc>
                  <a:txBody>
                    <a:bodyPr wrap="square"/>
                    <a:lstStyle/>
                    <a:p>
                      <a:pPr algn="l"/>
                      <a:r>
                        <a:rPr sz="1100" b="0">
                          <a:solidFill>
                            <a:srgbClr val="222222"/>
                          </a:solidFill>
                        </a:rPr>
                        <a:t>A, Ministral 3B seul</a:t>
                      </a:r>
                    </a:p>
                  </a:txBody>
                  <a:tcPr anchor="ctr" marL="54864" marR="54864" marT="18288" marB="18288">
                    <a:solidFill>
                      <a:srgbClr val="FFFFFF"/>
                    </a:solidFill>
                  </a:tcPr>
                </a:tc>
                <a:tc>
                  <a:txBody>
                    <a:bodyPr wrap="square"/>
                    <a:lstStyle/>
                    <a:p>
                      <a:pPr algn="l"/>
                      <a:r>
                        <a:rPr sz="1100" b="1">
                          <a:solidFill>
                            <a:srgbClr val="1E6B2F"/>
                          </a:solidFill>
                        </a:rPr>
                        <a:t>4,82 tok/s</a:t>
                      </a:r>
                    </a:p>
                  </a:txBody>
                  <a:tcPr anchor="ctr" marL="54864" marR="54864" marT="18288" marB="18288">
                    <a:solidFill>
                      <a:srgbClr val="FFFFFF"/>
                    </a:solidFill>
                  </a:tcPr>
                </a:tc>
                <a:tc>
                  <a:txBody>
                    <a:bodyPr wrap="square"/>
                    <a:lstStyle/>
                    <a:p>
                      <a:pPr algn="l"/>
                      <a:r>
                        <a:rPr sz="1100" b="0">
                          <a:solidFill>
                            <a:srgbClr val="222222"/>
                          </a:solidFill>
                        </a:rPr>
                        <a:t>268 s</a:t>
                      </a:r>
                    </a:p>
                  </a:txBody>
                  <a:tcPr anchor="ctr" marL="54864" marR="54864" marT="18288" marB="18288">
                    <a:solidFill>
                      <a:srgbClr val="FFFFFF"/>
                    </a:solidFill>
                  </a:tcPr>
                </a:tc>
                <a:tc>
                  <a:txBody>
                    <a:bodyPr wrap="square"/>
                    <a:lstStyle/>
                    <a:p>
                      <a:pPr algn="l"/>
                      <a:r>
                        <a:rPr sz="1100" b="0">
                          <a:solidFill>
                            <a:srgbClr val="222222"/>
                          </a:solidFill>
                        </a:rPr>
                        <a:t>n.c.</a:t>
                      </a:r>
                    </a:p>
                  </a:txBody>
                  <a:tcPr anchor="ctr" marL="54864" marR="54864" marT="18288" marB="18288">
                    <a:solidFill>
                      <a:srgbClr val="FFFFFF"/>
                    </a:solidFill>
                  </a:tcPr>
                </a:tc>
              </a:tr>
              <a:tr h="310896">
                <a:tc>
                  <a:txBody>
                    <a:bodyPr wrap="square"/>
                    <a:lstStyle/>
                    <a:p>
                      <a:pPr algn="l"/>
                      <a:r>
                        <a:rPr sz="1100" b="0">
                          <a:solidFill>
                            <a:srgbClr val="222222"/>
                          </a:solidFill>
                        </a:rPr>
                        <a:t>B, Qwen 7B seul</a:t>
                      </a:r>
                    </a:p>
                  </a:txBody>
                  <a:tcPr anchor="ctr" marL="54864" marR="54864" marT="18288" marB="18288">
                    <a:solidFill>
                      <a:srgbClr val="EAF1F8"/>
                    </a:solidFill>
                  </a:tcPr>
                </a:tc>
                <a:tc>
                  <a:txBody>
                    <a:bodyPr wrap="square"/>
                    <a:lstStyle/>
                    <a:p>
                      <a:pPr algn="l"/>
                      <a:r>
                        <a:rPr sz="1100" b="0">
                          <a:solidFill>
                            <a:srgbClr val="222222"/>
                          </a:solidFill>
                        </a:rPr>
                        <a:t>3,75 tok/s</a:t>
                      </a:r>
                    </a:p>
                  </a:txBody>
                  <a:tcPr anchor="ctr" marL="54864" marR="54864" marT="18288" marB="18288">
                    <a:solidFill>
                      <a:srgbClr val="EAF1F8"/>
                    </a:solidFill>
                  </a:tcPr>
                </a:tc>
                <a:tc>
                  <a:txBody>
                    <a:bodyPr wrap="square"/>
                    <a:lstStyle/>
                    <a:p>
                      <a:pPr algn="l"/>
                      <a:r>
                        <a:rPr sz="1100" b="0">
                          <a:solidFill>
                            <a:srgbClr val="222222"/>
                          </a:solidFill>
                        </a:rPr>
                        <a:t>426 s</a:t>
                      </a:r>
                    </a:p>
                  </a:txBody>
                  <a:tcPr anchor="ctr" marL="54864" marR="54864" marT="18288" marB="18288">
                    <a:solidFill>
                      <a:srgbClr val="EAF1F8"/>
                    </a:solidFill>
                  </a:tcPr>
                </a:tc>
                <a:tc>
                  <a:txBody>
                    <a:bodyPr wrap="square"/>
                    <a:lstStyle/>
                    <a:p>
                      <a:pPr algn="l"/>
                      <a:r>
                        <a:rPr sz="1100" b="0">
                          <a:solidFill>
                            <a:srgbClr val="222222"/>
                          </a:solidFill>
                        </a:rPr>
                        <a:t>n.c.</a:t>
                      </a:r>
                    </a:p>
                  </a:txBody>
                  <a:tcPr anchor="ctr" marL="54864" marR="54864" marT="18288" marB="18288">
                    <a:solidFill>
                      <a:srgbClr val="EAF1F8"/>
                    </a:solidFill>
                  </a:tcPr>
                </a:tc>
              </a:tr>
              <a:tr h="310896">
                <a:tc>
                  <a:txBody>
                    <a:bodyPr wrap="square"/>
                    <a:lstStyle/>
                    <a:p>
                      <a:pPr algn="l"/>
                      <a:r>
                        <a:rPr sz="1100" b="0">
                          <a:solidFill>
                            <a:srgbClr val="222222"/>
                          </a:solidFill>
                        </a:rPr>
                        <a:t>C, Qwen 7B + draft 0,5B</a:t>
                      </a:r>
                    </a:p>
                  </a:txBody>
                  <a:tcPr anchor="ctr" marL="54864" marR="54864" marT="18288" marB="18288">
                    <a:solidFill>
                      <a:srgbClr val="FFFFFF"/>
                    </a:solidFill>
                  </a:tcPr>
                </a:tc>
                <a:tc>
                  <a:txBody>
                    <a:bodyPr wrap="square"/>
                    <a:lstStyle/>
                    <a:p>
                      <a:pPr algn="l"/>
                      <a:r>
                        <a:rPr sz="1100" b="1">
                          <a:solidFill>
                            <a:srgbClr val="B02A2A"/>
                          </a:solidFill>
                        </a:rPr>
                        <a:t>2,00 tok/s</a:t>
                      </a:r>
                    </a:p>
                  </a:txBody>
                  <a:tcPr anchor="ctr" marL="54864" marR="54864" marT="18288" marB="18288">
                    <a:solidFill>
                      <a:srgbClr val="FFFFFF"/>
                    </a:solidFill>
                  </a:tcPr>
                </a:tc>
                <a:tc>
                  <a:txBody>
                    <a:bodyPr wrap="square"/>
                    <a:lstStyle/>
                    <a:p>
                      <a:pPr algn="l"/>
                      <a:r>
                        <a:rPr sz="1100" b="1">
                          <a:solidFill>
                            <a:srgbClr val="B02A2A"/>
                          </a:solidFill>
                        </a:rPr>
                        <a:t>472 s</a:t>
                      </a:r>
                    </a:p>
                  </a:txBody>
                  <a:tcPr anchor="ctr" marL="54864" marR="54864" marT="18288" marB="18288">
                    <a:solidFill>
                      <a:srgbClr val="FFFFFF"/>
                    </a:solidFill>
                  </a:tcPr>
                </a:tc>
                <a:tc>
                  <a:txBody>
                    <a:bodyPr wrap="square"/>
                    <a:lstStyle/>
                    <a:p>
                      <a:pPr algn="l"/>
                      <a:r>
                        <a:rPr sz="1100" b="0">
                          <a:solidFill>
                            <a:srgbClr val="222222"/>
                          </a:solidFill>
                        </a:rPr>
                        <a:t>0,64 (61/95)</a:t>
                      </a:r>
                    </a:p>
                  </a:txBody>
                  <a:tcPr anchor="ctr" marL="54864" marR="54864" marT="18288" marB="18288">
                    <a:solidFill>
                      <a:srgbClr val="FFFFFF"/>
                    </a:solidFill>
                  </a:tcPr>
                </a:tc>
              </a:tr>
            </a:tbl>
          </a:graphicData>
        </a:graphic>
      </p:graphicFrame>
      <p:sp>
        <p:nvSpPr>
          <p:cNvPr id="4" name="Rounded Rectangle 3"/>
          <p:cNvSpPr/>
          <p:nvPr/>
        </p:nvSpPr>
        <p:spPr>
          <a:xfrm>
            <a:off x="457200" y="2743200"/>
            <a:ext cx="11274552" cy="640080"/>
          </a:xfrm>
          <a:prstGeom prst="roundRect">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200">
                <a:solidFill>
                  <a:srgbClr val="B02A2A"/>
                </a:solidFill>
              </a:rPr>
              <a:t>Verdict  </a:t>
            </a:r>
            <a:r>
              <a:rPr sz="1200">
                <a:solidFill>
                  <a:srgbClr val="222222"/>
                </a:solidFill>
              </a:rPr>
              <a:t>Rejeté dans notre configuration (Qwen 7B + draft 0,5B sur CPU). Config C la PLUS LENTE (2,00 vs 3,75 tok/s).</a:t>
            </a:r>
          </a:p>
        </p:txBody>
      </p:sp>
      <p:sp>
        <p:nvSpPr>
          <p:cNvPr id="5" name="Rounded Rectangle 4"/>
          <p:cNvSpPr/>
          <p:nvPr/>
        </p:nvSpPr>
        <p:spPr>
          <a:xfrm>
            <a:off x="457200" y="3520440"/>
            <a:ext cx="11274552" cy="1828800"/>
          </a:xfrm>
          <a:prstGeom prst="roundRect">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100">
                <a:solidFill>
                  <a:srgbClr val="1F4E79"/>
                </a:solidFill>
              </a:rPr>
              <a:t>Analyse  </a:t>
            </a:r>
            <a:r>
              <a:rPr sz="1100">
                <a:solidFill>
                  <a:srgbClr val="222222"/>
                </a:solidFill>
              </a:rPr>
              <a:t>Le speculative decoding (Leviathan et al. 2023) accélère un décodage MEMORY-BOUND : sur GPU à lot=1 il reste du calcul libre pour vérifier les K tokens du draft presque gratuitement (2 à 3 fois). Sur CPU ça ne paie pas : (1) la vérification par lots est limitée par le calcul (peu d'unités parallèles) ; (2) le draft occupe les mêmes cœurs ; (3) acceptance 0,64 insuffisante. Retours externes mitigés ; notre mesure : ralentissement.</a:t>
            </a:r>
          </a:p>
        </p:txBody>
      </p:sp>
      <p:sp>
        <p:nvSpPr>
          <p:cNvPr id="6" name="TextBox 5"/>
          <p:cNvSpPr txBox="1"/>
          <p:nvPr/>
        </p:nvSpPr>
        <p:spPr>
          <a:xfrm>
            <a:off x="457200" y="5440680"/>
            <a:ext cx="11274552" cy="457200"/>
          </a:xfrm>
          <a:prstGeom prst="rect">
            <a:avLst/>
          </a:prstGeom>
          <a:noFill/>
        </p:spPr>
        <p:txBody>
          <a:bodyPr wrap="square">
            <a:spAutoFit/>
          </a:bodyPr>
          <a:lstStyle/>
          <a:p>
            <a:r>
              <a:rPr b="1" sz="900">
                <a:solidFill>
                  <a:srgbClr val="555555"/>
                </a:solidFill>
              </a:rPr>
              <a:t>Source(s) : </a:t>
            </a:r>
            <a:r>
              <a:rPr sz="900" u="sng">
                <a:solidFill>
                  <a:srgbClr val="1F4E79"/>
                </a:solidFill>
                <a:hlinkClick r:id="rId2"/>
              </a:rPr>
              <a:t>Speculative Decoding, Leviathan et al., ICML 2023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3.8  Prompt Lookup Decoding (PLD)</a:t>
            </a:r>
          </a:p>
        </p:txBody>
      </p:sp>
      <p:graphicFrame>
        <p:nvGraphicFramePr>
          <p:cNvPr id="3" name="Table 2"/>
          <p:cNvGraphicFramePr>
            <a:graphicFrameLocks noGrp="1"/>
          </p:cNvGraphicFramePr>
          <p:nvPr/>
        </p:nvGraphicFramePr>
        <p:xfrm>
          <a:off x="457200" y="1051560"/>
          <a:ext cx="9143998" cy="932688"/>
        </p:xfrm>
        <a:graphic>
          <a:graphicData uri="http://schemas.openxmlformats.org/drawingml/2006/table">
            <a:tbl>
              <a:tblPr>
                <a:tableStyleId>{5C22544A-7EE6-4342-B048-85BDC9FD1C3A}</a:tableStyleId>
              </a:tblPr>
              <a:tblGrid>
                <a:gridCol w="2344615"/>
                <a:gridCol w="1875692"/>
                <a:gridCol w="1875692"/>
                <a:gridCol w="3047999"/>
              </a:tblGrid>
              <a:tr h="310896">
                <a:tc>
                  <a:txBody>
                    <a:bodyPr wrap="square"/>
                    <a:lstStyle/>
                    <a:p>
                      <a:pPr algn="l"/>
                      <a:r>
                        <a:rPr sz="1100" b="1">
                          <a:solidFill>
                            <a:srgbClr val="FFFFFF"/>
                          </a:solidFill>
                        </a:rPr>
                        <a:t>Étape</a:t>
                      </a:r>
                    </a:p>
                  </a:txBody>
                  <a:tcPr anchor="ctr" marL="54864" marR="54864" marT="18288" marB="18288">
                    <a:solidFill>
                      <a:srgbClr val="1F4E79"/>
                    </a:solidFill>
                  </a:tcPr>
                </a:tc>
                <a:tc>
                  <a:txBody>
                    <a:bodyPr wrap="square"/>
                    <a:lstStyle/>
                    <a:p>
                      <a:pPr algn="l"/>
                      <a:r>
                        <a:rPr sz="1100" b="1">
                          <a:solidFill>
                            <a:srgbClr val="FFFFFF"/>
                          </a:solidFill>
                        </a:rPr>
                        <a:t>PLD ON</a:t>
                      </a:r>
                    </a:p>
                  </a:txBody>
                  <a:tcPr anchor="ctr" marL="54864" marR="54864" marT="18288" marB="18288">
                    <a:solidFill>
                      <a:srgbClr val="1F4E79"/>
                    </a:solidFill>
                  </a:tcPr>
                </a:tc>
                <a:tc>
                  <a:txBody>
                    <a:bodyPr wrap="square"/>
                    <a:lstStyle/>
                    <a:p>
                      <a:pPr algn="l"/>
                      <a:r>
                        <a:rPr sz="1100" b="1">
                          <a:solidFill>
                            <a:srgbClr val="FFFFFF"/>
                          </a:solidFill>
                        </a:rPr>
                        <a:t>PLD OFF</a:t>
                      </a:r>
                    </a:p>
                  </a:txBody>
                  <a:tcPr anchor="ctr" marL="54864" marR="54864" marT="18288" marB="18288">
                    <a:solidFill>
                      <a:srgbClr val="1F4E79"/>
                    </a:solidFill>
                  </a:tcPr>
                </a:tc>
                <a:tc>
                  <a:txBody>
                    <a:bodyPr wrap="square"/>
                    <a:lstStyle/>
                    <a:p>
                      <a:pPr algn="l"/>
                      <a:r>
                        <a:rPr sz="1100" b="1">
                          <a:solidFill>
                            <a:srgbClr val="FFFFFF"/>
                          </a:solidFill>
                        </a:rPr>
                        <a:t>Écart</a:t>
                      </a:r>
                    </a:p>
                  </a:txBody>
                  <a:tcPr anchor="ctr" marL="54864" marR="54864" marT="18288" marB="18288">
                    <a:solidFill>
                      <a:srgbClr val="1F4E79"/>
                    </a:solidFill>
                  </a:tcPr>
                </a:tc>
              </a:tr>
              <a:tr h="310896">
                <a:tc>
                  <a:txBody>
                    <a:bodyPr wrap="square"/>
                    <a:lstStyle/>
                    <a:p>
                      <a:pPr algn="l"/>
                      <a:r>
                        <a:rPr sz="1100" b="0">
                          <a:solidFill>
                            <a:srgbClr val="222222"/>
                          </a:solidFill>
                        </a:rPr>
                        <a:t>Extraction et plan</a:t>
                      </a:r>
                    </a:p>
                  </a:txBody>
                  <a:tcPr anchor="ctr" marL="54864" marR="54864" marT="18288" marB="18288">
                    <a:solidFill>
                      <a:srgbClr val="FFFFFF"/>
                    </a:solidFill>
                  </a:tcPr>
                </a:tc>
                <a:tc>
                  <a:txBody>
                    <a:bodyPr wrap="square"/>
                    <a:lstStyle/>
                    <a:p>
                      <a:pPr algn="l"/>
                      <a:r>
                        <a:rPr sz="1100" b="0">
                          <a:solidFill>
                            <a:srgbClr val="222222"/>
                          </a:solidFill>
                        </a:rPr>
                        <a:t>210,20 s</a:t>
                      </a:r>
                    </a:p>
                  </a:txBody>
                  <a:tcPr anchor="ctr" marL="54864" marR="54864" marT="18288" marB="18288">
                    <a:solidFill>
                      <a:srgbClr val="FFFFFF"/>
                    </a:solidFill>
                  </a:tcPr>
                </a:tc>
                <a:tc>
                  <a:txBody>
                    <a:bodyPr wrap="square"/>
                    <a:lstStyle/>
                    <a:p>
                      <a:pPr algn="l"/>
                      <a:r>
                        <a:rPr sz="1100" b="0">
                          <a:solidFill>
                            <a:srgbClr val="222222"/>
                          </a:solidFill>
                        </a:rPr>
                        <a:t>209,79 s</a:t>
                      </a:r>
                    </a:p>
                  </a:txBody>
                  <a:tcPr anchor="ctr" marL="54864" marR="54864" marT="18288" marB="18288">
                    <a:solidFill>
                      <a:srgbClr val="FFFFFF"/>
                    </a:solidFill>
                  </a:tcPr>
                </a:tc>
                <a:tc>
                  <a:txBody>
                    <a:bodyPr wrap="square"/>
                    <a:lstStyle/>
                    <a:p>
                      <a:pPr algn="l"/>
                      <a:r>
                        <a:rPr sz="1100" b="1">
                          <a:solidFill>
                            <a:srgbClr val="B02A2A"/>
                          </a:solidFill>
                        </a:rPr>
                        <a:t>+0,4 s (ON plus lent)</a:t>
                      </a:r>
                    </a:p>
                  </a:txBody>
                  <a:tcPr anchor="ctr" marL="54864" marR="54864" marT="18288" marB="18288">
                    <a:solidFill>
                      <a:srgbClr val="FFFFFF"/>
                    </a:solidFill>
                  </a:tcPr>
                </a:tc>
              </a:tr>
              <a:tr h="310896">
                <a:tc>
                  <a:txBody>
                    <a:bodyPr wrap="square"/>
                    <a:lstStyle/>
                    <a:p>
                      <a:pPr algn="l"/>
                      <a:r>
                        <a:rPr sz="1100" b="0">
                          <a:solidFill>
                            <a:srgbClr val="222222"/>
                          </a:solidFill>
                        </a:rPr>
                        <a:t>Résumé</a:t>
                      </a:r>
                    </a:p>
                  </a:txBody>
                  <a:tcPr anchor="ctr" marL="54864" marR="54864" marT="18288" marB="18288">
                    <a:solidFill>
                      <a:srgbClr val="EAF1F8"/>
                    </a:solidFill>
                  </a:tcPr>
                </a:tc>
                <a:tc>
                  <a:txBody>
                    <a:bodyPr wrap="square"/>
                    <a:lstStyle/>
                    <a:p>
                      <a:pPr algn="l"/>
                      <a:r>
                        <a:rPr sz="1100" b="0">
                          <a:solidFill>
                            <a:srgbClr val="222222"/>
                          </a:solidFill>
                        </a:rPr>
                        <a:t>224,70 s</a:t>
                      </a:r>
                    </a:p>
                  </a:txBody>
                  <a:tcPr anchor="ctr" marL="54864" marR="54864" marT="18288" marB="18288">
                    <a:solidFill>
                      <a:srgbClr val="EAF1F8"/>
                    </a:solidFill>
                  </a:tcPr>
                </a:tc>
                <a:tc>
                  <a:txBody>
                    <a:bodyPr wrap="square"/>
                    <a:lstStyle/>
                    <a:p>
                      <a:pPr algn="l"/>
                      <a:r>
                        <a:rPr sz="1100" b="0">
                          <a:solidFill>
                            <a:srgbClr val="222222"/>
                          </a:solidFill>
                        </a:rPr>
                        <a:t>214,02 s</a:t>
                      </a:r>
                    </a:p>
                  </a:txBody>
                  <a:tcPr anchor="ctr" marL="54864" marR="54864" marT="18288" marB="18288">
                    <a:solidFill>
                      <a:srgbClr val="EAF1F8"/>
                    </a:solidFill>
                  </a:tcPr>
                </a:tc>
                <a:tc>
                  <a:txBody>
                    <a:bodyPr wrap="square"/>
                    <a:lstStyle/>
                    <a:p>
                      <a:pPr algn="l"/>
                      <a:r>
                        <a:rPr sz="1100" b="1">
                          <a:solidFill>
                            <a:srgbClr val="B02A2A"/>
                          </a:solidFill>
                        </a:rPr>
                        <a:t>+10,7 s (ON plus lent)</a:t>
                      </a:r>
                    </a:p>
                  </a:txBody>
                  <a:tcPr anchor="ctr" marL="54864" marR="54864" marT="18288" marB="18288">
                    <a:solidFill>
                      <a:srgbClr val="EAF1F8"/>
                    </a:solidFill>
                  </a:tcPr>
                </a:tc>
              </a:tr>
            </a:tbl>
          </a:graphicData>
        </a:graphic>
      </p:graphicFrame>
      <p:sp>
        <p:nvSpPr>
          <p:cNvPr id="4" name="Rounded Rectangle 3"/>
          <p:cNvSpPr/>
          <p:nvPr/>
        </p:nvSpPr>
        <p:spPr>
          <a:xfrm>
            <a:off x="457200" y="2286000"/>
            <a:ext cx="11274552" cy="640080"/>
          </a:xfrm>
          <a:prstGeom prst="roundRect">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200">
                <a:solidFill>
                  <a:srgbClr val="B02A2A"/>
                </a:solidFill>
              </a:rPr>
              <a:t>Verdict  </a:t>
            </a:r>
            <a:r>
              <a:rPr sz="1200">
                <a:solidFill>
                  <a:srgbClr val="222222"/>
                </a:solidFill>
              </a:rPr>
              <a:t>Rejeté. Aucun gain : la sortie (résumé abstractif, JSON court) ne recopie pas assez le prompt.</a:t>
            </a:r>
          </a:p>
        </p:txBody>
      </p:sp>
      <p:sp>
        <p:nvSpPr>
          <p:cNvPr id="5" name="Rounded Rectangle 4"/>
          <p:cNvSpPr/>
          <p:nvPr/>
        </p:nvSpPr>
        <p:spPr>
          <a:xfrm>
            <a:off x="457200" y="3063240"/>
            <a:ext cx="11274552" cy="1554480"/>
          </a:xfrm>
          <a:prstGeom prst="roundRect">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150">
                <a:solidFill>
                  <a:srgbClr val="1F4E79"/>
                </a:solidFill>
              </a:rPr>
              <a:t>Analyse  </a:t>
            </a:r>
            <a:r>
              <a:rPr sz="1150">
                <a:solidFill>
                  <a:srgbClr val="222222"/>
                </a:solidFill>
              </a:rPr>
              <a:t>Le PLD remplace le draft par une recopie de n-grammes déjà présents dans le prompt : il n'accélère que si la sortie REPREND littéralement l'entrée (résumé extractif, QA, code). Notre sortie est ABSTRACTIVE (reformulée) plus un JSON court : recouvrement de n-grammes faible, presque rien à deviner par copie, donc pas de gain.</a:t>
            </a:r>
          </a:p>
        </p:txBody>
      </p:sp>
      <p:sp>
        <p:nvSpPr>
          <p:cNvPr id="6" name="TextBox 5"/>
          <p:cNvSpPr txBox="1"/>
          <p:nvPr/>
        </p:nvSpPr>
        <p:spPr>
          <a:xfrm>
            <a:off x="457200" y="4709160"/>
            <a:ext cx="11274552" cy="457200"/>
          </a:xfrm>
          <a:prstGeom prst="rect">
            <a:avLst/>
          </a:prstGeom>
          <a:noFill/>
        </p:spPr>
        <p:txBody>
          <a:bodyPr wrap="square">
            <a:spAutoFit/>
          </a:bodyPr>
          <a:lstStyle/>
          <a:p>
            <a:r>
              <a:rPr b="1" sz="900">
                <a:solidFill>
                  <a:srgbClr val="555555"/>
                </a:solidFill>
              </a:rPr>
              <a:t>Source(s) : </a:t>
            </a:r>
            <a:r>
              <a:rPr sz="900" u="sng">
                <a:solidFill>
                  <a:srgbClr val="1F4E79"/>
                </a:solidFill>
                <a:hlinkClick r:id="rId2"/>
              </a:rPr>
              <a:t>Prompt Lookup Decoding, dépôt GitHub (apoorvumang)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3.8  Compression LLMLingua-2 ; parallélisme ; OpenVINO</a:t>
            </a:r>
          </a:p>
        </p:txBody>
      </p:sp>
      <p:graphicFrame>
        <p:nvGraphicFramePr>
          <p:cNvPr id="3" name="Table 2"/>
          <p:cNvGraphicFramePr>
            <a:graphicFrameLocks noGrp="1"/>
          </p:cNvGraphicFramePr>
          <p:nvPr/>
        </p:nvGraphicFramePr>
        <p:xfrm>
          <a:off x="457200" y="1051560"/>
          <a:ext cx="10058397" cy="1243584"/>
        </p:xfrm>
        <a:graphic>
          <a:graphicData uri="http://schemas.openxmlformats.org/drawingml/2006/table">
            <a:tbl>
              <a:tblPr>
                <a:tableStyleId>{5C22544A-7EE6-4342-B048-85BDC9FD1C3A}</a:tableStyleId>
              </a:tblPr>
              <a:tblGrid>
                <a:gridCol w="2312275"/>
                <a:gridCol w="1849820"/>
                <a:gridCol w="1849820"/>
                <a:gridCol w="4046482"/>
              </a:tblGrid>
              <a:tr h="310896">
                <a:tc>
                  <a:txBody>
                    <a:bodyPr wrap="square"/>
                    <a:lstStyle/>
                    <a:p>
                      <a:pPr algn="l"/>
                      <a:r>
                        <a:rPr sz="1100" b="1">
                          <a:solidFill>
                            <a:srgbClr val="FFFFFF"/>
                          </a:solidFill>
                        </a:rPr>
                        <a:t>Ratio LLMLingua</a:t>
                      </a:r>
                    </a:p>
                  </a:txBody>
                  <a:tcPr anchor="ctr" marL="54864" marR="54864" marT="18288" marB="18288">
                    <a:solidFill>
                      <a:srgbClr val="1F4E79"/>
                    </a:solidFill>
                  </a:tcPr>
                </a:tc>
                <a:tc>
                  <a:txBody>
                    <a:bodyPr wrap="square"/>
                    <a:lstStyle/>
                    <a:p>
                      <a:pPr algn="l"/>
                      <a:r>
                        <a:rPr sz="1100" b="1">
                          <a:solidFill>
                            <a:srgbClr val="FFFFFF"/>
                          </a:solidFill>
                        </a:rPr>
                        <a:t>Caractères</a:t>
                      </a:r>
                    </a:p>
                  </a:txBody>
                  <a:tcPr anchor="ctr" marL="54864" marR="54864" marT="18288" marB="18288">
                    <a:solidFill>
                      <a:srgbClr val="1F4E79"/>
                    </a:solidFill>
                  </a:tcPr>
                </a:tc>
                <a:tc>
                  <a:txBody>
                    <a:bodyPr wrap="square"/>
                    <a:lstStyle/>
                    <a:p>
                      <a:pPr algn="l"/>
                      <a:r>
                        <a:rPr sz="1100" b="1">
                          <a:solidFill>
                            <a:srgbClr val="FFFFFF"/>
                          </a:solidFill>
                        </a:rPr>
                        <a:t>Durée totale</a:t>
                      </a:r>
                    </a:p>
                  </a:txBody>
                  <a:tcPr anchor="ctr" marL="54864" marR="54864" marT="18288" marB="18288">
                    <a:solidFill>
                      <a:srgbClr val="1F4E79"/>
                    </a:solidFill>
                  </a:tcPr>
                </a:tc>
                <a:tc>
                  <a:txBody>
                    <a:bodyPr wrap="square"/>
                    <a:lstStyle/>
                    <a:p>
                      <a:pPr algn="l"/>
                      <a:r>
                        <a:rPr sz="1100" b="1">
                          <a:solidFill>
                            <a:srgbClr val="FFFFFF"/>
                          </a:solidFill>
                        </a:rPr>
                        <a:t>Effet qualité</a:t>
                      </a:r>
                    </a:p>
                  </a:txBody>
                  <a:tcPr anchor="ctr" marL="54864" marR="54864" marT="18288" marB="18288">
                    <a:solidFill>
                      <a:srgbClr val="1F4E79"/>
                    </a:solidFill>
                  </a:tcPr>
                </a:tc>
              </a:tr>
              <a:tr h="310896">
                <a:tc>
                  <a:txBody>
                    <a:bodyPr wrap="square"/>
                    <a:lstStyle/>
                    <a:p>
                      <a:pPr algn="l"/>
                      <a:r>
                        <a:rPr sz="1100" b="0">
                          <a:solidFill>
                            <a:srgbClr val="222222"/>
                          </a:solidFill>
                        </a:rPr>
                        <a:t>1.0 (aucune)</a:t>
                      </a:r>
                    </a:p>
                  </a:txBody>
                  <a:tcPr anchor="ctr" marL="54864" marR="54864" marT="18288" marB="18288">
                    <a:solidFill>
                      <a:srgbClr val="FFFFFF"/>
                    </a:solidFill>
                  </a:tcPr>
                </a:tc>
                <a:tc>
                  <a:txBody>
                    <a:bodyPr wrap="square"/>
                    <a:lstStyle/>
                    <a:p>
                      <a:pPr algn="l"/>
                      <a:r>
                        <a:rPr sz="1100" b="0">
                          <a:solidFill>
                            <a:srgbClr val="222222"/>
                          </a:solidFill>
                        </a:rPr>
                        <a:t>8 000</a:t>
                      </a:r>
                    </a:p>
                  </a:txBody>
                  <a:tcPr anchor="ctr" marL="54864" marR="54864" marT="18288" marB="18288">
                    <a:solidFill>
                      <a:srgbClr val="FFFFFF"/>
                    </a:solidFill>
                  </a:tcPr>
                </a:tc>
                <a:tc>
                  <a:txBody>
                    <a:bodyPr wrap="square"/>
                    <a:lstStyle/>
                    <a:p>
                      <a:pPr algn="l"/>
                      <a:r>
                        <a:rPr sz="1100" b="0">
                          <a:solidFill>
                            <a:srgbClr val="222222"/>
                          </a:solidFill>
                        </a:rPr>
                        <a:t>308,7 s</a:t>
                      </a:r>
                    </a:p>
                  </a:txBody>
                  <a:tcPr anchor="ctr" marL="54864" marR="54864" marT="18288" marB="18288">
                    <a:solidFill>
                      <a:srgbClr val="FFFFFF"/>
                    </a:solidFill>
                  </a:tcPr>
                </a:tc>
                <a:tc>
                  <a:txBody>
                    <a:bodyPr wrap="square"/>
                    <a:lstStyle/>
                    <a:p>
                      <a:pPr algn="l"/>
                      <a:r>
                        <a:rPr sz="1100" b="1">
                          <a:solidFill>
                            <a:srgbClr val="B02A2A"/>
                          </a:solidFill>
                        </a:rPr>
                        <a:t>référence, extraction vide</a:t>
                      </a:r>
                    </a:p>
                  </a:txBody>
                  <a:tcPr anchor="ctr" marL="54864" marR="54864" marT="18288" marB="18288">
                    <a:solidFill>
                      <a:srgbClr val="FFFFFF"/>
                    </a:solidFill>
                  </a:tcPr>
                </a:tc>
              </a:tr>
              <a:tr h="310896">
                <a:tc>
                  <a:txBody>
                    <a:bodyPr wrap="square"/>
                    <a:lstStyle/>
                    <a:p>
                      <a:pPr algn="l"/>
                      <a:r>
                        <a:rPr sz="1100" b="0">
                          <a:solidFill>
                            <a:srgbClr val="222222"/>
                          </a:solidFill>
                        </a:rPr>
                        <a:t>0.5</a:t>
                      </a:r>
                    </a:p>
                  </a:txBody>
                  <a:tcPr anchor="ctr" marL="54864" marR="54864" marT="18288" marB="18288">
                    <a:solidFill>
                      <a:srgbClr val="EAF1F8"/>
                    </a:solidFill>
                  </a:tcPr>
                </a:tc>
                <a:tc>
                  <a:txBody>
                    <a:bodyPr wrap="square"/>
                    <a:lstStyle/>
                    <a:p>
                      <a:pPr algn="l"/>
                      <a:r>
                        <a:rPr sz="1100" b="0">
                          <a:solidFill>
                            <a:srgbClr val="222222"/>
                          </a:solidFill>
                        </a:rPr>
                        <a:t>4 152</a:t>
                      </a:r>
                    </a:p>
                  </a:txBody>
                  <a:tcPr anchor="ctr" marL="54864" marR="54864" marT="18288" marB="18288">
                    <a:solidFill>
                      <a:srgbClr val="EAF1F8"/>
                    </a:solidFill>
                  </a:tcPr>
                </a:tc>
                <a:tc>
                  <a:txBody>
                    <a:bodyPr wrap="square"/>
                    <a:lstStyle/>
                    <a:p>
                      <a:pPr algn="l"/>
                      <a:r>
                        <a:rPr sz="1100" b="0">
                          <a:solidFill>
                            <a:srgbClr val="222222"/>
                          </a:solidFill>
                        </a:rPr>
                        <a:t>174,7 s</a:t>
                      </a:r>
                    </a:p>
                  </a:txBody>
                  <a:tcPr anchor="ctr" marL="54864" marR="54864" marT="18288" marB="18288">
                    <a:solidFill>
                      <a:srgbClr val="EAF1F8"/>
                    </a:solidFill>
                  </a:tcPr>
                </a:tc>
                <a:tc>
                  <a:txBody>
                    <a:bodyPr wrap="square"/>
                    <a:lstStyle/>
                    <a:p>
                      <a:pPr algn="l"/>
                      <a:r>
                        <a:rPr sz="1100" b="0">
                          <a:solidFill>
                            <a:srgbClr val="222222"/>
                          </a:solidFill>
                        </a:rPr>
                        <a:t>identique à la référence</a:t>
                      </a:r>
                    </a:p>
                  </a:txBody>
                  <a:tcPr anchor="ctr" marL="54864" marR="54864" marT="18288" marB="18288">
                    <a:solidFill>
                      <a:srgbClr val="EAF1F8"/>
                    </a:solidFill>
                  </a:tcPr>
                </a:tc>
              </a:tr>
              <a:tr h="310896">
                <a:tc>
                  <a:txBody>
                    <a:bodyPr wrap="square"/>
                    <a:lstStyle/>
                    <a:p>
                      <a:pPr algn="l"/>
                      <a:r>
                        <a:rPr sz="1100" b="0">
                          <a:solidFill>
                            <a:srgbClr val="222222"/>
                          </a:solidFill>
                        </a:rPr>
                        <a:t>0.4</a:t>
                      </a:r>
                    </a:p>
                  </a:txBody>
                  <a:tcPr anchor="ctr" marL="54864" marR="54864" marT="18288" marB="18288">
                    <a:solidFill>
                      <a:srgbClr val="FFFFFF"/>
                    </a:solidFill>
                  </a:tcPr>
                </a:tc>
                <a:tc>
                  <a:txBody>
                    <a:bodyPr wrap="square"/>
                    <a:lstStyle/>
                    <a:p>
                      <a:pPr algn="l"/>
                      <a:r>
                        <a:rPr sz="1100" b="0">
                          <a:solidFill>
                            <a:srgbClr val="222222"/>
                          </a:solidFill>
                        </a:rPr>
                        <a:t>3 351</a:t>
                      </a:r>
                    </a:p>
                  </a:txBody>
                  <a:tcPr anchor="ctr" marL="54864" marR="54864" marT="18288" marB="18288">
                    <a:solidFill>
                      <a:srgbClr val="FFFFFF"/>
                    </a:solidFill>
                  </a:tcPr>
                </a:tc>
                <a:tc>
                  <a:txBody>
                    <a:bodyPr wrap="square"/>
                    <a:lstStyle/>
                    <a:p>
                      <a:pPr algn="l"/>
                      <a:r>
                        <a:rPr sz="1100" b="0">
                          <a:solidFill>
                            <a:srgbClr val="222222"/>
                          </a:solidFill>
                        </a:rPr>
                        <a:t>128,7 s</a:t>
                      </a:r>
                    </a:p>
                  </a:txBody>
                  <a:tcPr anchor="ctr" marL="54864" marR="54864" marT="18288" marB="18288">
                    <a:solidFill>
                      <a:srgbClr val="FFFFFF"/>
                    </a:solidFill>
                  </a:tcPr>
                </a:tc>
                <a:tc>
                  <a:txBody>
                    <a:bodyPr wrap="square"/>
                    <a:lstStyle/>
                    <a:p>
                      <a:pPr algn="l"/>
                      <a:r>
                        <a:rPr sz="1100" b="0">
                          <a:solidFill>
                            <a:srgbClr val="222222"/>
                          </a:solidFill>
                        </a:rPr>
                        <a:t>1 décision apparaît (extrapolation ?)</a:t>
                      </a:r>
                    </a:p>
                  </a:txBody>
                  <a:tcPr anchor="ctr" marL="54864" marR="54864" marT="18288" marB="18288">
                    <a:solidFill>
                      <a:srgbClr val="FFFFFF"/>
                    </a:solidFill>
                  </a:tcPr>
                </a:tc>
              </a:tr>
            </a:tbl>
          </a:graphicData>
        </a:graphic>
      </p:graphicFrame>
      <p:sp>
        <p:nvSpPr>
          <p:cNvPr id="4" name="Rounded Rectangle 3"/>
          <p:cNvSpPr/>
          <p:nvPr/>
        </p:nvSpPr>
        <p:spPr>
          <a:xfrm>
            <a:off x="457200" y="2651760"/>
            <a:ext cx="11274552" cy="822960"/>
          </a:xfrm>
          <a:prstGeom prst="roundRect">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200">
                <a:solidFill>
                  <a:srgbClr val="B02A2A"/>
                </a:solidFill>
              </a:rPr>
              <a:t>Verdict  </a:t>
            </a:r>
            <a:r>
              <a:rPr sz="1200">
                <a:solidFill>
                  <a:srgbClr val="222222"/>
                </a:solidFill>
              </a:rPr>
              <a:t>Écarté. Gain net (jusqu'à environ 2,9 fois) mais aux ratios agressifs le contenu diverge (items non vérifiés). Risque qualité non maîtrisé sans gold.</a:t>
            </a:r>
          </a:p>
        </p:txBody>
      </p:sp>
      <p:sp>
        <p:nvSpPr>
          <p:cNvPr id="5" name="TextBox 4"/>
          <p:cNvSpPr txBox="1"/>
          <p:nvPr/>
        </p:nvSpPr>
        <p:spPr>
          <a:xfrm>
            <a:off x="457200" y="3657600"/>
            <a:ext cx="11274552" cy="1188720"/>
          </a:xfrm>
          <a:prstGeom prst="rect">
            <a:avLst/>
          </a:prstGeom>
          <a:noFill/>
        </p:spPr>
        <p:txBody>
          <a:bodyPr wrap="square">
            <a:spAutoFit/>
          </a:bodyPr>
          <a:lstStyle/>
          <a:p>
            <a:pPr>
              <a:spcAft>
                <a:spcPts val="600"/>
              </a:spcAft>
            </a:pPr>
            <a:r>
              <a:rPr sz="1250">
                <a:solidFill>
                  <a:srgbClr val="2E75B6"/>
                </a:solidFill>
              </a:rPr>
              <a:t>•  </a:t>
            </a:r>
            <a:r>
              <a:rPr b="1" sz="1250">
                <a:solidFill>
                  <a:srgbClr val="222222"/>
                </a:solidFill>
              </a:rPr>
              <a:t>Parallélisme (--parallel) : </a:t>
            </a:r>
            <a:r>
              <a:rPr sz="1250">
                <a:solidFill>
                  <a:srgbClr val="222222"/>
                </a:solidFill>
              </a:rPr>
              <a:t>pas de gain réel sur CPU (cœurs partagés). Pipeline séquentiel.</a:t>
            </a:r>
          </a:p>
          <a:p>
            <a:pPr>
              <a:spcAft>
                <a:spcPts val="600"/>
              </a:spcAft>
            </a:pPr>
            <a:r>
              <a:rPr sz="1250">
                <a:solidFill>
                  <a:srgbClr val="2E75B6"/>
                </a:solidFill>
              </a:rPr>
              <a:t>•  </a:t>
            </a:r>
            <a:r>
              <a:rPr b="1" sz="1250">
                <a:solidFill>
                  <a:srgbClr val="222222"/>
                </a:solidFill>
              </a:rPr>
              <a:t>OpenVINO : </a:t>
            </a:r>
            <a:r>
              <a:rPr sz="1250">
                <a:solidFill>
                  <a:srgbClr val="222222"/>
                </a:solidFill>
              </a:rPr>
              <a:t>non concluant (prérequis lourds, Q4_K_M partiellement supporté).</a:t>
            </a:r>
          </a:p>
        </p:txBody>
      </p:sp>
      <p:sp>
        <p:nvSpPr>
          <p:cNvPr id="6" name="TextBox 5"/>
          <p:cNvSpPr txBox="1"/>
          <p:nvPr/>
        </p:nvSpPr>
        <p:spPr>
          <a:xfrm>
            <a:off x="457200" y="4937760"/>
            <a:ext cx="11274552" cy="457200"/>
          </a:xfrm>
          <a:prstGeom prst="rect">
            <a:avLst/>
          </a:prstGeom>
          <a:noFill/>
        </p:spPr>
        <p:txBody>
          <a:bodyPr wrap="square">
            <a:spAutoFit/>
          </a:bodyPr>
          <a:lstStyle/>
          <a:p>
            <a:r>
              <a:rPr b="1" sz="900">
                <a:solidFill>
                  <a:srgbClr val="555555"/>
                </a:solidFill>
              </a:rPr>
              <a:t>Source(s) : </a:t>
            </a:r>
            <a:r>
              <a:rPr sz="900" u="sng">
                <a:solidFill>
                  <a:srgbClr val="1F4E79"/>
                </a:solidFill>
                <a:hlinkClick r:id="rId2"/>
              </a:rPr>
              <a:t>LLMLingua-2, Pan et al., Findings of ACL 2024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00"/>
          <a:lstStyle/>
          <a:p>
            <a:pPr algn="ctr"/>
            <a:r>
              <a:rPr sz="2800" b="1">
                <a:solidFill>
                  <a:srgbClr val="9DC3E6"/>
                </a:solidFill>
              </a:rPr>
              <a:t>Partie 4</a:t>
            </a:r>
          </a:p>
          <a:p>
            <a:r>
              <a:rPr sz="4000" b="1">
                <a:solidFill>
                  <a:srgbClr val="FFFFFF"/>
                </a:solidFill>
              </a:rPr>
              <a:t>Synthèse</a:t>
            </a:r>
          </a:p>
          <a:p>
            <a:pPr>
              <a:spcBef>
                <a:spcPts val="1000"/>
              </a:spcBef>
            </a:pPr>
            <a:r>
              <a:rPr sz="1600">
                <a:solidFill>
                  <a:srgbClr val="D6E4F0"/>
                </a:solidFill>
              </a:rPr>
              <a:t>Bilan, choix de modèle, état actuel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4.1  Bilan technique par technique</a:t>
            </a:r>
          </a:p>
        </p:txBody>
      </p:sp>
      <p:graphicFrame>
        <p:nvGraphicFramePr>
          <p:cNvPr id="3" name="Table 2"/>
          <p:cNvGraphicFramePr>
            <a:graphicFrameLocks noGrp="1"/>
          </p:cNvGraphicFramePr>
          <p:nvPr/>
        </p:nvGraphicFramePr>
        <p:xfrm>
          <a:off x="457200" y="1005840"/>
          <a:ext cx="11274550" cy="3566160"/>
        </p:xfrm>
        <a:graphic>
          <a:graphicData uri="http://schemas.openxmlformats.org/drawingml/2006/table">
            <a:tbl>
              <a:tblPr>
                <a:tableStyleId>{5C22544A-7EE6-4342-B048-85BDC9FD1C3A}</a:tableStyleId>
              </a:tblPr>
              <a:tblGrid>
                <a:gridCol w="5043878"/>
                <a:gridCol w="1186794"/>
                <a:gridCol w="5043878"/>
              </a:tblGrid>
              <a:tr h="274320">
                <a:tc>
                  <a:txBody>
                    <a:bodyPr wrap="square"/>
                    <a:lstStyle/>
                    <a:p>
                      <a:pPr algn="l"/>
                      <a:r>
                        <a:rPr sz="1000" b="1">
                          <a:solidFill>
                            <a:srgbClr val="FFFFFF"/>
                          </a:solidFill>
                        </a:rPr>
                        <a:t>Technique</a:t>
                      </a:r>
                    </a:p>
                  </a:txBody>
                  <a:tcPr anchor="ctr" marL="54864" marR="54864" marT="18288" marB="18288">
                    <a:solidFill>
                      <a:srgbClr val="1F4E79"/>
                    </a:solidFill>
                  </a:tcPr>
                </a:tc>
                <a:tc>
                  <a:txBody>
                    <a:bodyPr wrap="square"/>
                    <a:lstStyle/>
                    <a:p>
                      <a:pPr algn="l"/>
                      <a:r>
                        <a:rPr sz="1000" b="1">
                          <a:solidFill>
                            <a:srgbClr val="FFFFFF"/>
                          </a:solidFill>
                        </a:rPr>
                        <a:t>Partie</a:t>
                      </a:r>
                    </a:p>
                  </a:txBody>
                  <a:tcPr anchor="ctr" marL="54864" marR="54864" marT="18288" marB="18288">
                    <a:solidFill>
                      <a:srgbClr val="1F4E79"/>
                    </a:solidFill>
                  </a:tcPr>
                </a:tc>
                <a:tc>
                  <a:txBody>
                    <a:bodyPr wrap="square"/>
                    <a:lstStyle/>
                    <a:p>
                      <a:pPr algn="l"/>
                      <a:r>
                        <a:rPr sz="1000" b="1">
                          <a:solidFill>
                            <a:srgbClr val="FFFFFF"/>
                          </a:solidFill>
                        </a:rPr>
                        <a:t>Verdict</a:t>
                      </a:r>
                    </a:p>
                  </a:txBody>
                  <a:tcPr anchor="ctr" marL="54864" marR="54864" marT="18288" marB="18288">
                    <a:solidFill>
                      <a:srgbClr val="1F4E79"/>
                    </a:solidFill>
                  </a:tcPr>
                </a:tc>
              </a:tr>
              <a:tr h="274320">
                <a:tc>
                  <a:txBody>
                    <a:bodyPr wrap="square"/>
                    <a:lstStyle/>
                    <a:p>
                      <a:pPr algn="l"/>
                      <a:r>
                        <a:rPr sz="1000" b="0">
                          <a:solidFill>
                            <a:srgbClr val="222222"/>
                          </a:solidFill>
                        </a:rPr>
                        <a:t>Découpage par frontières (vs HDBSCAN)</a:t>
                      </a:r>
                    </a:p>
                  </a:txBody>
                  <a:tcPr anchor="ctr" marL="54864" marR="54864" marT="18288" marB="18288">
                    <a:solidFill>
                      <a:srgbClr val="FFFFFF"/>
                    </a:solidFill>
                  </a:tcPr>
                </a:tc>
                <a:tc>
                  <a:txBody>
                    <a:bodyPr wrap="square"/>
                    <a:lstStyle/>
                    <a:p>
                      <a:pPr algn="l"/>
                      <a:r>
                        <a:rPr sz="1000" b="0">
                          <a:solidFill>
                            <a:srgbClr val="222222"/>
                          </a:solidFill>
                        </a:rPr>
                        <a:t>1.1</a:t>
                      </a:r>
                    </a:p>
                  </a:txBody>
                  <a:tcPr anchor="ctr" marL="54864" marR="54864" marT="18288" marB="18288">
                    <a:solidFill>
                      <a:srgbClr val="FFFFFF"/>
                    </a:solidFill>
                  </a:tcPr>
                </a:tc>
                <a:tc>
                  <a:txBody>
                    <a:bodyPr wrap="square"/>
                    <a:lstStyle/>
                    <a:p>
                      <a:pPr algn="l"/>
                      <a:r>
                        <a:rPr sz="1000" b="1">
                          <a:solidFill>
                            <a:srgbClr val="1E6B2F"/>
                          </a:solidFill>
                        </a:rPr>
                        <a:t>ADOPTÉ, chronologique, -32 à -41 %</a:t>
                      </a:r>
                    </a:p>
                  </a:txBody>
                  <a:tcPr anchor="ctr" marL="54864" marR="54864" marT="18288" marB="18288">
                    <a:solidFill>
                      <a:srgbClr val="FFFFFF"/>
                    </a:solidFill>
                  </a:tcPr>
                </a:tc>
              </a:tr>
              <a:tr h="274320">
                <a:tc>
                  <a:txBody>
                    <a:bodyPr wrap="square"/>
                    <a:lstStyle/>
                    <a:p>
                      <a:pPr algn="l"/>
                      <a:r>
                        <a:rPr sz="1000" b="0">
                          <a:solidFill>
                            <a:srgbClr val="222222"/>
                          </a:solidFill>
                        </a:rPr>
                        <a:t>Extraction JSON + assemblage déterministe</a:t>
                      </a:r>
                    </a:p>
                  </a:txBody>
                  <a:tcPr anchor="ctr" marL="54864" marR="54864" marT="18288" marB="18288">
                    <a:solidFill>
                      <a:srgbClr val="EAF1F8"/>
                    </a:solidFill>
                  </a:tcPr>
                </a:tc>
                <a:tc>
                  <a:txBody>
                    <a:bodyPr wrap="square"/>
                    <a:lstStyle/>
                    <a:p>
                      <a:pPr algn="l"/>
                      <a:r>
                        <a:rPr sz="1000" b="0">
                          <a:solidFill>
                            <a:srgbClr val="222222"/>
                          </a:solidFill>
                        </a:rPr>
                        <a:t>2.A</a:t>
                      </a:r>
                    </a:p>
                  </a:txBody>
                  <a:tcPr anchor="ctr" marL="54864" marR="54864" marT="18288" marB="18288">
                    <a:solidFill>
                      <a:srgbClr val="EAF1F8"/>
                    </a:solidFill>
                  </a:tcPr>
                </a:tc>
                <a:tc>
                  <a:txBody>
                    <a:bodyPr wrap="square"/>
                    <a:lstStyle/>
                    <a:p>
                      <a:pPr algn="l"/>
                      <a:r>
                        <a:rPr sz="1000" b="1">
                          <a:solidFill>
                            <a:srgbClr val="1E6B2F"/>
                          </a:solidFill>
                        </a:rPr>
                        <a:t>ADOPTÉ, fiabilité du format</a:t>
                      </a:r>
                    </a:p>
                  </a:txBody>
                  <a:tcPr anchor="ctr" marL="54864" marR="54864" marT="18288" marB="18288">
                    <a:solidFill>
                      <a:srgbClr val="EAF1F8"/>
                    </a:solidFill>
                  </a:tcPr>
                </a:tc>
              </a:tr>
              <a:tr h="274320">
                <a:tc>
                  <a:txBody>
                    <a:bodyPr wrap="square"/>
                    <a:lstStyle/>
                    <a:p>
                      <a:pPr algn="l"/>
                      <a:r>
                        <a:rPr sz="1000" b="0">
                          <a:solidFill>
                            <a:srgbClr val="222222"/>
                          </a:solidFill>
                        </a:rPr>
                        <a:t>Plan d'action perchunk</a:t>
                      </a:r>
                    </a:p>
                  </a:txBody>
                  <a:tcPr anchor="ctr" marL="54864" marR="54864" marT="18288" marB="18288">
                    <a:solidFill>
                      <a:srgbClr val="FFFFFF"/>
                    </a:solidFill>
                  </a:tcPr>
                </a:tc>
                <a:tc>
                  <a:txBody>
                    <a:bodyPr wrap="square"/>
                    <a:lstStyle/>
                    <a:p>
                      <a:pPr algn="l"/>
                      <a:r>
                        <a:rPr sz="1000" b="0">
                          <a:solidFill>
                            <a:srgbClr val="222222"/>
                          </a:solidFill>
                        </a:rPr>
                        <a:t>3.2</a:t>
                      </a:r>
                    </a:p>
                  </a:txBody>
                  <a:tcPr anchor="ctr" marL="54864" marR="54864" marT="18288" marB="18288">
                    <a:solidFill>
                      <a:srgbClr val="FFFFFF"/>
                    </a:solidFill>
                  </a:tcPr>
                </a:tc>
                <a:tc>
                  <a:txBody>
                    <a:bodyPr wrap="square"/>
                    <a:lstStyle/>
                    <a:p>
                      <a:pPr algn="l"/>
                      <a:r>
                        <a:rPr sz="1000" b="1">
                          <a:solidFill>
                            <a:srgbClr val="1E6B2F"/>
                          </a:solidFill>
                        </a:rPr>
                        <a:t>ADOPTÉ, 17 items vs 4</a:t>
                      </a:r>
                    </a:p>
                  </a:txBody>
                  <a:tcPr anchor="ctr" marL="54864" marR="54864" marT="18288" marB="18288">
                    <a:solidFill>
                      <a:srgbClr val="FFFFFF"/>
                    </a:solidFill>
                  </a:tcPr>
                </a:tc>
              </a:tr>
              <a:tr h="274320">
                <a:tc>
                  <a:txBody>
                    <a:bodyPr wrap="square"/>
                    <a:lstStyle/>
                    <a:p>
                      <a:pPr algn="l"/>
                      <a:r>
                        <a:rPr sz="1000" b="0">
                          <a:solidFill>
                            <a:srgbClr val="222222"/>
                          </a:solidFill>
                        </a:rPr>
                        <a:t>Flash Attention</a:t>
                      </a:r>
                    </a:p>
                  </a:txBody>
                  <a:tcPr anchor="ctr" marL="54864" marR="54864" marT="18288" marB="18288">
                    <a:solidFill>
                      <a:srgbClr val="EAF1F8"/>
                    </a:solidFill>
                  </a:tcPr>
                </a:tc>
                <a:tc>
                  <a:txBody>
                    <a:bodyPr wrap="square"/>
                    <a:lstStyle/>
                    <a:p>
                      <a:pPr algn="l"/>
                      <a:r>
                        <a:rPr sz="1000" b="0">
                          <a:solidFill>
                            <a:srgbClr val="222222"/>
                          </a:solidFill>
                        </a:rPr>
                        <a:t>3.3</a:t>
                      </a:r>
                    </a:p>
                  </a:txBody>
                  <a:tcPr anchor="ctr" marL="54864" marR="54864" marT="18288" marB="18288">
                    <a:solidFill>
                      <a:srgbClr val="EAF1F8"/>
                    </a:solidFill>
                  </a:tcPr>
                </a:tc>
                <a:tc>
                  <a:txBody>
                    <a:bodyPr wrap="square"/>
                    <a:lstStyle/>
                    <a:p>
                      <a:pPr algn="l"/>
                      <a:r>
                        <a:rPr sz="1000" b="1">
                          <a:solidFill>
                            <a:srgbClr val="1E6B2F"/>
                          </a:solidFill>
                        </a:rPr>
                        <a:t>ADOPTÉ, environ -25 %, moins de RAM</a:t>
                      </a:r>
                    </a:p>
                  </a:txBody>
                  <a:tcPr anchor="ctr" marL="54864" marR="54864" marT="18288" marB="18288">
                    <a:solidFill>
                      <a:srgbClr val="EAF1F8"/>
                    </a:solidFill>
                  </a:tcPr>
                </a:tc>
              </a:tr>
              <a:tr h="274320">
                <a:tc>
                  <a:txBody>
                    <a:bodyPr wrap="square"/>
                    <a:lstStyle/>
                    <a:p>
                      <a:pPr algn="l"/>
                      <a:r>
                        <a:rPr sz="1000" b="0">
                          <a:solidFill>
                            <a:srgbClr val="222222"/>
                          </a:solidFill>
                        </a:rPr>
                        <a:t>Cache KV quantifié (q8_0)</a:t>
                      </a:r>
                    </a:p>
                  </a:txBody>
                  <a:tcPr anchor="ctr" marL="54864" marR="54864" marT="18288" marB="18288">
                    <a:solidFill>
                      <a:srgbClr val="FFFFFF"/>
                    </a:solidFill>
                  </a:tcPr>
                </a:tc>
                <a:tc>
                  <a:txBody>
                    <a:bodyPr wrap="square"/>
                    <a:lstStyle/>
                    <a:p>
                      <a:pPr algn="l"/>
                      <a:r>
                        <a:rPr sz="1000" b="0">
                          <a:solidFill>
                            <a:srgbClr val="222222"/>
                          </a:solidFill>
                        </a:rPr>
                        <a:t>3.4</a:t>
                      </a:r>
                    </a:p>
                  </a:txBody>
                  <a:tcPr anchor="ctr" marL="54864" marR="54864" marT="18288" marB="18288">
                    <a:solidFill>
                      <a:srgbClr val="FFFFFF"/>
                    </a:solidFill>
                  </a:tcPr>
                </a:tc>
                <a:tc>
                  <a:txBody>
                    <a:bodyPr wrap="square"/>
                    <a:lstStyle/>
                    <a:p>
                      <a:pPr algn="l"/>
                      <a:r>
                        <a:rPr sz="1000" b="1">
                          <a:solidFill>
                            <a:srgbClr val="1E6B2F"/>
                          </a:solidFill>
                        </a:rPr>
                        <a:t>ADOPTÉ, bande passante CPU</a:t>
                      </a:r>
                    </a:p>
                  </a:txBody>
                  <a:tcPr anchor="ctr" marL="54864" marR="54864" marT="18288" marB="18288">
                    <a:solidFill>
                      <a:srgbClr val="FFFFFF"/>
                    </a:solidFill>
                  </a:tcPr>
                </a:tc>
              </a:tr>
              <a:tr h="274320">
                <a:tc>
                  <a:txBody>
                    <a:bodyPr wrap="square"/>
                    <a:lstStyle/>
                    <a:p>
                      <a:pPr algn="l"/>
                      <a:r>
                        <a:rPr sz="1000" b="0">
                          <a:solidFill>
                            <a:srgbClr val="222222"/>
                          </a:solidFill>
                        </a:rPr>
                        <a:t>Prompt document-first (cache KV)</a:t>
                      </a:r>
                    </a:p>
                  </a:txBody>
                  <a:tcPr anchor="ctr" marL="54864" marR="54864" marT="18288" marB="18288">
                    <a:solidFill>
                      <a:srgbClr val="EAF1F8"/>
                    </a:solidFill>
                  </a:tcPr>
                </a:tc>
                <a:tc>
                  <a:txBody>
                    <a:bodyPr wrap="square"/>
                    <a:lstStyle/>
                    <a:p>
                      <a:pPr algn="l"/>
                      <a:r>
                        <a:rPr sz="1000" b="0">
                          <a:solidFill>
                            <a:srgbClr val="222222"/>
                          </a:solidFill>
                        </a:rPr>
                        <a:t>3.5</a:t>
                      </a:r>
                    </a:p>
                  </a:txBody>
                  <a:tcPr anchor="ctr" marL="54864" marR="54864" marT="18288" marB="18288">
                    <a:solidFill>
                      <a:srgbClr val="EAF1F8"/>
                    </a:solidFill>
                  </a:tcPr>
                </a:tc>
                <a:tc>
                  <a:txBody>
                    <a:bodyPr wrap="square"/>
                    <a:lstStyle/>
                    <a:p>
                      <a:pPr algn="l"/>
                      <a:r>
                        <a:rPr sz="1000" b="1">
                          <a:solidFill>
                            <a:srgbClr val="1E6B2F"/>
                          </a:solidFill>
                        </a:rPr>
                        <a:t>ADOPTÉ, prefill 6 fois moindre au 2e appel</a:t>
                      </a:r>
                    </a:p>
                  </a:txBody>
                  <a:tcPr anchor="ctr" marL="54864" marR="54864" marT="18288" marB="18288">
                    <a:solidFill>
                      <a:srgbClr val="EAF1F8"/>
                    </a:solidFill>
                  </a:tcPr>
                </a:tc>
              </a:tr>
              <a:tr h="274320">
                <a:tc>
                  <a:txBody>
                    <a:bodyPr wrap="square"/>
                    <a:lstStyle/>
                    <a:p>
                      <a:pPr algn="l"/>
                      <a:r>
                        <a:rPr sz="1000" b="0">
                          <a:solidFill>
                            <a:srgbClr val="222222"/>
                          </a:solidFill>
                        </a:rPr>
                        <a:t>Backend ik_llama.cpp</a:t>
                      </a:r>
                    </a:p>
                  </a:txBody>
                  <a:tcPr anchor="ctr" marL="54864" marR="54864" marT="18288" marB="18288">
                    <a:solidFill>
                      <a:srgbClr val="FFFFFF"/>
                    </a:solidFill>
                  </a:tcPr>
                </a:tc>
                <a:tc>
                  <a:txBody>
                    <a:bodyPr wrap="square"/>
                    <a:lstStyle/>
                    <a:p>
                      <a:pPr algn="l"/>
                      <a:r>
                        <a:rPr sz="1000" b="0">
                          <a:solidFill>
                            <a:srgbClr val="222222"/>
                          </a:solidFill>
                        </a:rPr>
                        <a:t>3.6</a:t>
                      </a:r>
                    </a:p>
                  </a:txBody>
                  <a:tcPr anchor="ctr" marL="54864" marR="54864" marT="18288" marB="18288">
                    <a:solidFill>
                      <a:srgbClr val="FFFFFF"/>
                    </a:solidFill>
                  </a:tcPr>
                </a:tc>
                <a:tc>
                  <a:txBody>
                    <a:bodyPr wrap="square"/>
                    <a:lstStyle/>
                    <a:p>
                      <a:pPr algn="l"/>
                      <a:r>
                        <a:rPr sz="1000" b="0">
                          <a:solidFill>
                            <a:srgbClr val="222222"/>
                          </a:solidFill>
                        </a:rPr>
                        <a:t>PROMETTEUR, plus rapide, -1,4 Go</a:t>
                      </a:r>
                    </a:p>
                  </a:txBody>
                  <a:tcPr anchor="ctr" marL="54864" marR="54864" marT="18288" marB="18288">
                    <a:solidFill>
                      <a:srgbClr val="FFFFFF"/>
                    </a:solidFill>
                  </a:tcPr>
                </a:tc>
              </a:tr>
              <a:tr h="274320">
                <a:tc>
                  <a:txBody>
                    <a:bodyPr wrap="square"/>
                    <a:lstStyle/>
                    <a:p>
                      <a:pPr algn="l"/>
                      <a:r>
                        <a:rPr sz="1000" b="0">
                          <a:solidFill>
                            <a:srgbClr val="222222"/>
                          </a:solidFill>
                        </a:rPr>
                        <a:t>Speculative decoding</a:t>
                      </a:r>
                    </a:p>
                  </a:txBody>
                  <a:tcPr anchor="ctr" marL="54864" marR="54864" marT="18288" marB="18288">
                    <a:solidFill>
                      <a:srgbClr val="EAF1F8"/>
                    </a:solidFill>
                  </a:tcPr>
                </a:tc>
                <a:tc>
                  <a:txBody>
                    <a:bodyPr wrap="square"/>
                    <a:lstStyle/>
                    <a:p>
                      <a:pPr algn="l"/>
                      <a:r>
                        <a:rPr sz="1000" b="0">
                          <a:solidFill>
                            <a:srgbClr val="222222"/>
                          </a:solidFill>
                        </a:rPr>
                        <a:t>3.7</a:t>
                      </a:r>
                    </a:p>
                  </a:txBody>
                  <a:tcPr anchor="ctr" marL="54864" marR="54864" marT="18288" marB="18288">
                    <a:solidFill>
                      <a:srgbClr val="EAF1F8"/>
                    </a:solidFill>
                  </a:tcPr>
                </a:tc>
                <a:tc>
                  <a:txBody>
                    <a:bodyPr wrap="square"/>
                    <a:lstStyle/>
                    <a:p>
                      <a:pPr algn="l"/>
                      <a:r>
                        <a:rPr sz="1000" b="1">
                          <a:solidFill>
                            <a:srgbClr val="B02A2A"/>
                          </a:solidFill>
                        </a:rPr>
                        <a:t>REJETÉ sur CPU, ralentit</a:t>
                      </a:r>
                    </a:p>
                  </a:txBody>
                  <a:tcPr anchor="ctr" marL="54864" marR="54864" marT="18288" marB="18288">
                    <a:solidFill>
                      <a:srgbClr val="EAF1F8"/>
                    </a:solidFill>
                  </a:tcPr>
                </a:tc>
              </a:tr>
              <a:tr h="274320">
                <a:tc>
                  <a:txBody>
                    <a:bodyPr wrap="square"/>
                    <a:lstStyle/>
                    <a:p>
                      <a:pPr algn="l"/>
                      <a:r>
                        <a:rPr sz="1000" b="0">
                          <a:solidFill>
                            <a:srgbClr val="222222"/>
                          </a:solidFill>
                        </a:rPr>
                        <a:t>Prompt Lookup Decoding</a:t>
                      </a:r>
                    </a:p>
                  </a:txBody>
                  <a:tcPr anchor="ctr" marL="54864" marR="54864" marT="18288" marB="18288">
                    <a:solidFill>
                      <a:srgbClr val="FFFFFF"/>
                    </a:solidFill>
                  </a:tcPr>
                </a:tc>
                <a:tc>
                  <a:txBody>
                    <a:bodyPr wrap="square"/>
                    <a:lstStyle/>
                    <a:p>
                      <a:pPr algn="l"/>
                      <a:r>
                        <a:rPr sz="1000" b="0">
                          <a:solidFill>
                            <a:srgbClr val="222222"/>
                          </a:solidFill>
                        </a:rPr>
                        <a:t>3.8</a:t>
                      </a:r>
                    </a:p>
                  </a:txBody>
                  <a:tcPr anchor="ctr" marL="54864" marR="54864" marT="18288" marB="18288">
                    <a:solidFill>
                      <a:srgbClr val="FFFFFF"/>
                    </a:solidFill>
                  </a:tcPr>
                </a:tc>
                <a:tc>
                  <a:txBody>
                    <a:bodyPr wrap="square"/>
                    <a:lstStyle/>
                    <a:p>
                      <a:pPr algn="l"/>
                      <a:r>
                        <a:rPr sz="1000" b="1">
                          <a:solidFill>
                            <a:srgbClr val="B02A2A"/>
                          </a:solidFill>
                        </a:rPr>
                        <a:t>REJETÉ, aucun gain</a:t>
                      </a:r>
                    </a:p>
                  </a:txBody>
                  <a:tcPr anchor="ctr" marL="54864" marR="54864" marT="18288" marB="18288">
                    <a:solidFill>
                      <a:srgbClr val="FFFFFF"/>
                    </a:solidFill>
                  </a:tcPr>
                </a:tc>
              </a:tr>
              <a:tr h="274320">
                <a:tc>
                  <a:txBody>
                    <a:bodyPr wrap="square"/>
                    <a:lstStyle/>
                    <a:p>
                      <a:pPr algn="l"/>
                      <a:r>
                        <a:rPr sz="1000" b="0">
                          <a:solidFill>
                            <a:srgbClr val="222222"/>
                          </a:solidFill>
                        </a:rPr>
                        <a:t>Compression LLMLingua</a:t>
                      </a:r>
                    </a:p>
                  </a:txBody>
                  <a:tcPr anchor="ctr" marL="54864" marR="54864" marT="18288" marB="18288">
                    <a:solidFill>
                      <a:srgbClr val="EAF1F8"/>
                    </a:solidFill>
                  </a:tcPr>
                </a:tc>
                <a:tc>
                  <a:txBody>
                    <a:bodyPr wrap="square"/>
                    <a:lstStyle/>
                    <a:p>
                      <a:pPr algn="l"/>
                      <a:r>
                        <a:rPr sz="1000" b="0">
                          <a:solidFill>
                            <a:srgbClr val="222222"/>
                          </a:solidFill>
                        </a:rPr>
                        <a:t>3.8</a:t>
                      </a:r>
                    </a:p>
                  </a:txBody>
                  <a:tcPr anchor="ctr" marL="54864" marR="54864" marT="18288" marB="18288">
                    <a:solidFill>
                      <a:srgbClr val="EAF1F8"/>
                    </a:solidFill>
                  </a:tcPr>
                </a:tc>
                <a:tc>
                  <a:txBody>
                    <a:bodyPr wrap="square"/>
                    <a:lstStyle/>
                    <a:p>
                      <a:pPr algn="l"/>
                      <a:r>
                        <a:rPr sz="1000" b="0">
                          <a:solidFill>
                            <a:srgbClr val="222222"/>
                          </a:solidFill>
                        </a:rPr>
                        <a:t>ÉCARTÉ, risque qualité</a:t>
                      </a:r>
                    </a:p>
                  </a:txBody>
                  <a:tcPr anchor="ctr" marL="54864" marR="54864" marT="18288" marB="18288">
                    <a:solidFill>
                      <a:srgbClr val="EAF1F8"/>
                    </a:solidFill>
                  </a:tcPr>
                </a:tc>
              </a:tr>
              <a:tr h="274320">
                <a:tc>
                  <a:txBody>
                    <a:bodyPr wrap="square"/>
                    <a:lstStyle/>
                    <a:p>
                      <a:pPr algn="l"/>
                      <a:r>
                        <a:rPr sz="1000" b="0">
                          <a:solidFill>
                            <a:srgbClr val="222222"/>
                          </a:solidFill>
                        </a:rPr>
                        <a:t>Parallélisme / OpenVINO</a:t>
                      </a:r>
                    </a:p>
                  </a:txBody>
                  <a:tcPr anchor="ctr" marL="54864" marR="54864" marT="18288" marB="18288">
                    <a:solidFill>
                      <a:srgbClr val="FFFFFF"/>
                    </a:solidFill>
                  </a:tcPr>
                </a:tc>
                <a:tc>
                  <a:txBody>
                    <a:bodyPr wrap="square"/>
                    <a:lstStyle/>
                    <a:p>
                      <a:pPr algn="l"/>
                      <a:r>
                        <a:rPr sz="1000" b="0">
                          <a:solidFill>
                            <a:srgbClr val="222222"/>
                          </a:solidFill>
                        </a:rPr>
                        <a:t>3.8</a:t>
                      </a:r>
                    </a:p>
                  </a:txBody>
                  <a:tcPr anchor="ctr" marL="54864" marR="54864" marT="18288" marB="18288">
                    <a:solidFill>
                      <a:srgbClr val="FFFFFF"/>
                    </a:solidFill>
                  </a:tcPr>
                </a:tc>
                <a:tc>
                  <a:txBody>
                    <a:bodyPr wrap="square"/>
                    <a:lstStyle/>
                    <a:p>
                      <a:pPr algn="l"/>
                      <a:r>
                        <a:rPr sz="1000" b="1">
                          <a:solidFill>
                            <a:srgbClr val="B02A2A"/>
                          </a:solidFill>
                        </a:rPr>
                        <a:t>REJETÉ / NON CONCLU</a:t>
                      </a:r>
                    </a:p>
                  </a:txBody>
                  <a:tcPr anchor="ctr" marL="54864" marR="54864" marT="18288" marB="18288">
                    <a:solidFill>
                      <a:srgbClr val="FFFFFF"/>
                    </a:solidFill>
                  </a:tcPr>
                </a:tc>
              </a:tr>
              <a:tr h="274320">
                <a:tc>
                  <a:txBody>
                    <a:bodyPr wrap="square"/>
                    <a:lstStyle/>
                    <a:p>
                      <a:pPr algn="l"/>
                      <a:r>
                        <a:rPr sz="1000" b="0">
                          <a:solidFill>
                            <a:srgbClr val="222222"/>
                          </a:solidFill>
                        </a:rPr>
                        <a:t>Architecture agentique + routage hybride</a:t>
                      </a:r>
                    </a:p>
                  </a:txBody>
                  <a:tcPr anchor="ctr" marL="54864" marR="54864" marT="18288" marB="18288">
                    <a:solidFill>
                      <a:srgbClr val="EAF1F8"/>
                    </a:solidFill>
                  </a:tcPr>
                </a:tc>
                <a:tc>
                  <a:txBody>
                    <a:bodyPr wrap="square"/>
                    <a:lstStyle/>
                    <a:p>
                      <a:pPr algn="l"/>
                      <a:r>
                        <a:rPr sz="1000" b="0">
                          <a:solidFill>
                            <a:srgbClr val="222222"/>
                          </a:solidFill>
                        </a:rPr>
                        <a:t>2.B</a:t>
                      </a:r>
                    </a:p>
                  </a:txBody>
                  <a:tcPr anchor="ctr" marL="54864" marR="54864" marT="18288" marB="18288">
                    <a:solidFill>
                      <a:srgbClr val="EAF1F8"/>
                    </a:solidFill>
                  </a:tcPr>
                </a:tc>
                <a:tc>
                  <a:txBody>
                    <a:bodyPr wrap="square"/>
                    <a:lstStyle/>
                    <a:p>
                      <a:pPr algn="l"/>
                      <a:r>
                        <a:rPr sz="1000" b="0">
                          <a:solidFill>
                            <a:srgbClr val="222222"/>
                          </a:solidFill>
                        </a:rPr>
                        <a:t>EN COURS, V8/V9</a:t>
                      </a:r>
                    </a:p>
                  </a:txBody>
                  <a:tcPr anchor="ctr" marL="54864" marR="54864" marT="18288" marB="18288">
                    <a:solidFill>
                      <a:srgbClr val="EAF1F8"/>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4.2  Choix de modèle : ce que montrent les benchmarks</a:t>
            </a:r>
          </a:p>
        </p:txBody>
      </p:sp>
      <p:sp>
        <p:nvSpPr>
          <p:cNvPr id="3" name="TextBox 2"/>
          <p:cNvSpPr txBox="1"/>
          <p:nvPr/>
        </p:nvSpPr>
        <p:spPr>
          <a:xfrm>
            <a:off x="457200" y="1188720"/>
            <a:ext cx="11274552" cy="4114800"/>
          </a:xfrm>
          <a:prstGeom prst="rect">
            <a:avLst/>
          </a:prstGeom>
          <a:noFill/>
        </p:spPr>
        <p:txBody>
          <a:bodyPr wrap="square">
            <a:spAutoFit/>
          </a:bodyPr>
          <a:lstStyle/>
          <a:p>
            <a:pPr>
              <a:spcAft>
                <a:spcPts val="600"/>
              </a:spcAft>
            </a:pPr>
            <a:r>
              <a:rPr sz="1500">
                <a:solidFill>
                  <a:srgbClr val="2E75B6"/>
                </a:solidFill>
              </a:rPr>
              <a:t>•  </a:t>
            </a:r>
            <a:r>
              <a:rPr b="1" sz="1500">
                <a:solidFill>
                  <a:srgbClr val="222222"/>
                </a:solidFill>
              </a:rPr>
              <a:t>Qwen2.5 3B : </a:t>
            </a:r>
            <a:r>
              <a:rPr sz="1500">
                <a:solidFill>
                  <a:srgbClr val="222222"/>
                </a:solidFill>
              </a:rPr>
              <a:t>le plus rapide des 3B et ose extraire, mais sur-extrait (fabrique des items quand il n'y en a pas). À encadrer par un juge.</a:t>
            </a:r>
          </a:p>
          <a:p>
            <a:pPr>
              <a:spcAft>
                <a:spcPts val="600"/>
              </a:spcAft>
            </a:pPr>
            <a:r>
              <a:rPr sz="1500">
                <a:solidFill>
                  <a:srgbClr val="2E75B6"/>
                </a:solidFill>
              </a:rPr>
              <a:t>•  </a:t>
            </a:r>
            <a:r>
              <a:rPr b="1" sz="1500">
                <a:solidFill>
                  <a:srgbClr val="222222"/>
                </a:solidFill>
              </a:rPr>
              <a:t>Ministral 3B : </a:t>
            </a:r>
            <a:r>
              <a:rPr sz="1500">
                <a:solidFill>
                  <a:srgbClr val="222222"/>
                </a:solidFill>
              </a:rPr>
              <a:t>modèle français de référence, fiable et sobre (retenue = atout anti-hallucination), plus faible sur le cadrage global.</a:t>
            </a:r>
          </a:p>
          <a:p>
            <a:pPr>
              <a:spcAft>
                <a:spcPts val="600"/>
              </a:spcAft>
            </a:pPr>
            <a:r>
              <a:rPr sz="1500">
                <a:solidFill>
                  <a:srgbClr val="2E75B6"/>
                </a:solidFill>
              </a:rPr>
              <a:t>•  </a:t>
            </a:r>
            <a:r>
              <a:rPr b="1" sz="1500">
                <a:solidFill>
                  <a:srgbClr val="222222"/>
                </a:solidFill>
              </a:rPr>
              <a:t>Qwen 7B : </a:t>
            </a:r>
            <a:r>
              <a:rPr sz="1500">
                <a:solidFill>
                  <a:srgbClr val="222222"/>
                </a:solidFill>
              </a:rPr>
              <a:t>meilleur cadrage et fluidité, mais environ 2 fois plus lent ET perd du détail concret. Réservé au Context Builder.</a:t>
            </a:r>
          </a:p>
          <a:p>
            <a:pPr>
              <a:spcAft>
                <a:spcPts val="600"/>
              </a:spcAft>
            </a:pPr>
            <a:r>
              <a:rPr sz="1500">
                <a:solidFill>
                  <a:srgbClr val="2E75B6"/>
                </a:solidFill>
              </a:rPr>
              <a:t>•  </a:t>
            </a:r>
            <a:r>
              <a:rPr b="1" sz="1500">
                <a:solidFill>
                  <a:srgbClr val="222222"/>
                </a:solidFill>
              </a:rPr>
              <a:t>Modèles &lt; 1,5B (LFM2.5, SmolLM) : </a:t>
            </a:r>
            <a:r>
              <a:rPr sz="1500">
                <a:solidFill>
                  <a:srgbClr val="222222"/>
                </a:solidFill>
              </a:rPr>
              <a:t>très rapides mais comptes rendus trop courts et pauvres.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4.3  État actuel et pistes</a:t>
            </a:r>
          </a:p>
        </p:txBody>
      </p:sp>
      <p:sp>
        <p:nvSpPr>
          <p:cNvPr id="3" name="Rounded Rectangle 2"/>
          <p:cNvSpPr/>
          <p:nvPr/>
        </p:nvSpPr>
        <p:spPr>
          <a:xfrm>
            <a:off x="457200" y="1188720"/>
            <a:ext cx="11274552" cy="1371600"/>
          </a:xfrm>
          <a:prstGeom prst="round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300">
                <a:solidFill>
                  <a:srgbClr val="1E6B2F"/>
                </a:solidFill>
              </a:rPr>
              <a:t>Production  </a:t>
            </a:r>
            <a:r>
              <a:rPr sz="1300">
                <a:solidFill>
                  <a:srgbClr val="222222"/>
                </a:solidFill>
              </a:rPr>
              <a:t>Boundary + extraction JSON + assemblage déterministe, Ministral 3B Q4_K_M, Flash Attention ON, cache KV q8_0, plan perchunk, document-first, séquentiel. Environ 25 min sur 1 h de réunion, moins de 5 Go de RAM, 100 % local.</a:t>
            </a:r>
          </a:p>
        </p:txBody>
      </p:sp>
      <p:sp>
        <p:nvSpPr>
          <p:cNvPr id="4" name="Rounded Rectangle 3"/>
          <p:cNvSpPr/>
          <p:nvPr/>
        </p:nvSpPr>
        <p:spPr>
          <a:xfrm>
            <a:off x="457200" y="2743200"/>
            <a:ext cx="11274552" cy="1280160"/>
          </a:xfrm>
          <a:prstGeom prst="roundRect">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300">
                <a:solidFill>
                  <a:srgbClr val="1F4E79"/>
                </a:solidFill>
              </a:rPr>
              <a:t>En cours  </a:t>
            </a:r>
            <a:r>
              <a:rPr sz="1300">
                <a:solidFill>
                  <a:srgbClr val="222222"/>
                </a:solidFill>
              </a:rPr>
              <a:t>Refonte agentique (V8/V9) pour adapter la structure au type de réunion ; routage hybride (7B cadrage, 3B reste) ; garde-fous de robustesse (timeout, retry, fallback, cap sur le nombre de tableaux).</a:t>
            </a:r>
          </a:p>
        </p:txBody>
      </p:sp>
      <p:sp>
        <p:nvSpPr>
          <p:cNvPr id="5" name="Rounded Rectangle 4"/>
          <p:cNvSpPr/>
          <p:nvPr/>
        </p:nvSpPr>
        <p:spPr>
          <a:xfrm>
            <a:off x="457200" y="4206240"/>
            <a:ext cx="11274552" cy="1371600"/>
          </a:xfrm>
          <a:prstGeom prst="round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b="1" sz="1300">
                <a:solidFill>
                  <a:srgbClr val="8A6D00"/>
                </a:solidFill>
              </a:rPr>
              <a:t>Pistes  </a:t>
            </a:r>
            <a:r>
              <a:rPr sz="1300">
                <a:solidFill>
                  <a:srgbClr val="222222"/>
                </a:solidFill>
              </a:rPr>
              <a:t>Backend ik_llama (RAM) ; amélioration ASR et diarisation en amont (cause racine de plusieurs erreurs de noms) ; si la contrainte 100 % local était levée, variante cloud map-reduce (extraction locale + synthèse cloud) plus rapide et de meilleure qualité.</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a:lstStyle/>
          <a:p>
            <a:pPr algn="ctr"/>
            <a:r>
              <a:rPr sz="2200" b="1">
                <a:solidFill>
                  <a:srgbClr val="FFFFFF"/>
                </a:solidFill>
              </a:rPr>
              <a:t>Sources académiques (vérifiées)</a:t>
            </a:r>
          </a:p>
        </p:txBody>
      </p:sp>
      <p:sp>
        <p:nvSpPr>
          <p:cNvPr id="3" name="TextBox 2"/>
          <p:cNvSpPr txBox="1"/>
          <p:nvPr/>
        </p:nvSpPr>
        <p:spPr>
          <a:xfrm>
            <a:off x="457200" y="1097280"/>
            <a:ext cx="11274552" cy="5303520"/>
          </a:xfrm>
          <a:prstGeom prst="rect">
            <a:avLst/>
          </a:prstGeom>
          <a:noFill/>
        </p:spPr>
        <p:txBody>
          <a:bodyPr wrap="square">
            <a:spAutoFit/>
          </a:bodyPr>
          <a:lstStyle/>
          <a:p>
            <a:pPr>
              <a:spcAft>
                <a:spcPts val="700"/>
              </a:spcAft>
            </a:pPr>
            <a:r>
              <a:rPr sz="1300">
                <a:solidFill>
                  <a:srgbClr val="2E75B6"/>
                </a:solidFill>
              </a:rPr>
              <a:t>•  </a:t>
            </a:r>
            <a:r>
              <a:rPr sz="1300" u="sng">
                <a:solidFill>
                  <a:srgbClr val="1F4E79"/>
                </a:solidFill>
                <a:hlinkClick r:id="rId2"/>
              </a:rPr>
              <a:t>TextTiling, Hearst, Computational Linguistics 1997</a:t>
            </a:r>
          </a:p>
          <a:p>
            <a:pPr>
              <a:spcAft>
                <a:spcPts val="700"/>
              </a:spcAft>
            </a:pPr>
            <a:r>
              <a:rPr sz="1300">
                <a:solidFill>
                  <a:srgbClr val="2E75B6"/>
                </a:solidFill>
              </a:rPr>
              <a:t>•  </a:t>
            </a:r>
            <a:r>
              <a:rPr sz="1300" u="sng">
                <a:solidFill>
                  <a:srgbClr val="1F4E79"/>
                </a:solidFill>
                <a:hlinkClick r:id="rId3"/>
              </a:rPr>
              <a:t>HDBSCAN, Campello, Moulavi, Sander, PAKDD 2013</a:t>
            </a:r>
          </a:p>
          <a:p>
            <a:pPr>
              <a:spcAft>
                <a:spcPts val="700"/>
              </a:spcAft>
            </a:pPr>
            <a:r>
              <a:rPr sz="1300">
                <a:solidFill>
                  <a:srgbClr val="2E75B6"/>
                </a:solidFill>
              </a:rPr>
              <a:t>•  </a:t>
            </a:r>
            <a:r>
              <a:rPr sz="1300" u="sng">
                <a:solidFill>
                  <a:srgbClr val="1F4E79"/>
                </a:solidFill>
                <a:hlinkClick r:id="rId4"/>
              </a:rPr>
              <a:t>Sentence-BERT, Reimers et Gurevych, EMNLP 2019</a:t>
            </a:r>
          </a:p>
          <a:p>
            <a:pPr>
              <a:spcAft>
                <a:spcPts val="700"/>
              </a:spcAft>
            </a:pPr>
            <a:r>
              <a:rPr sz="1300">
                <a:solidFill>
                  <a:srgbClr val="2E75B6"/>
                </a:solidFill>
              </a:rPr>
              <a:t>•  </a:t>
            </a:r>
            <a:r>
              <a:rPr sz="1300" u="sng">
                <a:solidFill>
                  <a:srgbClr val="1F4E79"/>
                </a:solidFill>
                <a:hlinkClick r:id="rId5"/>
              </a:rPr>
              <a:t>MiniLM, Wang et al., NeurIPS 2020</a:t>
            </a:r>
          </a:p>
          <a:p>
            <a:pPr>
              <a:spcAft>
                <a:spcPts val="700"/>
              </a:spcAft>
            </a:pPr>
            <a:r>
              <a:rPr sz="1300">
                <a:solidFill>
                  <a:srgbClr val="2E75B6"/>
                </a:solidFill>
              </a:rPr>
              <a:t>•  </a:t>
            </a:r>
            <a:r>
              <a:rPr sz="1300" u="sng">
                <a:solidFill>
                  <a:srgbClr val="1F4E79"/>
                </a:solidFill>
                <a:hlinkClick r:id="rId6"/>
              </a:rPr>
              <a:t>FlashAttention, Dao et al., NeurIPS 2022</a:t>
            </a:r>
          </a:p>
          <a:p>
            <a:pPr>
              <a:spcAft>
                <a:spcPts val="700"/>
              </a:spcAft>
            </a:pPr>
            <a:r>
              <a:rPr sz="1300">
                <a:solidFill>
                  <a:srgbClr val="2E75B6"/>
                </a:solidFill>
              </a:rPr>
              <a:t>•  </a:t>
            </a:r>
            <a:r>
              <a:rPr sz="1300" u="sng">
                <a:solidFill>
                  <a:srgbClr val="1F4E79"/>
                </a:solidFill>
                <a:hlinkClick r:id="rId7"/>
              </a:rPr>
              <a:t>KVQuant, Hooper et al., NeurIPS 2024</a:t>
            </a:r>
          </a:p>
          <a:p>
            <a:pPr>
              <a:spcAft>
                <a:spcPts val="700"/>
              </a:spcAft>
            </a:pPr>
            <a:r>
              <a:rPr sz="1300">
                <a:solidFill>
                  <a:srgbClr val="2E75B6"/>
                </a:solidFill>
              </a:rPr>
              <a:t>•  </a:t>
            </a:r>
            <a:r>
              <a:rPr sz="1300" u="sng">
                <a:solidFill>
                  <a:srgbClr val="1F4E79"/>
                </a:solidFill>
                <a:hlinkClick r:id="rId8"/>
              </a:rPr>
              <a:t>Prompt Cache, Gim et al., MLSys 2024</a:t>
            </a:r>
          </a:p>
          <a:p>
            <a:pPr>
              <a:spcAft>
                <a:spcPts val="700"/>
              </a:spcAft>
            </a:pPr>
            <a:r>
              <a:rPr sz="1300">
                <a:solidFill>
                  <a:srgbClr val="2E75B6"/>
                </a:solidFill>
              </a:rPr>
              <a:t>•  </a:t>
            </a:r>
            <a:r>
              <a:rPr sz="1300" u="sng">
                <a:solidFill>
                  <a:srgbClr val="1F4E79"/>
                </a:solidFill>
                <a:hlinkClick r:id="rId9"/>
              </a:rPr>
              <a:t>Speculative Decoding, Leviathan et al., ICML 2023</a:t>
            </a:r>
          </a:p>
          <a:p>
            <a:pPr>
              <a:spcAft>
                <a:spcPts val="700"/>
              </a:spcAft>
            </a:pPr>
            <a:r>
              <a:rPr sz="1300">
                <a:solidFill>
                  <a:srgbClr val="2E75B6"/>
                </a:solidFill>
              </a:rPr>
              <a:t>•  </a:t>
            </a:r>
            <a:r>
              <a:rPr sz="1300" u="sng">
                <a:solidFill>
                  <a:srgbClr val="1F4E79"/>
                </a:solidFill>
                <a:hlinkClick r:id="rId10"/>
              </a:rPr>
              <a:t>Prompt Lookup Decoding, GitHub apoorvumang</a:t>
            </a:r>
          </a:p>
          <a:p>
            <a:pPr>
              <a:spcAft>
                <a:spcPts val="700"/>
              </a:spcAft>
            </a:pPr>
            <a:r>
              <a:rPr sz="1300">
                <a:solidFill>
                  <a:srgbClr val="2E75B6"/>
                </a:solidFill>
              </a:rPr>
              <a:t>•  </a:t>
            </a:r>
            <a:r>
              <a:rPr sz="1300" u="sng">
                <a:solidFill>
                  <a:srgbClr val="1F4E79"/>
                </a:solidFill>
                <a:hlinkClick r:id="rId11"/>
              </a:rPr>
              <a:t>LLMLingua-2, Pan et al., Findings of ACL 2024</a:t>
            </a:r>
          </a:p>
          <a:p>
            <a:pPr>
              <a:spcAft>
                <a:spcPts val="700"/>
              </a:spcAft>
            </a:pPr>
            <a:r>
              <a:rPr sz="1300">
                <a:solidFill>
                  <a:srgbClr val="2E75B6"/>
                </a:solidFill>
              </a:rPr>
              <a:t>•  </a:t>
            </a:r>
            <a:r>
              <a:rPr sz="1300" u="sng">
                <a:solidFill>
                  <a:srgbClr val="1F4E79"/>
                </a:solidFill>
                <a:hlinkClick r:id="rId12"/>
              </a:rPr>
              <a:t>ik_llama.cpp, GitHub ikawrakow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
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8A7F6-CA14-432E-9773-982951DD89F5}" v="2" dt="2026-06-04T08:56:36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708" y="2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ssa BELGUITAR" userId="bbc36478-7d99-4ef7-a9a0-af02b1c3ff24" providerId="ADAL" clId="{1DC7AA97-F3CE-46A8-B486-B0B01164DB54}"/>
    <pc:docChg chg="undo custSel delSld modSld">
      <pc:chgData name="Melissa BELGUITAR" userId="bbc36478-7d99-4ef7-a9a0-af02b1c3ff24" providerId="ADAL" clId="{1DC7AA97-F3CE-46A8-B486-B0B01164DB54}" dt="2026-06-04T08:57:36.627" v="300" actId="20577"/>
      <pc:docMkLst>
        <pc:docMk/>
      </pc:docMkLst>
      <pc:sldChg chg="addSp delSp modSp mod">
        <pc:chgData name="Melissa BELGUITAR" userId="bbc36478-7d99-4ef7-a9a0-af02b1c3ff24" providerId="ADAL" clId="{1DC7AA97-F3CE-46A8-B486-B0B01164DB54}" dt="2026-06-04T08:38:37.074" v="23" actId="478"/>
        <pc:sldMkLst>
          <pc:docMk/>
          <pc:sldMk cId="0" sldId="256"/>
        </pc:sldMkLst>
        <pc:spChg chg="add del">
          <ac:chgData name="Melissa BELGUITAR" userId="bbc36478-7d99-4ef7-a9a0-af02b1c3ff24" providerId="ADAL" clId="{1DC7AA97-F3CE-46A8-B486-B0B01164DB54}" dt="2026-06-04T08:38:02.387" v="2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8:13.302" v="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8:31.525" v="22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Melissa BELGUITAR" userId="bbc36478-7d99-4ef7-a9a0-af02b1c3ff24" providerId="ADAL" clId="{1DC7AA97-F3CE-46A8-B486-B0B01164DB54}" dt="2026-06-04T08:38:37.074" v="23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53:18.340" v="260" actId="20577"/>
        <pc:sldMkLst>
          <pc:docMk/>
          <pc:sldMk cId="0" sldId="257"/>
        </pc:sldMkLst>
        <pc:spChg chg="mod">
          <ac:chgData name="Melissa BELGUITAR" userId="bbc36478-7d99-4ef7-a9a0-af02b1c3ff24" providerId="ADAL" clId="{1DC7AA97-F3CE-46A8-B486-B0B01164DB54}" dt="2026-06-04T08:38:45.248" v="2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8:58.605" v="45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9:46.698" v="5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9:34.809" v="5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53:18.340" v="260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39:54.598" v="57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0:39.616" v="77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43:34.148" v="114" actId="20577"/>
        <pc:sldMkLst>
          <pc:docMk/>
          <pc:sldMk cId="0" sldId="258"/>
        </pc:sldMkLst>
        <pc:spChg chg="mod">
          <ac:chgData name="Melissa BELGUITAR" userId="bbc36478-7d99-4ef7-a9a0-af02b1c3ff24" providerId="ADAL" clId="{1DC7AA97-F3CE-46A8-B486-B0B01164DB54}" dt="2026-06-04T08:43:34.148" v="11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1:13.649" v="101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1:59.172" v="104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43:31.229" v="113" actId="20577"/>
        <pc:sldMkLst>
          <pc:docMk/>
          <pc:sldMk cId="0" sldId="259"/>
        </pc:sldMkLst>
        <pc:spChg chg="mod">
          <ac:chgData name="Melissa BELGUITAR" userId="bbc36478-7d99-4ef7-a9a0-af02b1c3ff24" providerId="ADAL" clId="{1DC7AA97-F3CE-46A8-B486-B0B01164DB54}" dt="2026-06-04T08:43:31.229" v="11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2:24.009" v="105" actId="255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56:53.361" v="289" actId="20577"/>
        <pc:sldMkLst>
          <pc:docMk/>
          <pc:sldMk cId="0" sldId="260"/>
        </pc:sldMkLst>
        <pc:spChg chg="mod">
          <ac:chgData name="Melissa BELGUITAR" userId="bbc36478-7d99-4ef7-a9a0-af02b1c3ff24" providerId="ADAL" clId="{1DC7AA97-F3CE-46A8-B486-B0B01164DB54}" dt="2026-06-04T08:43:27.630" v="112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3:09.224" v="10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56:39.491" v="28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3:02.469" v="108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56:53.361" v="289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43:52.553" v="126" actId="20577"/>
        <pc:sldMkLst>
          <pc:docMk/>
          <pc:sldMk cId="0" sldId="261"/>
        </pc:sldMkLst>
        <pc:spChg chg="mod">
          <ac:chgData name="Melissa BELGUITAR" userId="bbc36478-7d99-4ef7-a9a0-af02b1c3ff24" providerId="ADAL" clId="{1DC7AA97-F3CE-46A8-B486-B0B01164DB54}" dt="2026-06-04T08:43:52.553" v="126" actId="20577"/>
          <ac:spMkLst>
            <pc:docMk/>
            <pc:sldMk cId="0" sldId="261"/>
            <ac:spMk id="2" creationId="{00000000-0000-0000-0000-000000000000}"/>
          </ac:spMkLst>
        </pc:spChg>
      </pc:sldChg>
      <pc:sldChg chg="delSp modSp mod">
        <pc:chgData name="Melissa BELGUITAR" userId="bbc36478-7d99-4ef7-a9a0-af02b1c3ff24" providerId="ADAL" clId="{1DC7AA97-F3CE-46A8-B486-B0B01164DB54}" dt="2026-06-04T08:57:36.627" v="300" actId="20577"/>
        <pc:sldMkLst>
          <pc:docMk/>
          <pc:sldMk cId="0" sldId="262"/>
        </pc:sldMkLst>
        <pc:spChg chg="mod">
          <ac:chgData name="Melissa BELGUITAR" userId="bbc36478-7d99-4ef7-a9a0-af02b1c3ff24" providerId="ADAL" clId="{1DC7AA97-F3CE-46A8-B486-B0B01164DB54}" dt="2026-06-04T08:57:36.627" v="300" actId="20577"/>
          <ac:spMkLst>
            <pc:docMk/>
            <pc:sldMk cId="0" sldId="262"/>
            <ac:spMk id="5" creationId="{00000000-0000-0000-0000-000000000000}"/>
          </ac:spMkLst>
        </pc:spChg>
        <pc:spChg chg="del">
          <ac:chgData name="Melissa BELGUITAR" userId="bbc36478-7d99-4ef7-a9a0-af02b1c3ff24" providerId="ADAL" clId="{1DC7AA97-F3CE-46A8-B486-B0B01164DB54}" dt="2026-06-04T08:44:27.658" v="128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Melissa BELGUITAR" userId="bbc36478-7d99-4ef7-a9a0-af02b1c3ff24" providerId="ADAL" clId="{1DC7AA97-F3CE-46A8-B486-B0B01164DB54}" dt="2026-06-04T08:44:24.508" v="127" actId="478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Melissa BELGUITAR" userId="bbc36478-7d99-4ef7-a9a0-af02b1c3ff24" providerId="ADAL" clId="{1DC7AA97-F3CE-46A8-B486-B0B01164DB54}" dt="2026-06-04T08:45:09.467" v="182" actId="20577"/>
        <pc:sldMkLst>
          <pc:docMk/>
          <pc:sldMk cId="0" sldId="263"/>
        </pc:sldMkLst>
        <pc:spChg chg="mod">
          <ac:chgData name="Melissa BELGUITAR" userId="bbc36478-7d99-4ef7-a9a0-af02b1c3ff24" providerId="ADAL" clId="{1DC7AA97-F3CE-46A8-B486-B0B01164DB54}" dt="2026-06-04T08:44:41.462" v="175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5:09.467" v="182" actId="20577"/>
          <ac:spMkLst>
            <pc:docMk/>
            <pc:sldMk cId="0" sldId="263"/>
            <ac:spMk id="11" creationId="{00000000-0000-0000-0000-000000000000}"/>
          </ac:spMkLst>
        </pc:spChg>
      </pc:sldChg>
      <pc:sldChg chg="addSp modSp mod">
        <pc:chgData name="Melissa BELGUITAR" userId="bbc36478-7d99-4ef7-a9a0-af02b1c3ff24" providerId="ADAL" clId="{1DC7AA97-F3CE-46A8-B486-B0B01164DB54}" dt="2026-06-04T08:47:28.414" v="193" actId="20577"/>
        <pc:sldMkLst>
          <pc:docMk/>
          <pc:sldMk cId="0" sldId="264"/>
        </pc:sldMkLst>
        <pc:spChg chg="mod">
          <ac:chgData name="Melissa BELGUITAR" userId="bbc36478-7d99-4ef7-a9a0-af02b1c3ff24" providerId="ADAL" clId="{1DC7AA97-F3CE-46A8-B486-B0B01164DB54}" dt="2026-06-04T08:47:28.414" v="193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elissa BELGUITAR" userId="bbc36478-7d99-4ef7-a9a0-af02b1c3ff24" providerId="ADAL" clId="{1DC7AA97-F3CE-46A8-B486-B0B01164DB54}" dt="2026-06-04T08:47:06.858" v="191" actId="207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Melissa BELGUITAR" userId="bbc36478-7d99-4ef7-a9a0-af02b1c3ff24" providerId="ADAL" clId="{1DC7AA97-F3CE-46A8-B486-B0B01164DB54}" dt="2026-06-04T08:47:09.761" v="192" actId="14100"/>
          <ac:spMkLst>
            <pc:docMk/>
            <pc:sldMk cId="0" sldId="264"/>
            <ac:spMk id="11" creationId="{2A4D99FE-0C81-1FA5-FE91-8ADAE9A2F6DC}"/>
          </ac:spMkLst>
        </pc:spChg>
      </pc:sldChg>
      <pc:sldChg chg="modSp mod">
        <pc:chgData name="Melissa BELGUITAR" userId="bbc36478-7d99-4ef7-a9a0-af02b1c3ff24" providerId="ADAL" clId="{1DC7AA97-F3CE-46A8-B486-B0B01164DB54}" dt="2026-06-04T08:47:31.614" v="194" actId="20577"/>
        <pc:sldMkLst>
          <pc:docMk/>
          <pc:sldMk cId="0" sldId="265"/>
        </pc:sldMkLst>
        <pc:spChg chg="mod">
          <ac:chgData name="Melissa BELGUITAR" userId="bbc36478-7d99-4ef7-a9a0-af02b1c3ff24" providerId="ADAL" clId="{1DC7AA97-F3CE-46A8-B486-B0B01164DB54}" dt="2026-06-04T08:47:31.614" v="194" actId="20577"/>
          <ac:spMkLst>
            <pc:docMk/>
            <pc:sldMk cId="0" sldId="265"/>
            <ac:spMk id="2" creationId="{00000000-0000-0000-0000-000000000000}"/>
          </ac:spMkLst>
        </pc:spChg>
      </pc:sldChg>
      <pc:sldChg chg="del">
        <pc:chgData name="Melissa BELGUITAR" userId="bbc36478-7d99-4ef7-a9a0-af02b1c3ff24" providerId="ADAL" clId="{1DC7AA97-F3CE-46A8-B486-B0B01164DB54}" dt="2026-06-04T08:48:37.929" v="195" actId="2696"/>
        <pc:sldMkLst>
          <pc:docMk/>
          <pc:sldMk cId="0" sldId="266"/>
        </pc:sldMkLst>
      </pc:sldChg>
      <pc:sldChg chg="modSp mod">
        <pc:chgData name="Melissa BELGUITAR" userId="bbc36478-7d99-4ef7-a9a0-af02b1c3ff24" providerId="ADAL" clId="{1DC7AA97-F3CE-46A8-B486-B0B01164DB54}" dt="2026-06-04T08:48:53.762" v="197" actId="20577"/>
        <pc:sldMkLst>
          <pc:docMk/>
          <pc:sldMk cId="0" sldId="267"/>
        </pc:sldMkLst>
        <pc:spChg chg="mod">
          <ac:chgData name="Melissa BELGUITAR" userId="bbc36478-7d99-4ef7-a9a0-af02b1c3ff24" providerId="ADAL" clId="{1DC7AA97-F3CE-46A8-B486-B0B01164DB54}" dt="2026-06-04T08:48:53.762" v="197" actId="20577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0"/>
            <a:ext cx="11155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dirty="0">
                <a:solidFill>
                  <a:srgbClr val="C00000"/>
                </a:solidFill>
              </a:rPr>
              <a:t>Generation de </a:t>
            </a:r>
            <a:r>
              <a:rPr sz="4400" b="1" dirty="0" err="1">
                <a:solidFill>
                  <a:srgbClr val="C00000"/>
                </a:solidFill>
              </a:rPr>
              <a:t>comptes</a:t>
            </a:r>
            <a:r>
              <a:rPr sz="4400" b="1" dirty="0">
                <a:solidFill>
                  <a:srgbClr val="C00000"/>
                </a:solidFill>
              </a:rPr>
              <a:t> </a:t>
            </a:r>
            <a:r>
              <a:rPr sz="4400" b="1" dirty="0" err="1">
                <a:solidFill>
                  <a:srgbClr val="C00000"/>
                </a:solidFill>
              </a:rPr>
              <a:t>rendus</a:t>
            </a:r>
            <a:r>
              <a:rPr sz="4400" b="1" dirty="0">
                <a:solidFill>
                  <a:srgbClr val="C00000"/>
                </a:solidFill>
              </a:rPr>
              <a:t> de reunion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155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 err="1">
                <a:solidFill>
                  <a:srgbClr val="C00000"/>
                </a:solidFill>
              </a:rPr>
              <a:t>Comparaison</a:t>
            </a:r>
            <a:r>
              <a:rPr sz="2400" dirty="0">
                <a:solidFill>
                  <a:srgbClr val="C00000"/>
                </a:solidFill>
              </a:rPr>
              <a:t> de 2 architectures : Mainline (</a:t>
            </a:r>
            <a:r>
              <a:rPr lang="fr-FR" sz="2400" dirty="0">
                <a:solidFill>
                  <a:srgbClr val="C00000"/>
                </a:solidFill>
              </a:rPr>
              <a:t>assemblage python</a:t>
            </a:r>
            <a:r>
              <a:rPr sz="2400" dirty="0">
                <a:solidFill>
                  <a:srgbClr val="C00000"/>
                </a:solidFill>
              </a:rPr>
              <a:t>)  vs  </a:t>
            </a:r>
            <a:r>
              <a:rPr sz="2400" dirty="0" err="1">
                <a:solidFill>
                  <a:srgbClr val="C00000"/>
                </a:solidFill>
              </a:rPr>
              <a:t>Agentique</a:t>
            </a:r>
            <a:r>
              <a:rPr sz="2400" dirty="0">
                <a:solidFill>
                  <a:srgbClr val="C00000"/>
                </a:solidFill>
              </a:rPr>
              <a:t> (</a:t>
            </a:r>
            <a:r>
              <a:rPr sz="2400" dirty="0" err="1">
                <a:solidFill>
                  <a:srgbClr val="C00000"/>
                </a:solidFill>
              </a:rPr>
              <a:t>orchestrateur</a:t>
            </a:r>
            <a:r>
              <a:rPr sz="2400" dirty="0">
                <a:solidFill>
                  <a:srgbClr val="C00000"/>
                </a:solidFill>
              </a:rPr>
              <a:t> + workers)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Architecture 1 </a:t>
            </a:r>
            <a:r>
              <a:rPr lang="fr-FR" sz="2400" b="1" dirty="0">
                <a:solidFill>
                  <a:srgbClr val="2E75B6"/>
                </a:solidFill>
              </a:rPr>
              <a:t>:</a:t>
            </a:r>
            <a:r>
              <a:rPr sz="2400" b="1" dirty="0">
                <a:solidFill>
                  <a:srgbClr val="2E75B6"/>
                </a:solidFill>
              </a:rPr>
              <a:t> Mainline (structure fixe, </a:t>
            </a:r>
            <a:r>
              <a:rPr sz="2400" b="1" dirty="0" err="1">
                <a:solidFill>
                  <a:srgbClr val="2E75B6"/>
                </a:solidFill>
              </a:rPr>
              <a:t>en</a:t>
            </a:r>
            <a:r>
              <a:rPr sz="2400" b="1" dirty="0">
                <a:solidFill>
                  <a:srgbClr val="2E75B6"/>
                </a:solidFill>
              </a:rPr>
              <a:t> dur)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555555"/>
                </a:solidFill>
              </a:rPr>
              <a:t>Total : 25.2 min   |   Appels LLM : 31   |   Chunks : 10 </a:t>
            </a:r>
            <a:r>
              <a:rPr lang="fr-FR" sz="1400" b="1" dirty="0">
                <a:solidFill>
                  <a:srgbClr val="555555"/>
                </a:solidFill>
              </a:rPr>
              <a:t>(pour notre exemple)</a:t>
            </a:r>
            <a:r>
              <a:rPr sz="1400" b="1" dirty="0">
                <a:solidFill>
                  <a:srgbClr val="555555"/>
                </a:solidFill>
              </a:rPr>
              <a:t>  |   </a:t>
            </a:r>
            <a:r>
              <a:rPr sz="1400" b="1" dirty="0" err="1">
                <a:solidFill>
                  <a:srgbClr val="555555"/>
                </a:solidFill>
              </a:rPr>
              <a:t>Ministral</a:t>
            </a:r>
            <a:r>
              <a:rPr sz="1400" b="1" dirty="0">
                <a:solidFill>
                  <a:srgbClr val="555555"/>
                </a:solidFill>
              </a:rPr>
              <a:t> 3B Q4_K_M (llama.cpp, flash attention)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5669280" cy="457200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8604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2E7D32"/>
                </a:solidFill>
              </a:rPr>
              <a:t>PARALLELISABLE pendant </a:t>
            </a:r>
            <a:r>
              <a:rPr sz="1600" b="1" dirty="0" err="1">
                <a:solidFill>
                  <a:srgbClr val="2E7D32"/>
                </a:solidFill>
              </a:rPr>
              <a:t>l'enregistrement</a:t>
            </a:r>
            <a:endParaRPr sz="1600" b="1" dirty="0">
              <a:solidFill>
                <a:srgbClr val="2E7D3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5555"/>
                </a:solidFill>
              </a:rPr>
              <a:t>Duree : 20.6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486400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333333"/>
                </a:solidFill>
              </a:rPr>
              <a:t>Pour CHAQUE chunk (10 chunks), 3 </a:t>
            </a:r>
            <a:r>
              <a:rPr sz="1400" b="0" dirty="0" err="1">
                <a:solidFill>
                  <a:srgbClr val="333333"/>
                </a:solidFill>
              </a:rPr>
              <a:t>appels</a:t>
            </a:r>
            <a:r>
              <a:rPr sz="1400" b="0" dirty="0">
                <a:solidFill>
                  <a:srgbClr val="333333"/>
                </a:solidFill>
              </a:rPr>
              <a:t> LLM </a:t>
            </a:r>
            <a:r>
              <a:rPr sz="1400" b="0" dirty="0" err="1">
                <a:solidFill>
                  <a:srgbClr val="333333"/>
                </a:solidFill>
              </a:rPr>
              <a:t>successifs</a:t>
            </a:r>
            <a:r>
              <a:rPr sz="1400" b="0" dirty="0">
                <a:solidFill>
                  <a:srgbClr val="333333"/>
                </a:solidFill>
              </a:rPr>
              <a:t> :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Agent 1 — RESUME</a:t>
            </a:r>
            <a:r>
              <a:rPr lang="fr-FR" sz="1400" b="0" dirty="0">
                <a:solidFill>
                  <a:srgbClr val="333333"/>
                </a:solidFill>
              </a:rPr>
              <a:t> (prend le plus de temps)</a:t>
            </a:r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   -&gt; </a:t>
            </a:r>
            <a:r>
              <a:rPr sz="1400" b="0" dirty="0" err="1">
                <a:solidFill>
                  <a:srgbClr val="333333"/>
                </a:solidFill>
              </a:rPr>
              <a:t>titre</a:t>
            </a:r>
            <a:r>
              <a:rPr sz="1400" b="0" dirty="0">
                <a:solidFill>
                  <a:srgbClr val="333333"/>
                </a:solidFill>
              </a:rPr>
              <a:t> + </a:t>
            </a:r>
            <a:r>
              <a:rPr sz="1400" b="0" dirty="0" err="1">
                <a:solidFill>
                  <a:srgbClr val="333333"/>
                </a:solidFill>
              </a:rPr>
              <a:t>contexte</a:t>
            </a:r>
            <a:r>
              <a:rPr sz="1400" b="0" dirty="0">
                <a:solidFill>
                  <a:srgbClr val="333333"/>
                </a:solidFill>
              </a:rPr>
              <a:t> + points (JSON)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Agent 2 — EXTRACTION decisions</a:t>
            </a:r>
            <a:r>
              <a:rPr lang="fr-FR" sz="1400" b="0" dirty="0">
                <a:solidFill>
                  <a:srgbClr val="333333"/>
                </a:solidFill>
              </a:rPr>
              <a:t> (quelque secondes grasse au </a:t>
            </a:r>
            <a:r>
              <a:rPr lang="fr-FR" sz="1400" b="0" dirty="0" err="1">
                <a:solidFill>
                  <a:srgbClr val="333333"/>
                </a:solidFill>
              </a:rPr>
              <a:t>kv</a:t>
            </a:r>
            <a:r>
              <a:rPr lang="fr-FR" sz="1400" b="0" dirty="0">
                <a:solidFill>
                  <a:srgbClr val="333333"/>
                </a:solidFill>
              </a:rPr>
              <a:t> cache)</a:t>
            </a:r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   -&gt; decisions[] (JSON)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Agent 3 — PLAN per chunk</a:t>
            </a:r>
          </a:p>
          <a:p>
            <a:r>
              <a:rPr sz="1400" b="0" dirty="0">
                <a:solidFill>
                  <a:srgbClr val="333333"/>
                </a:solidFill>
              </a:rPr>
              <a:t>     -&gt; plan[] (</a:t>
            </a:r>
            <a:r>
              <a:rPr lang="fr-FR" sz="1400" b="0" dirty="0">
                <a:solidFill>
                  <a:srgbClr val="333333"/>
                </a:solidFill>
              </a:rPr>
              <a:t>actions</a:t>
            </a:r>
            <a:r>
              <a:rPr sz="1400" b="0" dirty="0">
                <a:solidFill>
                  <a:srgbClr val="333333"/>
                </a:solidFill>
              </a:rPr>
              <a:t>, JSON)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Soit 3 x 10 = 30 </a:t>
            </a:r>
            <a:r>
              <a:rPr sz="1400" b="0" dirty="0" err="1">
                <a:solidFill>
                  <a:srgbClr val="333333"/>
                </a:solidFill>
              </a:rPr>
              <a:t>appels</a:t>
            </a:r>
            <a:r>
              <a:rPr sz="1400" b="0" dirty="0">
                <a:solidFill>
                  <a:srgbClr val="333333"/>
                </a:solidFill>
              </a:rPr>
              <a:t>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669280" cy="4572000"/>
          </a:xfrm>
          <a:prstGeom prst="roundRect">
            <a:avLst/>
          </a:prstGeom>
          <a:solidFill>
            <a:srgbClr val="FDEEE8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32621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E67E22"/>
                </a:solidFill>
              </a:rPr>
              <a:t>SEQUENTIEL </a:t>
            </a:r>
            <a:r>
              <a:rPr sz="1600" b="1" dirty="0" err="1">
                <a:solidFill>
                  <a:srgbClr val="E67E22"/>
                </a:solidFill>
              </a:rPr>
              <a:t>apres</a:t>
            </a:r>
            <a:r>
              <a:rPr sz="1600" b="1" dirty="0">
                <a:solidFill>
                  <a:srgbClr val="E67E22"/>
                </a:solidFill>
              </a:rPr>
              <a:t> </a:t>
            </a:r>
            <a:r>
              <a:rPr sz="1600" b="1" dirty="0" err="1">
                <a:solidFill>
                  <a:srgbClr val="E67E22"/>
                </a:solidFill>
              </a:rPr>
              <a:t>l'enregistrement</a:t>
            </a:r>
            <a:endParaRPr sz="1600" b="1" dirty="0">
              <a:solidFill>
                <a:srgbClr val="E67E2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5555"/>
                </a:solidFill>
              </a:rPr>
              <a:t>Duree : 4.3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486400" cy="24622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333333"/>
                </a:solidFill>
              </a:rPr>
              <a:t>Une </a:t>
            </a:r>
            <a:r>
              <a:rPr sz="1400" b="0" dirty="0" err="1">
                <a:solidFill>
                  <a:srgbClr val="333333"/>
                </a:solidFill>
              </a:rPr>
              <a:t>fois</a:t>
            </a:r>
            <a:r>
              <a:rPr sz="1400" b="0" dirty="0">
                <a:solidFill>
                  <a:srgbClr val="333333"/>
                </a:solidFill>
              </a:rPr>
              <a:t> la reunion </a:t>
            </a:r>
            <a:r>
              <a:rPr sz="1400" b="0" dirty="0" err="1">
                <a:solidFill>
                  <a:srgbClr val="333333"/>
                </a:solidFill>
              </a:rPr>
              <a:t>finie</a:t>
            </a:r>
            <a:r>
              <a:rPr sz="1400" b="0" dirty="0">
                <a:solidFill>
                  <a:srgbClr val="333333"/>
                </a:solidFill>
              </a:rPr>
              <a:t> :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Agent 4 — </a:t>
            </a:r>
            <a:r>
              <a:rPr lang="fr-FR" sz="1400" b="0" dirty="0">
                <a:solidFill>
                  <a:srgbClr val="333333"/>
                </a:solidFill>
              </a:rPr>
              <a:t>Résumé</a:t>
            </a:r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   INPUT : intro transcript + </a:t>
            </a:r>
            <a:r>
              <a:rPr sz="1400" b="0" dirty="0" err="1">
                <a:solidFill>
                  <a:srgbClr val="333333"/>
                </a:solidFill>
              </a:rPr>
              <a:t>tous</a:t>
            </a:r>
            <a:r>
              <a:rPr sz="1400" b="0" dirty="0">
                <a:solidFill>
                  <a:srgbClr val="333333"/>
                </a:solidFill>
              </a:rPr>
              <a:t> les resumes des sections</a:t>
            </a:r>
          </a:p>
          <a:p>
            <a:r>
              <a:rPr sz="1400" b="0" dirty="0">
                <a:solidFill>
                  <a:srgbClr val="333333"/>
                </a:solidFill>
              </a:rPr>
              <a:t>     OUTPUT : 1 </a:t>
            </a:r>
            <a:r>
              <a:rPr sz="1400" b="0" dirty="0" err="1">
                <a:solidFill>
                  <a:srgbClr val="333333"/>
                </a:solidFill>
              </a:rPr>
              <a:t>paragraphe</a:t>
            </a:r>
            <a:r>
              <a:rPr sz="1400" b="0" dirty="0">
                <a:solidFill>
                  <a:srgbClr val="333333"/>
                </a:solidFill>
              </a:rPr>
              <a:t> de 5 phrases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Assemblage DETERMINISTE (Python </a:t>
            </a:r>
            <a:r>
              <a:rPr sz="1400" b="0" dirty="0" err="1">
                <a:solidFill>
                  <a:srgbClr val="333333"/>
                </a:solidFill>
              </a:rPr>
              <a:t>pur</a:t>
            </a:r>
            <a:r>
              <a:rPr sz="1400" b="0" dirty="0">
                <a:solidFill>
                  <a:srgbClr val="333333"/>
                </a:solidFill>
              </a:rPr>
              <a:t>, 0 LLM)</a:t>
            </a:r>
          </a:p>
          <a:p>
            <a:r>
              <a:rPr sz="1400" b="0" dirty="0">
                <a:solidFill>
                  <a:srgbClr val="333333"/>
                </a:solidFill>
              </a:rPr>
              <a:t>     - </a:t>
            </a:r>
            <a:r>
              <a:rPr sz="1400" b="0" dirty="0" err="1">
                <a:solidFill>
                  <a:srgbClr val="333333"/>
                </a:solidFill>
              </a:rPr>
              <a:t>Construit</a:t>
            </a:r>
            <a:r>
              <a:rPr sz="1400" b="0" dirty="0">
                <a:solidFill>
                  <a:srgbClr val="333333"/>
                </a:solidFill>
              </a:rPr>
              <a:t> le markdown avec structure FIXE :</a:t>
            </a:r>
            <a:r>
              <a:rPr lang="fr-FR" sz="1400" b="0" dirty="0">
                <a:solidFill>
                  <a:srgbClr val="333333"/>
                </a:solidFill>
              </a:rPr>
              <a:t> Résumé</a:t>
            </a:r>
            <a:r>
              <a:rPr sz="1400" b="0" dirty="0">
                <a:solidFill>
                  <a:srgbClr val="333333"/>
                </a:solidFill>
              </a:rPr>
              <a:t>/</a:t>
            </a:r>
          </a:p>
          <a:p>
            <a:r>
              <a:rPr sz="1400" b="0" dirty="0">
                <a:solidFill>
                  <a:srgbClr val="333333"/>
                </a:solidFill>
              </a:rPr>
              <a:t>       </a:t>
            </a:r>
            <a:r>
              <a:rPr sz="1400" b="0" dirty="0" err="1">
                <a:solidFill>
                  <a:srgbClr val="333333"/>
                </a:solidFill>
              </a:rPr>
              <a:t>Sujets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abordes</a:t>
            </a:r>
            <a:r>
              <a:rPr sz="1400" b="0" dirty="0">
                <a:solidFill>
                  <a:srgbClr val="333333"/>
                </a:solidFill>
              </a:rPr>
              <a:t> / Decisions / Plan </a:t>
            </a:r>
            <a:r>
              <a:rPr sz="1400" b="0" dirty="0" err="1">
                <a:solidFill>
                  <a:srgbClr val="333333"/>
                </a:solidFill>
              </a:rPr>
              <a:t>d'attaque</a:t>
            </a:r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   </a:t>
            </a:r>
          </a:p>
          <a:p>
            <a:r>
              <a:rPr sz="1400" b="0" dirty="0">
                <a:solidFill>
                  <a:srgbClr val="333333"/>
                </a:solidFill>
              </a:rPr>
              <a:t>Soit 1 </a:t>
            </a:r>
            <a:r>
              <a:rPr sz="1400" b="0" dirty="0" err="1">
                <a:solidFill>
                  <a:srgbClr val="333333"/>
                </a:solidFill>
              </a:rPr>
              <a:t>appel</a:t>
            </a:r>
            <a:r>
              <a:rPr sz="1400" b="0" dirty="0">
                <a:solidFill>
                  <a:srgbClr val="333333"/>
                </a:solidFill>
              </a:rPr>
              <a:t> LLM + 0 </a:t>
            </a:r>
            <a:r>
              <a:rPr sz="1400" b="0" dirty="0" err="1">
                <a:solidFill>
                  <a:srgbClr val="333333"/>
                </a:solidFill>
              </a:rPr>
              <a:t>ms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d'assemblage</a:t>
            </a:r>
            <a:r>
              <a:rPr sz="1400" b="0" dirty="0">
                <a:solidFill>
                  <a:srgbClr val="333333"/>
                </a:solidFill>
              </a:rPr>
              <a:t>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 1  Agent 1 : RESUME (par chunk)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55555"/>
                </a:solidFill>
              </a:rPr>
              <a:t>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333333"/>
                </a:solidFill>
              </a:rPr>
              <a:t>Pour 1 chunk </a:t>
            </a:r>
            <a:r>
              <a:rPr sz="1400" b="0" dirty="0" err="1">
                <a:solidFill>
                  <a:srgbClr val="333333"/>
                </a:solidFill>
              </a:rPr>
              <a:t>donne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produit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titre</a:t>
            </a:r>
            <a:r>
              <a:rPr sz="1400" b="0" dirty="0">
                <a:solidFill>
                  <a:srgbClr val="333333"/>
                </a:solidFill>
              </a:rPr>
              <a:t> + </a:t>
            </a:r>
            <a:r>
              <a:rPr sz="1400" b="0" dirty="0" err="1">
                <a:solidFill>
                  <a:srgbClr val="333333"/>
                </a:solidFill>
              </a:rPr>
              <a:t>contexte</a:t>
            </a:r>
            <a:r>
              <a:rPr sz="1400" b="0" dirty="0">
                <a:solidFill>
                  <a:srgbClr val="333333"/>
                </a:solidFill>
              </a:rPr>
              <a:t> + points </a:t>
            </a:r>
            <a:r>
              <a:rPr sz="1400" b="0" dirty="0" err="1">
                <a:solidFill>
                  <a:srgbClr val="333333"/>
                </a:solidFill>
              </a:rPr>
              <a:t>factuels</a:t>
            </a:r>
            <a:r>
              <a:rPr sz="1400" b="0" dirty="0">
                <a:solidFill>
                  <a:srgbClr val="333333"/>
                </a:solidFill>
              </a:rPr>
              <a:t>. </a:t>
            </a:r>
            <a:r>
              <a:rPr sz="1400" b="0" dirty="0" err="1">
                <a:solidFill>
                  <a:srgbClr val="333333"/>
                </a:solidFill>
              </a:rPr>
              <a:t>Appele</a:t>
            </a:r>
            <a:r>
              <a:rPr sz="1400" b="0" dirty="0">
                <a:solidFill>
                  <a:srgbClr val="333333"/>
                </a:solidFill>
              </a:rPr>
              <a:t> 10 </a:t>
            </a:r>
            <a:r>
              <a:rPr sz="1400" b="0" dirty="0" err="1">
                <a:solidFill>
                  <a:srgbClr val="333333"/>
                </a:solidFill>
              </a:rPr>
              <a:t>fois</a:t>
            </a:r>
            <a:r>
              <a:rPr sz="1400" b="0" dirty="0">
                <a:solidFill>
                  <a:srgbClr val="333333"/>
                </a:solidFill>
              </a:rPr>
              <a:t> (</a:t>
            </a:r>
            <a:r>
              <a:rPr lang="fr-FR" sz="1400" b="0" dirty="0">
                <a:solidFill>
                  <a:srgbClr val="333333"/>
                </a:solidFill>
              </a:rPr>
              <a:t>pour cet exemple, </a:t>
            </a:r>
            <a:r>
              <a:rPr sz="1400" b="0" dirty="0" err="1">
                <a:solidFill>
                  <a:srgbClr val="333333"/>
                </a:solidFill>
              </a:rPr>
              <a:t>une</a:t>
            </a:r>
            <a:r>
              <a:rPr sz="1400" b="0" dirty="0">
                <a:solidFill>
                  <a:srgbClr val="333333"/>
                </a:solidFill>
              </a:rPr>
              <a:t> par chunk).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5669280" cy="137160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texte du chunk = transcript brut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(segments [HH:MM:SS] Speaker: texte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concatenes pour ce chunk)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OUTPUT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5669280" cy="1371600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"Tour de table sur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l'IA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"Les participants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echangent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"points": [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"Mathieu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presente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son role...",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"Maya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travaille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sur des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projets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...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]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PROMPT utilise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1430000" cy="2708434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333333"/>
                </a:solidFill>
                <a:latin typeface="Consolas"/>
              </a:rPr>
              <a:t>Extrait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texte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---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Resume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cet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extrait de reunion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en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UN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objet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JSON.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REGLES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 court et precis,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sujet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principal de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l'extrait</a:t>
            </a:r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 UNE phrase qui resume le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sujet</a:t>
            </a:r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points : 3 a 5 bullets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factuels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, chacun UNE phrase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courte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autonome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(qui,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  quoi,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pourquoi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). Pas de transition ("ensuite", "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puis</a:t>
            </a:r>
            <a:endParaRPr lang="fr-FR"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Style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sobre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, pas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d'opinion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N'INVENTE RIEN. Ne developpe pas les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sigles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FORMAT JSON STRICT, rien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d'autre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{"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": "string", "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": "string", "points": ["string", ...]}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 1  Agent 2 : EXTRACTION decisions (par chunk)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55555"/>
                </a:solidFill>
              </a:rPr>
              <a:t>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Pour 1 chunk, extrait uniquement les decisions formellement actees. Appele 10 fois.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5669280" cy="137160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texte du chunk = transcript brut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OUTPUT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5669280" cy="1371600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"decisions": []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endParaRPr sz="1100" b="0" dirty="0">
              <a:solidFill>
                <a:srgbClr val="333333"/>
              </a:solidFill>
              <a:latin typeface="Consolas"/>
            </a:endParaRP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ou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liste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si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decisions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explicites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, ex.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["Passage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en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production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valide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PROMPT utilise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14300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333333"/>
                </a:solidFill>
                <a:latin typeface="Consolas"/>
              </a:rPr>
              <a:t>Extrait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texte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---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 err="1">
                <a:solidFill>
                  <a:srgbClr val="333333"/>
                </a:solidFill>
                <a:latin typeface="Consolas"/>
              </a:rPr>
              <a:t>Extrais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les decisions de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cet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extrait de reunion.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Produis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UN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objet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JSON.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REGLE ABSOLUE : EXTRACTION PURE. Ne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liste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QUE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ce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qui est EXPLICITEMENT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dit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DECISION = choix ACTE par le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groupe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("on decide de", "on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valide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", "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c'est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acte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").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Une discussion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ou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exploration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d'options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N'EST PAS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une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decision.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Un engagement a faire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une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action future N'EST PAS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une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decision.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Si rien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n'est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acte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, tableau vide.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EXEMPLES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"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J'ai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developpe un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outil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N8N avec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plusieurs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agents." -&gt; {"decisions": []}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"On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valide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le passage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en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production la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semaine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prochaine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."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   -&gt; {"decisions": ["Passage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en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production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valide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pour la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semaine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prochaine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"]}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FORMAT JSON STRICT, rien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d'autre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{"decisions": ["string", ...]}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 1  Agent 3 : PLAN per chunk (par chunk)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55555"/>
                </a:solidFill>
              </a:rPr>
              <a:t>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Pour 1 chunk, extrait 0 a 2 actions post-reunion typees (engagement ou suggestion). Appele 10 fois.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5669280" cy="137160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texte du chunk = transcript brut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48162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E67E22"/>
                </a:solidFill>
              </a:rPr>
              <a:t>OUTPUT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41714"/>
            <a:ext cx="5486400" cy="2123658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"plan": [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{"action":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Iterer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sur la boucle...",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"Basile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ou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Gerald",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"—",</a:t>
            </a:r>
          </a:p>
          <a:p>
            <a:r>
              <a:rPr lang="fr-FR" sz="1100" b="0" dirty="0">
                <a:solidFill>
                  <a:srgbClr val="333333"/>
                </a:solidFill>
                <a:latin typeface="Consolas"/>
              </a:rPr>
              <a:t>     "type": "engagement"},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{"action":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Evaluer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la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generalisation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"—",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 "—",</a:t>
            </a:r>
            <a:endParaRPr lang="fr-FR" sz="1100" b="0" dirty="0">
              <a:solidFill>
                <a:srgbClr val="333333"/>
              </a:solidFill>
              <a:latin typeface="Consolas"/>
            </a:endParaRPr>
          </a:p>
          <a:p>
            <a:r>
              <a:rPr lang="fr-FR" sz="1100" b="0" dirty="0">
                <a:solidFill>
                  <a:srgbClr val="333333"/>
                </a:solidFill>
                <a:latin typeface="Consolas"/>
              </a:rPr>
              <a:t>     "type": "suggestion"}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]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3520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F4E79"/>
                </a:solidFill>
              </a:rPr>
              <a:t>PROMPT </a:t>
            </a:r>
            <a:r>
              <a:rPr sz="1600" b="1" dirty="0" err="1">
                <a:solidFill>
                  <a:srgbClr val="1F4E79"/>
                </a:solidFill>
              </a:rPr>
              <a:t>utilise</a:t>
            </a:r>
            <a:endParaRPr sz="1600" b="1" dirty="0">
              <a:solidFill>
                <a:srgbClr val="1F4E7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3811012"/>
            <a:ext cx="11430000" cy="3046988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333333"/>
                </a:solidFill>
                <a:latin typeface="Consolas"/>
              </a:rPr>
              <a:t>Extrait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texte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---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 err="1">
                <a:solidFill>
                  <a:srgbClr val="333333"/>
                </a:solidFill>
                <a:latin typeface="Consolas"/>
              </a:rPr>
              <a:t>Extrais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les ACTIONS POST-REUNION concretes de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cet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extrait. JSON.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lang="fr-FR" sz="800" b="0" dirty="0">
                <a:solidFill>
                  <a:srgbClr val="333333"/>
                </a:solidFill>
                <a:latin typeface="Consolas"/>
              </a:rPr>
              <a:t>DEUX TYPES :</a:t>
            </a:r>
          </a:p>
          <a:p>
            <a:r>
              <a:rPr lang="fr-FR" sz="800" b="0" dirty="0">
                <a:solidFill>
                  <a:srgbClr val="333333"/>
                </a:solidFill>
                <a:latin typeface="Consolas"/>
              </a:rPr>
              <a:t>1. ENGAGEMENT : action promise EXPLICITEMENT ("je vais X", "d'ici vendredi").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   -&gt;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et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EXACTEMENT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tels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que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mentionnes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2. SUGGESTION : action de bon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sens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qui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decoule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du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sujet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, sans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avoir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ete</a:t>
            </a:r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   promise. -&gt;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et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toujours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"—".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REGLE ABSOLUE  RIEN SI RIEN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Mieux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vaut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un tableau vide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qu'une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action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forcee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Recap,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smalltalk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, tour de table -&gt; [].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Action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faite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PENDANT la reunion N'EST PAS post-reunion.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- Mention d'un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outil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/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modele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DEJA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existant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N'EST PAS 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une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 action future.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LIMITE STRICTE : 0 a 2 items max.</a:t>
            </a:r>
          </a:p>
          <a:p>
            <a:endParaRPr sz="800" b="0" dirty="0">
              <a:solidFill>
                <a:srgbClr val="333333"/>
              </a:solidFill>
              <a:latin typeface="Consolas"/>
            </a:endParaRP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FORMAT JSON STRICT :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{"plan": [{"action": "...", "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": "...", "</a:t>
            </a:r>
            <a:r>
              <a:rPr sz="8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800" b="0" dirty="0">
                <a:solidFill>
                  <a:srgbClr val="333333"/>
                </a:solidFill>
                <a:latin typeface="Consolas"/>
              </a:rPr>
              <a:t>": "...",</a:t>
            </a:r>
          </a:p>
          <a:p>
            <a:r>
              <a:rPr sz="800" b="0" dirty="0">
                <a:solidFill>
                  <a:srgbClr val="333333"/>
                </a:solidFill>
                <a:latin typeface="Consolas"/>
              </a:rPr>
              <a:t>           "type": "engagement | suggestion"}, ...]}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 1  Agent 4 : </a:t>
            </a:r>
            <a:r>
              <a:rPr lang="fr-FR" sz="2400" b="1" dirty="0">
                <a:solidFill>
                  <a:srgbClr val="2E75B6"/>
                </a:solidFill>
              </a:rPr>
              <a:t>résumé </a:t>
            </a:r>
            <a:r>
              <a:rPr sz="2400" b="1" dirty="0">
                <a:solidFill>
                  <a:srgbClr val="2E75B6"/>
                </a:solidFill>
              </a:rPr>
              <a:t>(1 </a:t>
            </a:r>
            <a:r>
              <a:rPr sz="2400" b="1" dirty="0" err="1">
                <a:solidFill>
                  <a:srgbClr val="2E75B6"/>
                </a:solidFill>
              </a:rPr>
              <a:t>appel</a:t>
            </a:r>
            <a:r>
              <a:rPr sz="2400" b="1" dirty="0">
                <a:solidFill>
                  <a:srgbClr val="2E75B6"/>
                </a:solidFill>
              </a:rPr>
              <a:t> final)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55555"/>
                </a:solidFill>
              </a:rPr>
              <a:t>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Apres la reunion, lit l'intro du transcript + les titres/resumes de toutes les sections, et redige UN paragraphe de 5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5669280" cy="137160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intro = 50 premieres lignes du transcript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contenu = '- {titre}: {resume}'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    pour chaque section (1..10)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OUTPUT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5669280" cy="1371600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texte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libre, 1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paragraphe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de 5 phrases)</a:t>
            </a:r>
          </a:p>
          <a:p>
            <a:endParaRPr sz="1100" b="0" dirty="0">
              <a:solidFill>
                <a:srgbClr val="333333"/>
              </a:solidFill>
              <a:latin typeface="Consolas"/>
            </a:endParaRP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"La reunion vise a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etablir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une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collaboration...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Les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echanges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portent sur des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besoins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techniques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en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NLP et MCP,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ainsi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que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sur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l'exploration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PROMPT utilise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14300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000" b="0" dirty="0" err="1">
                <a:solidFill>
                  <a:srgbClr val="333333"/>
                </a:solidFill>
                <a:latin typeface="Consolas"/>
              </a:rPr>
              <a:t>Voici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le debut du transcript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d'une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reunion + les</a:t>
            </a:r>
          </a:p>
          <a:p>
            <a:r>
              <a:rPr sz="1000" b="0" dirty="0" err="1">
                <a:solidFill>
                  <a:srgbClr val="333333"/>
                </a:solidFill>
                <a:latin typeface="Consolas"/>
              </a:rPr>
              <a:t>titres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/resumes de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chaque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section.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Redige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un Executive Summary de 5 phrases.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OBJECTIF : but global, grands themes, conclusion. PAS de resume section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par section, vision de haut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niveau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REGLES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N'invente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aucune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information.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Ne developpe pas les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sigles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 Pas de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listes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, pas de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titres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 un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paragraphe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--- DEBUT TRANSCRIPT ---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{intro}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--- SECTIONS ---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contenu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E75B6"/>
                </a:solidFill>
              </a:rPr>
              <a:t>Archi 1 — Assemblage </a:t>
            </a:r>
            <a:r>
              <a:rPr sz="2400" b="1" dirty="0" err="1">
                <a:solidFill>
                  <a:srgbClr val="2E75B6"/>
                </a:solidFill>
              </a:rPr>
              <a:t>mecanique</a:t>
            </a:r>
            <a:r>
              <a:rPr sz="2400" b="1" dirty="0">
                <a:solidFill>
                  <a:srgbClr val="2E75B6"/>
                </a:solidFill>
              </a:rPr>
              <a:t> (Python </a:t>
            </a:r>
            <a:r>
              <a:rPr sz="2400" b="1" dirty="0" err="1">
                <a:solidFill>
                  <a:srgbClr val="2E75B6"/>
                </a:solidFill>
              </a:rPr>
              <a:t>pur</a:t>
            </a:r>
            <a:r>
              <a:rPr sz="2400" b="1" dirty="0">
                <a:solidFill>
                  <a:srgbClr val="2E75B6"/>
                </a:solidFill>
              </a:rPr>
              <a:t>, 0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Une fois toutes les sections extraites et l'exec summary redige, le compte rendu est assemble en Python sans aucun appel LLM. Structure FIXE imposee, quelque soit le type de reunion.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</a:rPr>
              <a:t>Structure FIXE du markdown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114300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333333"/>
                </a:solidFill>
                <a:latin typeface="Consolas"/>
              </a:rPr>
              <a:t># Compte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rendu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de reunion</a:t>
            </a:r>
          </a:p>
          <a:p>
            <a:endParaRPr sz="1200" b="0" dirty="0">
              <a:solidFill>
                <a:srgbClr val="333333"/>
              </a:solidFill>
              <a:latin typeface="Consolas"/>
            </a:endParaRP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## 1. Participants               (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si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speaker mapping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connu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## 2. </a:t>
            </a:r>
            <a:r>
              <a:rPr lang="fr-FR" sz="1200" b="0" dirty="0">
                <a:solidFill>
                  <a:srgbClr val="333333"/>
                </a:solidFill>
                <a:latin typeface="Consolas"/>
              </a:rPr>
              <a:t>Résumé 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paragraphe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Agent 4)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## 3.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Sujets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abordes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        (10 sous-sections, 1 par chunk)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### 1. {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chunk 0}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     {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     - {point 1}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     - {point 2}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     ...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### 2. {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chunk 1}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        ...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## 4. Decisions                  (concatenation des decisions[])</a:t>
            </a:r>
          </a:p>
          <a:p>
            <a:r>
              <a:rPr sz="1200" b="0" dirty="0">
                <a:solidFill>
                  <a:srgbClr val="333333"/>
                </a:solidFill>
                <a:latin typeface="Consolas"/>
              </a:rPr>
              <a:t>## 5. Plan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d'attaque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C0504D"/>
                </a:solidFill>
              </a:rPr>
              <a:t>Architecture 2  </a:t>
            </a:r>
            <a:r>
              <a:rPr sz="2400" b="1" dirty="0" err="1">
                <a:solidFill>
                  <a:srgbClr val="C0504D"/>
                </a:solidFill>
              </a:rPr>
              <a:t>Agentique</a:t>
            </a:r>
            <a:r>
              <a:rPr sz="2400" b="1" dirty="0">
                <a:solidFill>
                  <a:srgbClr val="C0504D"/>
                </a:solidFill>
              </a:rPr>
              <a:t> (</a:t>
            </a:r>
            <a:r>
              <a:rPr sz="2400" b="1" dirty="0" err="1">
                <a:solidFill>
                  <a:srgbClr val="C0504D"/>
                </a:solidFill>
              </a:rPr>
              <a:t>orchestrateur</a:t>
            </a:r>
            <a:r>
              <a:rPr sz="2400" b="1" dirty="0">
                <a:solidFill>
                  <a:srgbClr val="C0504D"/>
                </a:solidFill>
              </a:rPr>
              <a:t> + workers)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555555"/>
                </a:solidFill>
              </a:rPr>
              <a:t>Total : 37.8 min   (= mainline 25.2 min  +  </a:t>
            </a:r>
            <a:r>
              <a:rPr sz="1300" b="1" dirty="0" err="1">
                <a:solidFill>
                  <a:srgbClr val="555555"/>
                </a:solidFill>
              </a:rPr>
              <a:t>agentique</a:t>
            </a:r>
            <a:r>
              <a:rPr sz="1300" b="1" dirty="0">
                <a:solidFill>
                  <a:srgbClr val="555555"/>
                </a:solidFill>
              </a:rPr>
              <a:t> 12.6 min)   |   Appels LLM : 36   (extraction 31  +  </a:t>
            </a:r>
            <a:r>
              <a:rPr sz="1300" b="1" dirty="0" err="1">
                <a:solidFill>
                  <a:srgbClr val="555555"/>
                </a:solidFill>
              </a:rPr>
              <a:t>agentique</a:t>
            </a:r>
            <a:r>
              <a:rPr sz="1300" b="1" dirty="0">
                <a:solidFill>
                  <a:srgbClr val="555555"/>
                </a:solidFill>
              </a:rPr>
              <a:t>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5669280" cy="457200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[PARALLELISABLE pendant l'enregistrement]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5555"/>
                </a:solidFill>
              </a:rPr>
              <a:t>Duree : 20.6 min   (IDENTIQUE au mainline — on </a:t>
            </a:r>
            <a:r>
              <a:rPr sz="1200" b="0" dirty="0" err="1">
                <a:solidFill>
                  <a:srgbClr val="555555"/>
                </a:solidFill>
              </a:rPr>
              <a:t>reutilise</a:t>
            </a:r>
            <a:r>
              <a:rPr sz="1200" b="0" dirty="0">
                <a:solidFill>
                  <a:srgbClr val="555555"/>
                </a:solidFill>
              </a:rPr>
              <a:t> les </a:t>
            </a:r>
            <a:r>
              <a:rPr sz="1200" b="0" dirty="0" err="1">
                <a:solidFill>
                  <a:srgbClr val="555555"/>
                </a:solidFill>
              </a:rPr>
              <a:t>sections.json</a:t>
            </a:r>
            <a:r>
              <a:rPr sz="1200" b="0" dirty="0">
                <a:solidFill>
                  <a:srgbClr val="555555"/>
                </a:solidFill>
              </a:rPr>
              <a:t> </a:t>
            </a:r>
            <a:r>
              <a:rPr sz="1200" b="0" dirty="0" err="1">
                <a:solidFill>
                  <a:srgbClr val="555555"/>
                </a:solidFill>
              </a:rPr>
              <a:t>deja</a:t>
            </a:r>
            <a:r>
              <a:rPr sz="1200" b="0" dirty="0">
                <a:solidFill>
                  <a:srgbClr val="555555"/>
                </a:solidFill>
              </a:rPr>
              <a:t> </a:t>
            </a:r>
            <a:r>
              <a:rPr sz="1200" b="0" dirty="0" err="1">
                <a:solidFill>
                  <a:srgbClr val="555555"/>
                </a:solidFill>
              </a:rPr>
              <a:t>generees</a:t>
            </a:r>
            <a:r>
              <a:rPr sz="1200" b="0" dirty="0">
                <a:solidFill>
                  <a:srgbClr val="555555"/>
                </a:solidFill>
              </a:rPr>
              <a:t> pendant la reunion)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486400" cy="3474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333333"/>
                </a:solidFill>
              </a:rPr>
              <a:t>Meme phase </a:t>
            </a:r>
            <a:r>
              <a:rPr sz="1400" b="0" dirty="0" err="1">
                <a:solidFill>
                  <a:srgbClr val="333333"/>
                </a:solidFill>
              </a:rPr>
              <a:t>qu'en</a:t>
            </a:r>
            <a:r>
              <a:rPr sz="1400" b="0" dirty="0">
                <a:solidFill>
                  <a:srgbClr val="333333"/>
                </a:solidFill>
              </a:rPr>
              <a:t> mainline :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  Agent 1 — RESUME       (par chunk)</a:t>
            </a:r>
          </a:p>
          <a:p>
            <a:r>
              <a:rPr sz="1400" b="0" dirty="0">
                <a:solidFill>
                  <a:srgbClr val="333333"/>
                </a:solidFill>
              </a:rPr>
              <a:t>  Agent 2 — EXTRACTION   (par chunk)</a:t>
            </a:r>
          </a:p>
          <a:p>
            <a:r>
              <a:rPr sz="1400" b="0" dirty="0">
                <a:solidFill>
                  <a:srgbClr val="333333"/>
                </a:solidFill>
              </a:rPr>
              <a:t>  Agent 3 — PLAN         (par chunk)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>
                <a:solidFill>
                  <a:srgbClr val="333333"/>
                </a:solidFill>
              </a:rPr>
              <a:t>= 30 </a:t>
            </a:r>
            <a:r>
              <a:rPr sz="1400" b="0" dirty="0" err="1">
                <a:solidFill>
                  <a:srgbClr val="333333"/>
                </a:solidFill>
              </a:rPr>
              <a:t>appels</a:t>
            </a:r>
            <a:r>
              <a:rPr sz="1400" b="0" dirty="0">
                <a:solidFill>
                  <a:srgbClr val="333333"/>
                </a:solidFill>
              </a:rPr>
              <a:t> LLM, </a:t>
            </a:r>
            <a:r>
              <a:rPr sz="1400" b="0" dirty="0" err="1">
                <a:solidFill>
                  <a:srgbClr val="333333"/>
                </a:solidFill>
              </a:rPr>
              <a:t>produit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sections.json</a:t>
            </a:r>
            <a:r>
              <a:rPr sz="1400" b="0" dirty="0">
                <a:solidFill>
                  <a:srgbClr val="333333"/>
                </a:solidFill>
              </a:rPr>
              <a:t> :</a:t>
            </a:r>
          </a:p>
          <a:p>
            <a:r>
              <a:rPr sz="1400" b="0" dirty="0">
                <a:solidFill>
                  <a:srgbClr val="333333"/>
                </a:solidFill>
              </a:rPr>
              <a:t>  [</a:t>
            </a:r>
          </a:p>
          <a:p>
            <a:r>
              <a:rPr sz="1400" b="0" dirty="0">
                <a:solidFill>
                  <a:srgbClr val="333333"/>
                </a:solidFill>
              </a:rPr>
              <a:t>    {</a:t>
            </a:r>
            <a:r>
              <a:rPr sz="1400" b="0" dirty="0" err="1">
                <a:solidFill>
                  <a:srgbClr val="333333"/>
                </a:solidFill>
              </a:rPr>
              <a:t>chunk_id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titre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contexte</a:t>
            </a:r>
            <a:r>
              <a:rPr sz="1400" b="0" dirty="0">
                <a:solidFill>
                  <a:srgbClr val="333333"/>
                </a:solidFill>
              </a:rPr>
              <a:t>, points,</a:t>
            </a:r>
          </a:p>
          <a:p>
            <a:r>
              <a:rPr sz="1400" b="0" dirty="0">
                <a:solidFill>
                  <a:srgbClr val="333333"/>
                </a:solidFill>
              </a:rPr>
              <a:t>     resume, decisions, plan},</a:t>
            </a:r>
          </a:p>
          <a:p>
            <a:r>
              <a:rPr sz="1400" b="0" dirty="0">
                <a:solidFill>
                  <a:srgbClr val="333333"/>
                </a:solidFill>
              </a:rPr>
              <a:t>    ...</a:t>
            </a:r>
          </a:p>
          <a:p>
            <a:r>
              <a:rPr sz="1400" b="0" dirty="0">
                <a:solidFill>
                  <a:srgbClr val="333333"/>
                </a:solidFill>
              </a:rPr>
              <a:t>  ]</a:t>
            </a:r>
          </a:p>
          <a:p>
            <a:endParaRPr sz="1400" b="0" dirty="0">
              <a:solidFill>
                <a:srgbClr val="333333"/>
              </a:solidFill>
            </a:endParaRPr>
          </a:p>
          <a:p>
            <a:r>
              <a:rPr sz="1400" b="0" dirty="0" err="1">
                <a:solidFill>
                  <a:srgbClr val="333333"/>
                </a:solidFill>
              </a:rPr>
              <a:t>C'est</a:t>
            </a:r>
            <a:r>
              <a:rPr sz="1400" b="0" dirty="0">
                <a:solidFill>
                  <a:srgbClr val="333333"/>
                </a:solidFill>
              </a:rPr>
              <a:t> </a:t>
            </a:r>
            <a:r>
              <a:rPr sz="1400" b="0" dirty="0" err="1">
                <a:solidFill>
                  <a:srgbClr val="333333"/>
                </a:solidFill>
              </a:rPr>
              <a:t>l'INPUT</a:t>
            </a:r>
            <a:r>
              <a:rPr sz="1400" b="0" dirty="0">
                <a:solidFill>
                  <a:srgbClr val="333333"/>
                </a:solidFill>
              </a:rPr>
              <a:t> de la phase </a:t>
            </a:r>
            <a:r>
              <a:rPr sz="1400" b="0" dirty="0" err="1">
                <a:solidFill>
                  <a:srgbClr val="333333"/>
                </a:solidFill>
              </a:rPr>
              <a:t>agentique</a:t>
            </a:r>
            <a:r>
              <a:rPr sz="1400" b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669280" cy="4572000"/>
          </a:xfrm>
          <a:prstGeom prst="roundRect">
            <a:avLst/>
          </a:prstGeom>
          <a:solidFill>
            <a:srgbClr val="FDEEE8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[SEQUENTIEL apres l'enregistrement]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Duree : 12.6 min (orchestrateur 8.8 min + workers 3.6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486400" cy="32932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333333"/>
                </a:solidFill>
              </a:rPr>
              <a:t>Agent ORCHESTRATEUR (1 </a:t>
            </a:r>
            <a:r>
              <a:rPr sz="1300" b="0" dirty="0" err="1">
                <a:solidFill>
                  <a:srgbClr val="333333"/>
                </a:solidFill>
              </a:rPr>
              <a:t>appel</a:t>
            </a:r>
            <a:r>
              <a:rPr sz="1300" b="0" dirty="0">
                <a:solidFill>
                  <a:srgbClr val="333333"/>
                </a:solidFill>
              </a:rPr>
              <a:t> LLM)</a:t>
            </a:r>
          </a:p>
          <a:p>
            <a:r>
              <a:rPr sz="1300" b="0" dirty="0">
                <a:solidFill>
                  <a:srgbClr val="333333"/>
                </a:solidFill>
              </a:rPr>
              <a:t>decide :</a:t>
            </a:r>
          </a:p>
          <a:p>
            <a:r>
              <a:rPr sz="1300" b="0" dirty="0">
                <a:solidFill>
                  <a:srgbClr val="333333"/>
                </a:solidFill>
              </a:rPr>
              <a:t>     - type de reunion</a:t>
            </a:r>
          </a:p>
          <a:p>
            <a:r>
              <a:rPr sz="1300" b="0" dirty="0">
                <a:solidFill>
                  <a:srgbClr val="333333"/>
                </a:solidFill>
              </a:rPr>
              <a:t>     - sections du plan (id, title, type)</a:t>
            </a:r>
          </a:p>
          <a:p>
            <a:r>
              <a:rPr sz="1300" b="0" dirty="0">
                <a:solidFill>
                  <a:srgbClr val="333333"/>
                </a:solidFill>
              </a:rPr>
              <a:t>     - </a:t>
            </a:r>
            <a:r>
              <a:rPr sz="1300" b="0" dirty="0" err="1">
                <a:solidFill>
                  <a:srgbClr val="333333"/>
                </a:solidFill>
              </a:rPr>
              <a:t>chunk_ids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assignes</a:t>
            </a:r>
            <a:r>
              <a:rPr sz="1300" b="0" dirty="0">
                <a:solidFill>
                  <a:srgbClr val="333333"/>
                </a:solidFill>
              </a:rPr>
              <a:t> a </a:t>
            </a:r>
            <a:r>
              <a:rPr sz="1300" b="0" dirty="0" err="1">
                <a:solidFill>
                  <a:srgbClr val="333333"/>
                </a:solidFill>
              </a:rPr>
              <a:t>chaque</a:t>
            </a:r>
            <a:r>
              <a:rPr sz="1300" b="0" dirty="0">
                <a:solidFill>
                  <a:srgbClr val="333333"/>
                </a:solidFill>
              </a:rPr>
              <a:t> section</a:t>
            </a:r>
          </a:p>
          <a:p>
            <a:r>
              <a:rPr sz="1300" b="0" dirty="0">
                <a:solidFill>
                  <a:srgbClr val="333333"/>
                </a:solidFill>
              </a:rPr>
              <a:t>     - prompt </a:t>
            </a:r>
            <a:r>
              <a:rPr sz="1300" b="0" dirty="0" err="1">
                <a:solidFill>
                  <a:srgbClr val="333333"/>
                </a:solidFill>
              </a:rPr>
              <a:t>complet</a:t>
            </a:r>
            <a:r>
              <a:rPr sz="1300" b="0" dirty="0">
                <a:solidFill>
                  <a:srgbClr val="333333"/>
                </a:solidFill>
              </a:rPr>
              <a:t> pour </a:t>
            </a:r>
            <a:r>
              <a:rPr sz="1300" b="0" dirty="0" err="1">
                <a:solidFill>
                  <a:srgbClr val="333333"/>
                </a:solidFill>
              </a:rPr>
              <a:t>chaque</a:t>
            </a:r>
            <a:r>
              <a:rPr sz="1300" b="0" dirty="0">
                <a:solidFill>
                  <a:srgbClr val="333333"/>
                </a:solidFill>
              </a:rPr>
              <a:t> worker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Agent WORKER (1 </a:t>
            </a:r>
            <a:r>
              <a:rPr sz="1300" b="0" dirty="0" err="1">
                <a:solidFill>
                  <a:srgbClr val="333333"/>
                </a:solidFill>
              </a:rPr>
              <a:t>appel</a:t>
            </a:r>
            <a:r>
              <a:rPr sz="1300" b="0" dirty="0">
                <a:solidFill>
                  <a:srgbClr val="333333"/>
                </a:solidFill>
              </a:rPr>
              <a:t> LLM par section)</a:t>
            </a:r>
          </a:p>
          <a:p>
            <a:r>
              <a:rPr sz="1300" b="0" dirty="0">
                <a:solidFill>
                  <a:srgbClr val="333333"/>
                </a:solidFill>
              </a:rPr>
              <a:t>  - </a:t>
            </a:r>
            <a:r>
              <a:rPr sz="1300" b="0" dirty="0" err="1">
                <a:solidFill>
                  <a:srgbClr val="333333"/>
                </a:solidFill>
              </a:rPr>
              <a:t>recoit</a:t>
            </a:r>
            <a:r>
              <a:rPr sz="1300" b="0" dirty="0">
                <a:solidFill>
                  <a:srgbClr val="333333"/>
                </a:solidFill>
              </a:rPr>
              <a:t> prompt </a:t>
            </a:r>
            <a:r>
              <a:rPr sz="1300" b="0" dirty="0" err="1">
                <a:solidFill>
                  <a:srgbClr val="333333"/>
                </a:solidFill>
              </a:rPr>
              <a:t>orchestrateur</a:t>
            </a:r>
            <a:r>
              <a:rPr sz="1300" b="0" dirty="0">
                <a:solidFill>
                  <a:srgbClr val="333333"/>
                </a:solidFill>
              </a:rPr>
              <a:t> + chunks </a:t>
            </a:r>
            <a:r>
              <a:rPr sz="1300" b="0" dirty="0" err="1">
                <a:solidFill>
                  <a:srgbClr val="333333"/>
                </a:solidFill>
              </a:rPr>
              <a:t>assignes</a:t>
            </a:r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  - </a:t>
            </a:r>
            <a:r>
              <a:rPr sz="1300" b="0" dirty="0" err="1">
                <a:solidFill>
                  <a:srgbClr val="333333"/>
                </a:solidFill>
              </a:rPr>
              <a:t>redige</a:t>
            </a:r>
            <a:r>
              <a:rPr sz="1300" b="0" dirty="0">
                <a:solidFill>
                  <a:srgbClr val="333333"/>
                </a:solidFill>
              </a:rPr>
              <a:t> le </a:t>
            </a:r>
            <a:r>
              <a:rPr sz="1300" b="0" dirty="0" err="1">
                <a:solidFill>
                  <a:srgbClr val="333333"/>
                </a:solidFill>
              </a:rPr>
              <a:t>contenu</a:t>
            </a:r>
            <a:r>
              <a:rPr sz="1300" b="0" dirty="0">
                <a:solidFill>
                  <a:srgbClr val="333333"/>
                </a:solidFill>
              </a:rPr>
              <a:t> (JSON </a:t>
            </a:r>
            <a:r>
              <a:rPr sz="1300" b="0" dirty="0" err="1">
                <a:solidFill>
                  <a:srgbClr val="333333"/>
                </a:solidFill>
              </a:rPr>
              <a:t>typage</a:t>
            </a:r>
            <a:r>
              <a:rPr sz="1300" b="0" dirty="0">
                <a:solidFill>
                  <a:srgbClr val="333333"/>
                </a:solidFill>
              </a:rPr>
              <a:t> par </a:t>
            </a:r>
            <a:r>
              <a:rPr sz="1300" b="0" dirty="0" err="1">
                <a:solidFill>
                  <a:srgbClr val="333333"/>
                </a:solidFill>
              </a:rPr>
              <a:t>section_type</a:t>
            </a:r>
            <a:r>
              <a:rPr sz="1300" b="0" dirty="0">
                <a:solidFill>
                  <a:srgbClr val="333333"/>
                </a:solidFill>
              </a:rPr>
              <a:t>)</a:t>
            </a:r>
          </a:p>
          <a:p>
            <a:r>
              <a:rPr sz="1300" b="0" dirty="0">
                <a:solidFill>
                  <a:srgbClr val="333333"/>
                </a:solidFill>
              </a:rPr>
              <a:t>  - </a:t>
            </a:r>
            <a:r>
              <a:rPr sz="1300" b="0" dirty="0" err="1">
                <a:solidFill>
                  <a:srgbClr val="333333"/>
                </a:solidFill>
              </a:rPr>
              <a:t>ici</a:t>
            </a:r>
            <a:r>
              <a:rPr sz="1300" b="0" dirty="0">
                <a:solidFill>
                  <a:srgbClr val="333333"/>
                </a:solidFill>
              </a:rPr>
              <a:t> 4 sections = 4 </a:t>
            </a:r>
            <a:r>
              <a:rPr sz="1300" b="0" dirty="0" err="1">
                <a:solidFill>
                  <a:srgbClr val="333333"/>
                </a:solidFill>
              </a:rPr>
              <a:t>appels</a:t>
            </a:r>
            <a:r>
              <a:rPr sz="1300" b="0" dirty="0">
                <a:solidFill>
                  <a:srgbClr val="333333"/>
                </a:solidFill>
              </a:rPr>
              <a:t> SEQUENTIELS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Renderer Python (0 LLM)</a:t>
            </a:r>
          </a:p>
          <a:p>
            <a:r>
              <a:rPr sz="1300" b="0" dirty="0">
                <a:solidFill>
                  <a:srgbClr val="333333"/>
                </a:solidFill>
              </a:rPr>
              <a:t>  -</a:t>
            </a:r>
            <a:r>
              <a:rPr lang="fr-FR" sz="1300" b="0" dirty="0">
                <a:solidFill>
                  <a:srgbClr val="333333"/>
                </a:solidFill>
              </a:rPr>
              <a:t> </a:t>
            </a:r>
            <a:r>
              <a:rPr sz="1300" b="0" dirty="0">
                <a:solidFill>
                  <a:srgbClr val="333333"/>
                </a:solidFill>
              </a:rPr>
              <a:t>markdown </a:t>
            </a:r>
            <a:r>
              <a:rPr sz="1300" b="0" dirty="0" err="1">
                <a:solidFill>
                  <a:srgbClr val="333333"/>
                </a:solidFill>
              </a:rPr>
              <a:t>deterministe</a:t>
            </a:r>
            <a:r>
              <a:rPr sz="1300" b="0" dirty="0">
                <a:solidFill>
                  <a:srgbClr val="333333"/>
                </a:solidFill>
              </a:rPr>
              <a:t> a </a:t>
            </a:r>
            <a:r>
              <a:rPr sz="1300" b="0" dirty="0" err="1">
                <a:solidFill>
                  <a:srgbClr val="333333"/>
                </a:solidFill>
              </a:rPr>
              <a:t>partir</a:t>
            </a:r>
            <a:r>
              <a:rPr sz="1300" b="0" dirty="0">
                <a:solidFill>
                  <a:srgbClr val="333333"/>
                </a:solidFill>
              </a:rPr>
              <a:t> des JSON workers</a:t>
            </a:r>
          </a:p>
          <a:p>
            <a:endParaRPr sz="1300" b="0" dirty="0">
              <a:solidFill>
                <a:srgbClr val="333333"/>
              </a:solidFill>
            </a:endParaRPr>
          </a:p>
          <a:p>
            <a:r>
              <a:rPr sz="1300" b="0" dirty="0">
                <a:solidFill>
                  <a:srgbClr val="333333"/>
                </a:solidFill>
              </a:rPr>
              <a:t>Total : 1 </a:t>
            </a:r>
            <a:r>
              <a:rPr sz="1300" b="0" dirty="0" err="1">
                <a:solidFill>
                  <a:srgbClr val="333333"/>
                </a:solidFill>
              </a:rPr>
              <a:t>orch</a:t>
            </a:r>
            <a:r>
              <a:rPr sz="1300" b="0" dirty="0">
                <a:solidFill>
                  <a:srgbClr val="333333"/>
                </a:solidFill>
              </a:rPr>
              <a:t> + 4 workers = 5 </a:t>
            </a:r>
            <a:r>
              <a:rPr sz="1300" b="0" dirty="0" err="1">
                <a:solidFill>
                  <a:srgbClr val="333333"/>
                </a:solidFill>
              </a:rPr>
              <a:t>appels</a:t>
            </a:r>
            <a:r>
              <a:rPr sz="1300" b="0" dirty="0">
                <a:solidFill>
                  <a:srgbClr val="333333"/>
                </a:solidFill>
              </a:rPr>
              <a:t> LLM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C0504D"/>
                </a:solidFill>
              </a:rPr>
              <a:t>Archi 2 Agent ORCHESTRATEUR (1 </a:t>
            </a:r>
            <a:r>
              <a:rPr sz="2400" b="1" dirty="0" err="1">
                <a:solidFill>
                  <a:srgbClr val="C0504D"/>
                </a:solidFill>
              </a:rPr>
              <a:t>appel</a:t>
            </a:r>
            <a:r>
              <a:rPr sz="2400" b="1" dirty="0">
                <a:solidFill>
                  <a:srgbClr val="C0504D"/>
                </a:solidFill>
              </a:rPr>
              <a:t>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555"/>
                </a:solidFill>
              </a:rPr>
              <a:t>Role : decide la structure du compte rendu et redige les prompts de chaque worker, en UNE SEULE generation LLM.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5669280" cy="173736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Pour chaque chunk (10) :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chunk_id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titre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resume COMPLET (non tronque)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a_decisions (bool)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nb_engagements (int)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- nb_suggestions (int)</a:t>
            </a:r>
          </a:p>
          <a:p>
            <a:endParaRPr sz="1100" b="0">
              <a:solidFill>
                <a:srgbClr val="333333"/>
              </a:solidFill>
              <a:latin typeface="Consolas"/>
            </a:endParaRP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+ meeting_meta (sujet, participants, duree si dispo)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+ chunk_ids_valides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OUTPUT (JSON contraint)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5669280" cy="1737360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onsolas"/>
              </a:rPr>
              <a:t>{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"meeting_type": "prise de contact ...",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"raisonnement": "Ce type combine...",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"plan": [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{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"section_id": "tour_de_table",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"section_title": "Presentation...",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"section_type": "list_bullets",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"chunk_ids": [0],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  "prompt_worker": "Role : ..."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},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  ... (autres sections)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  ]</a:t>
            </a:r>
          </a:p>
          <a:p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03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PROMPT (extrait)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5357707" cy="2031325"/>
          </a:xfrm>
          <a:prstGeom prst="rect">
            <a:avLst/>
          </a:prstGeom>
          <a:solidFill>
            <a:schemeClr val="bg2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900" b="0" dirty="0">
                <a:solidFill>
                  <a:srgbClr val="333333"/>
                </a:solidFill>
                <a:latin typeface="Consolas"/>
              </a:rPr>
              <a:t>Tu es un ORCHESTRATEUR de redaction de compte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rendu</a:t>
            </a:r>
            <a:endParaRPr sz="900" b="0" dirty="0">
              <a:solidFill>
                <a:srgbClr val="333333"/>
              </a:solidFill>
              <a:latin typeface="Consolas"/>
            </a:endParaRP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de reunion. A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partir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des resumes COMPLETS de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chaque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passage, CONCOIS le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plan ET REDIGE le prompt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complet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chaque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worker.</a:t>
            </a:r>
          </a:p>
          <a:p>
            <a:endParaRPr sz="900" b="0" dirty="0">
              <a:solidFill>
                <a:srgbClr val="333333"/>
              </a:solidFill>
              <a:latin typeface="Consolas"/>
            </a:endParaRP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Tu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produis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: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1. Le TYPE de reunion (revue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projet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, brainstorm, daily,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prise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 contact...)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2. Le PLAN (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liste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 sections). Pour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chaque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section :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-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section_id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(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snake_case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-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section_title</a:t>
            </a:r>
            <a:endParaRPr sz="900" b="0" dirty="0">
              <a:solidFill>
                <a:srgbClr val="333333"/>
              </a:solidFill>
              <a:latin typeface="Consolas"/>
            </a:endParaRP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-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section_type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(narrative /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list_bullets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/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table_decisions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/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table_actions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-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chunk_ids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(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quels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passages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sont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utiles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-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prompt_worker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: LE PROMPT COMPLET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que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le worker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recevra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(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regles</a:t>
            </a:r>
            <a:endParaRPr sz="900" b="0" dirty="0">
              <a:solidFill>
                <a:srgbClr val="333333"/>
              </a:solidFill>
              <a:latin typeface="Consolas"/>
            </a:endParaRP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     anti-hallucination, role, ton, focus, format)</a:t>
            </a:r>
          </a:p>
          <a:p>
            <a:r>
              <a:rPr sz="900" b="0" dirty="0">
                <a:solidFill>
                  <a:srgbClr val="333333"/>
                </a:solidFill>
                <a:latin typeface="Consolas"/>
              </a:rPr>
              <a:t>3.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raisonnement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: 2-4 phrases sur le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pourquoi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du plan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4D99FE-0C81-1FA5-FE91-8ADAE9A2F6DC}"/>
              </a:ext>
            </a:extLst>
          </p:cNvPr>
          <p:cNvSpPr txBox="1"/>
          <p:nvPr/>
        </p:nvSpPr>
        <p:spPr>
          <a:xfrm>
            <a:off x="5938520" y="4160520"/>
            <a:ext cx="5669280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endParaRPr lang="fr-FR" sz="900" b="0" dirty="0">
              <a:solidFill>
                <a:srgbClr val="333333"/>
              </a:solidFill>
              <a:latin typeface="Consolas"/>
            </a:endParaRP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REGLES :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 Au moins 3 sections, autant que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necessaire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 N'invente pas une section "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Decisions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" s'il n'y a pas eu de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decisions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chunk_ids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doivent exister dans le sommaire.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prompt_worker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doit inclure les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regles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anti-hallucination,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francais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, pas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  de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developpement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de sigles,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fallback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si pas de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matiere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.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 NE PAS inclure les passages dans 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prompt_worker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(ajoutes ensuite par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  Python).</a:t>
            </a:r>
          </a:p>
          <a:p>
            <a:endParaRPr lang="fr-FR" sz="900" b="0" dirty="0">
              <a:solidFill>
                <a:srgbClr val="333333"/>
              </a:solidFill>
              <a:latin typeface="Consolas"/>
            </a:endParaRP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--- META REUNION ---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meeting_meta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--- SOMMAIRE DES PASSAGES (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resume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 COMPLET) ---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sections_overview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--- CHUNK_IDS VALIDES ---</a:t>
            </a:r>
          </a:p>
          <a:p>
            <a:r>
              <a:rPr lang="fr-FR" sz="9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lang="fr-FR" sz="900" b="0" dirty="0" err="1">
                <a:solidFill>
                  <a:srgbClr val="333333"/>
                </a:solidFill>
                <a:latin typeface="Consolas"/>
              </a:rPr>
              <a:t>chunk_ids_valides</a:t>
            </a:r>
            <a:r>
              <a:rPr lang="fr-FR" sz="900" b="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C0504D"/>
                </a:solidFill>
              </a:rPr>
              <a:t>Archi 2  Agent WORKER (1 </a:t>
            </a:r>
            <a:r>
              <a:rPr sz="2400" b="1" dirty="0" err="1">
                <a:solidFill>
                  <a:srgbClr val="C0504D"/>
                </a:solidFill>
              </a:rPr>
              <a:t>appel</a:t>
            </a:r>
            <a:r>
              <a:rPr sz="2400" b="1" dirty="0">
                <a:solidFill>
                  <a:srgbClr val="C0504D"/>
                </a:solidFill>
              </a:rPr>
              <a:t> LLM par section)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5555"/>
                </a:solidFill>
              </a:rPr>
              <a:t>Role : redige le contenu de UNE section en utilisant les chunks assignes par l'orchestrateur. Sequentiel : section 1 puis 2 puis 3 puis 4 (pas de parallelisation).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5669280" cy="1691640"/>
          </a:xfrm>
          <a:prstGeom prst="rect">
            <a:avLst/>
          </a:prstGeom>
          <a:solidFill>
            <a:srgbClr val="F5FA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333333"/>
                </a:solidFill>
                <a:latin typeface="Consolas"/>
              </a:rPr>
              <a:t>prompt_worker_final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=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prompt_worker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redige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par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l'orchestrateur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+ "--- PASSAGES PERTINENTS ---"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+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format_chunks_for_worker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chunks_assignes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)</a:t>
            </a:r>
          </a:p>
          <a:p>
            <a:endParaRPr sz="1100" b="0" dirty="0">
              <a:solidFill>
                <a:srgbClr val="333333"/>
              </a:solidFill>
              <a:latin typeface="Consolas"/>
            </a:endParaRP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Chunks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formates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: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+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+ points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+ decisions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explicites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+ plan items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typees</a:t>
            </a:r>
            <a:endParaRPr sz="1100" b="0" dirty="0">
              <a:solidFill>
                <a:srgbClr val="333333"/>
              </a:solidFill>
              <a:latin typeface="Consolas"/>
            </a:endParaRP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(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seulement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les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chunk_ids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designes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par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orch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OUTPUT (selon section_type)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669280" cy="1691640"/>
          </a:xfrm>
          <a:prstGeom prst="rect">
            <a:avLst/>
          </a:prstGeom>
          <a:solidFill>
            <a:srgbClr val="FDF7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333333"/>
                </a:solidFill>
                <a:latin typeface="Consolas"/>
              </a:rPr>
              <a:t>narrative      -&gt; {"content": "..."}</a:t>
            </a:r>
          </a:p>
          <a:p>
            <a:r>
              <a:rPr sz="1100" b="0" dirty="0" err="1">
                <a:solidFill>
                  <a:srgbClr val="333333"/>
                </a:solidFill>
                <a:latin typeface="Consolas"/>
              </a:rPr>
              <a:t>list_bullets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  -&gt; {"items": ["...", ...]}</a:t>
            </a:r>
          </a:p>
          <a:p>
            <a:r>
              <a:rPr sz="1100" b="0" dirty="0" err="1">
                <a:solidFill>
                  <a:srgbClr val="333333"/>
                </a:solidFill>
                <a:latin typeface="Consolas"/>
              </a:rPr>
              <a:t>table_decisions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-&gt; {"rows": [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 {"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sujet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":..,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  "decision":..}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]}</a:t>
            </a:r>
          </a:p>
          <a:p>
            <a:r>
              <a:rPr sz="1100" b="0" dirty="0" err="1">
                <a:solidFill>
                  <a:srgbClr val="333333"/>
                </a:solidFill>
                <a:latin typeface="Consolas"/>
              </a:rPr>
              <a:t>table_actions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 -&gt; {"rows": [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 {"action":..,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responsable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":..,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  "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":..}</a:t>
            </a:r>
          </a:p>
          <a:p>
            <a:r>
              <a:rPr sz="1100" b="0" dirty="0">
                <a:solidFill>
                  <a:srgbClr val="333333"/>
                </a:solidFill>
                <a:latin typeface="Consolas"/>
              </a:rPr>
              <a:t>                   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PROMPT (squelette envoye au worker)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11430000" cy="2606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333333"/>
                </a:solidFill>
                <a:latin typeface="Consolas"/>
              </a:rPr>
              <a:t>[prompt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redige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par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l'orchestrateur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, libre et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adapte</a:t>
            </a:r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a la section]</a:t>
            </a:r>
          </a:p>
          <a:p>
            <a:endParaRPr sz="1000" b="0" dirty="0">
              <a:solidFill>
                <a:srgbClr val="333333"/>
              </a:solidFill>
              <a:latin typeface="Consolas"/>
            </a:endParaRP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--- PASSAGES PERTINENTS (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assignes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par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l'orchestrateur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) ---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=== PASSAGE 0 ===</a:t>
            </a:r>
          </a:p>
          <a:p>
            <a:r>
              <a:rPr sz="1000" b="0" dirty="0" err="1">
                <a:solidFill>
                  <a:srgbClr val="333333"/>
                </a:solidFill>
                <a:latin typeface="Consolas"/>
              </a:rPr>
              <a:t>Titre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 ...</a:t>
            </a:r>
          </a:p>
          <a:p>
            <a:r>
              <a:rPr sz="1000" b="0" dirty="0" err="1">
                <a:solidFill>
                  <a:srgbClr val="333333"/>
                </a:solidFill>
                <a:latin typeface="Consolas"/>
              </a:rPr>
              <a:t>Contexte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 ...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Points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  - ...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Decisions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explicites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  - ...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Plan (engagements / suggestions) :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  - [engagement] ... | resp: ... | </a:t>
            </a:r>
            <a:r>
              <a:rPr sz="1000" b="0" dirty="0" err="1">
                <a:solidFill>
                  <a:srgbClr val="333333"/>
                </a:solidFill>
                <a:latin typeface="Consolas"/>
              </a:rPr>
              <a:t>echeance</a:t>
            </a:r>
            <a:r>
              <a:rPr sz="1000" b="0" dirty="0">
                <a:solidFill>
                  <a:srgbClr val="333333"/>
                </a:solidFill>
                <a:latin typeface="Consolas"/>
              </a:rPr>
              <a:t>: ...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=== PASSAGE 2 ===</a:t>
            </a:r>
          </a:p>
          <a:p>
            <a:r>
              <a:rPr sz="1000" b="0" dirty="0">
                <a:solidFill>
                  <a:srgbClr val="333333"/>
                </a:solidFill>
                <a:latin typeface="Consolas"/>
              </a:rPr>
              <a:t>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Comparatif final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Architecture 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Architecture 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</a:rPr>
                        <a:t>Mainline (en dur)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</a:rPr>
                        <a:t>Agentique</a:t>
                      </a:r>
                    </a:p>
                  </a:txBody>
                  <a:tcPr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Structure du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FIXE (5 sections imposees)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ADAPTEE au type de reunion par l'orch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Appels LLM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36 (31 extraction + 1 orch + 4 workers)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parallelisable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33333"/>
                          </a:solidFill>
                        </a:rPr>
                        <a:t>20.6 min (extraction des 10 chunks pendant la reunion)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20.6 min (IDENTIQUE — on reutilise sections.json)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sequentielle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33333"/>
                          </a:solidFill>
                        </a:rPr>
                        <a:t>4.3 min (exec summary 4.3 min + assemblage 0 </a:t>
                      </a:r>
                      <a:r>
                        <a:rPr sz="1200" dirty="0" err="1">
                          <a:solidFill>
                            <a:srgbClr val="333333"/>
                          </a:solidFill>
                        </a:rPr>
                        <a:t>ms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16.9 min (exec summary 4.3 min + orch 8.8 min + workers 3.6 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25.2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33333"/>
                          </a:solidFill>
                        </a:rPr>
                        <a:t>37.8 min (= mainline + </a:t>
                      </a:r>
                      <a:r>
                        <a:rPr sz="1200" dirty="0" err="1">
                          <a:solidFill>
                            <a:srgbClr val="333333"/>
                          </a:solidFill>
                        </a:rPr>
                        <a:t>agentique</a:t>
                      </a:r>
                      <a:r>
                        <a:rPr sz="1200" dirty="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Cout post-reunion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33333"/>
                          </a:solidFill>
                        </a:rPr>
                        <a:t>4.3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33333"/>
                          </a:solidFill>
                        </a:rPr>
                        <a:t>16.7 min  (~ x4)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172200"/>
            <a:ext cx="1143000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55"/>
                </a:solidFill>
              </a:rPr>
              <a:t>Note : le total Architecture 2 </a:t>
            </a:r>
            <a:r>
              <a:rPr sz="1100" b="0" dirty="0" err="1">
                <a:solidFill>
                  <a:srgbClr val="555555"/>
                </a:solidFill>
              </a:rPr>
              <a:t>additionne</a:t>
            </a:r>
            <a:r>
              <a:rPr sz="1100" b="0" dirty="0">
                <a:solidFill>
                  <a:srgbClr val="555555"/>
                </a:solidFill>
              </a:rPr>
              <a:t> le temps du pipeline mainline (qui a </a:t>
            </a:r>
            <a:r>
              <a:rPr sz="1100" b="0" dirty="0" err="1">
                <a:solidFill>
                  <a:srgbClr val="555555"/>
                </a:solidFill>
              </a:rPr>
              <a:t>deja</a:t>
            </a:r>
            <a:r>
              <a:rPr sz="1100" b="0" dirty="0">
                <a:solidFill>
                  <a:srgbClr val="555555"/>
                </a:solidFill>
              </a:rPr>
              <a:t> </a:t>
            </a:r>
            <a:r>
              <a:rPr sz="1100" b="0" dirty="0" err="1">
                <a:solidFill>
                  <a:srgbClr val="555555"/>
                </a:solidFill>
              </a:rPr>
              <a:t>produit</a:t>
            </a:r>
            <a:r>
              <a:rPr sz="1100" b="0" dirty="0">
                <a:solidFill>
                  <a:srgbClr val="555555"/>
                </a:solidFill>
              </a:rPr>
              <a:t> </a:t>
            </a:r>
            <a:r>
              <a:rPr sz="1100" b="0" dirty="0" err="1">
                <a:solidFill>
                  <a:srgbClr val="555555"/>
                </a:solidFill>
              </a:rPr>
              <a:t>sections.json</a:t>
            </a:r>
            <a:r>
              <a:rPr sz="1100" b="0" dirty="0">
                <a:solidFill>
                  <a:srgbClr val="555555"/>
                </a:solidFill>
              </a:rPr>
              <a:t>) et le temps du benchmark </a:t>
            </a:r>
            <a:r>
              <a:rPr sz="1100" b="0" dirty="0" err="1">
                <a:solidFill>
                  <a:srgbClr val="555555"/>
                </a:solidFill>
              </a:rPr>
              <a:t>orchestrateur</a:t>
            </a:r>
            <a:r>
              <a:rPr sz="1100" b="0" dirty="0">
                <a:solidFill>
                  <a:srgbClr val="555555"/>
                </a:solidFill>
              </a:rPr>
              <a:t> </a:t>
            </a:r>
            <a:r>
              <a:rPr lang="fr-FR" sz="1100" b="0" dirty="0">
                <a:solidFill>
                  <a:srgbClr val="555555"/>
                </a:solidFill>
              </a:rPr>
              <a:t> </a:t>
            </a:r>
            <a:r>
              <a:rPr sz="1100" b="0" dirty="0">
                <a:solidFill>
                  <a:srgbClr val="555555"/>
                </a:solidFill>
              </a:rPr>
              <a:t>(</a:t>
            </a:r>
            <a:r>
              <a:rPr sz="1100" b="0" dirty="0" err="1">
                <a:solidFill>
                  <a:srgbClr val="555555"/>
                </a:solidFill>
              </a:rPr>
              <a:t>l'orchestrateur</a:t>
            </a:r>
            <a:r>
              <a:rPr sz="1100" b="0" dirty="0">
                <a:solidFill>
                  <a:srgbClr val="555555"/>
                </a:solidFill>
              </a:rPr>
              <a:t> </a:t>
            </a:r>
            <a:r>
              <a:rPr sz="1100" b="0" dirty="0" err="1">
                <a:solidFill>
                  <a:srgbClr val="555555"/>
                </a:solidFill>
              </a:rPr>
              <a:t>reutilise</a:t>
            </a:r>
            <a:r>
              <a:rPr sz="1100" b="0" dirty="0">
                <a:solidFill>
                  <a:srgbClr val="555555"/>
                </a:solidFill>
              </a:rPr>
              <a:t> les sections </a:t>
            </a:r>
            <a:r>
              <a:rPr sz="1100" b="0" dirty="0" err="1">
                <a:solidFill>
                  <a:srgbClr val="555555"/>
                </a:solidFill>
              </a:rPr>
              <a:t>deja</a:t>
            </a:r>
            <a:r>
              <a:rPr sz="1100" b="0" dirty="0">
                <a:solidFill>
                  <a:srgbClr val="555555"/>
                </a:solidFill>
              </a:rPr>
              <a:t> </a:t>
            </a:r>
            <a:r>
              <a:rPr sz="1100" b="0" dirty="0" err="1">
                <a:solidFill>
                  <a:srgbClr val="555555"/>
                </a:solidFill>
              </a:rPr>
              <a:t>generees</a:t>
            </a:r>
            <a:r>
              <a:rPr sz="1100" b="0" dirty="0">
                <a:solidFill>
                  <a:srgbClr val="555555"/>
                </a:solidFill>
              </a:rPr>
              <a:t> pendant la reunion).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2385</Words>
  <Application>Microsoft Office PowerPoint</Application>
  <PresentationFormat>Grand écran</PresentationFormat>
  <Paragraphs>348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Melissa BELGUITAR</cp:lastModifiedBy>
  <cp:revision>1</cp:revision>
  <dcterms:created xsi:type="dcterms:W3CDTF">2013-01-27T09:14:16Z</dcterms:created>
  <dcterms:modified xsi:type="dcterms:W3CDTF">2026-06-04T09:18:01Z</dcterms:modified>
  <cp:category/>
</cp:coreProperties>
</file>